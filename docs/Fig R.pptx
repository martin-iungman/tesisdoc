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Martin Iungma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15T21:24:19.254">
    <p:pos x="6000" y="0"/>
    <p:text>modificar aca para que la leyenda quede fuera del density (y agrandar tamano puntos leyenda)</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678bf73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d678bf73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d678bf734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d678bf734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96169342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96169342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678bf734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678bf734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678bf734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678bf734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678bf734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678bf734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678bf734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d678bf734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09804ef9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09804ef9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9.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2.jpg"/><Relationship Id="rId5"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1.xml"/><Relationship Id="rId4" Type="http://schemas.openxmlformats.org/officeDocument/2006/relationships/image" Target="../media/image2.png"/><Relationship Id="rId5" Type="http://schemas.openxmlformats.org/officeDocument/2006/relationships/image" Target="../media/image17.jpg"/><Relationship Id="rId6" Type="http://schemas.openxmlformats.org/officeDocument/2006/relationships/image" Target="../media/image2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jpg"/><Relationship Id="rId4" Type="http://schemas.openxmlformats.org/officeDocument/2006/relationships/image" Target="../media/image16.jpg"/><Relationship Id="rId5" Type="http://schemas.openxmlformats.org/officeDocument/2006/relationships/image" Target="../media/image10.jpg"/><Relationship Id="rId6" Type="http://schemas.openxmlformats.org/officeDocument/2006/relationships/image" Target="../media/image15.jpg"/><Relationship Id="rId7" Type="http://schemas.openxmlformats.org/officeDocument/2006/relationships/image" Target="../media/image14.jpg"/><Relationship Id="rId8"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n_per_rep.jpg"/>
          <p:cNvPicPr preferRelativeResize="0"/>
          <p:nvPr/>
        </p:nvPicPr>
        <p:blipFill>
          <a:blip r:embed="rId3">
            <a:alphaModFix/>
          </a:blip>
          <a:stretch>
            <a:fillRect/>
          </a:stretch>
        </p:blipFill>
        <p:spPr>
          <a:xfrm>
            <a:off x="5728773" y="2660399"/>
            <a:ext cx="2973952" cy="2230476"/>
          </a:xfrm>
          <a:prstGeom prst="rect">
            <a:avLst/>
          </a:prstGeom>
          <a:noFill/>
          <a:ln>
            <a:noFill/>
          </a:ln>
        </p:spPr>
      </p:pic>
      <p:sp>
        <p:nvSpPr>
          <p:cNvPr id="55" name="Google Shape;55;p13"/>
          <p:cNvSpPr txBox="1"/>
          <p:nvPr/>
        </p:nvSpPr>
        <p:spPr>
          <a:xfrm>
            <a:off x="3087175" y="4033700"/>
            <a:ext cx="353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dk2"/>
                </a:solidFill>
              </a:rPr>
              <a:t>opcion B de grafico</a:t>
            </a:r>
            <a:endParaRPr sz="1800">
              <a:solidFill>
                <a:schemeClr val="dk2"/>
              </a:solidFill>
            </a:endParaRPr>
          </a:p>
        </p:txBody>
      </p:sp>
      <p:sp>
        <p:nvSpPr>
          <p:cNvPr id="56" name="Google Shape;56;p13"/>
          <p:cNvSpPr txBox="1"/>
          <p:nvPr/>
        </p:nvSpPr>
        <p:spPr>
          <a:xfrm>
            <a:off x="3404725" y="936000"/>
            <a:ext cx="58665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Representación de la </a:t>
            </a:r>
            <a:r>
              <a:rPr b="1" i="1" lang="es-419" sz="1100">
                <a:solidFill>
                  <a:schemeClr val="dk1"/>
                </a:solidFill>
              </a:rPr>
              <a:t>library</a:t>
            </a:r>
            <a:r>
              <a:rPr b="1" lang="es-419" sz="1100">
                <a:solidFill>
                  <a:schemeClr val="dk1"/>
                </a:solidFill>
              </a:rPr>
              <a:t> en las réplicas de secuenciación.</a:t>
            </a:r>
            <a:r>
              <a:rPr lang="es-419" sz="1100">
                <a:solidFill>
                  <a:schemeClr val="dk1"/>
                </a:solidFill>
              </a:rPr>
              <a:t> Diagrama de </a:t>
            </a:r>
            <a:r>
              <a:rPr i="1" lang="es-419" sz="1100">
                <a:solidFill>
                  <a:schemeClr val="dk1"/>
                </a:solidFill>
              </a:rPr>
              <a:t>Venn</a:t>
            </a:r>
            <a:r>
              <a:rPr lang="es-419" sz="1100">
                <a:solidFill>
                  <a:schemeClr val="dk1"/>
                </a:solidFill>
              </a:rPr>
              <a:t> que muestra el número de secuencias detectadas en cada réplica y su intersección (secuencias presentes en ambas). Se indica también la cantidad de secuencias de la </a:t>
            </a:r>
            <a:r>
              <a:rPr i="1" lang="es-419" sz="1100">
                <a:solidFill>
                  <a:schemeClr val="dk1"/>
                </a:solidFill>
              </a:rPr>
              <a:t>library</a:t>
            </a:r>
            <a:r>
              <a:rPr lang="es-419" sz="1100">
                <a:solidFill>
                  <a:schemeClr val="dk1"/>
                </a:solidFill>
              </a:rPr>
              <a:t> original que no fueron recuperadas en el proceso. </a:t>
            </a:r>
            <a:endParaRPr sz="1200">
              <a:solidFill>
                <a:schemeClr val="dk2"/>
              </a:solidFill>
            </a:endParaRPr>
          </a:p>
        </p:txBody>
      </p:sp>
      <p:grpSp>
        <p:nvGrpSpPr>
          <p:cNvPr id="57" name="Google Shape;57;p13"/>
          <p:cNvGrpSpPr/>
          <p:nvPr/>
        </p:nvGrpSpPr>
        <p:grpSpPr>
          <a:xfrm>
            <a:off x="86225" y="82225"/>
            <a:ext cx="3256551" cy="3242825"/>
            <a:chOff x="86225" y="82225"/>
            <a:chExt cx="3256551" cy="3242825"/>
          </a:xfrm>
        </p:grpSpPr>
        <p:pic>
          <p:nvPicPr>
            <p:cNvPr id="58" name="Google Shape;58;p13"/>
            <p:cNvPicPr preferRelativeResize="0"/>
            <p:nvPr/>
          </p:nvPicPr>
          <p:blipFill rotWithShape="1">
            <a:blip r:embed="rId4">
              <a:alphaModFix/>
            </a:blip>
            <a:srcRect b="0" l="744" r="0" t="970"/>
            <a:stretch/>
          </p:blipFill>
          <p:spPr>
            <a:xfrm>
              <a:off x="86225" y="82225"/>
              <a:ext cx="3256551" cy="3242825"/>
            </a:xfrm>
            <a:prstGeom prst="rect">
              <a:avLst/>
            </a:prstGeom>
            <a:noFill/>
            <a:ln>
              <a:noFill/>
            </a:ln>
          </p:spPr>
        </p:pic>
        <p:sp>
          <p:nvSpPr>
            <p:cNvPr id="59" name="Google Shape;59;p13"/>
            <p:cNvSpPr txBox="1"/>
            <p:nvPr/>
          </p:nvSpPr>
          <p:spPr>
            <a:xfrm>
              <a:off x="1446789" y="374911"/>
              <a:ext cx="721500" cy="354000"/>
            </a:xfrm>
            <a:prstGeom prst="rect">
              <a:avLst/>
            </a:prstGeom>
            <a:solidFill>
              <a:srgbClr val="EFF6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4572</a:t>
              </a:r>
              <a:endParaRPr sz="1100">
                <a:solidFill>
                  <a:schemeClr val="dk2"/>
                </a:solidFill>
              </a:endParaRPr>
            </a:p>
          </p:txBody>
        </p:sp>
        <p:sp>
          <p:nvSpPr>
            <p:cNvPr id="60" name="Google Shape;60;p13"/>
            <p:cNvSpPr txBox="1"/>
            <p:nvPr/>
          </p:nvSpPr>
          <p:spPr>
            <a:xfrm>
              <a:off x="1370694" y="185978"/>
              <a:ext cx="80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200">
                  <a:solidFill>
                    <a:schemeClr val="dk2"/>
                  </a:solidFill>
                </a:rPr>
                <a:t>Library</a:t>
              </a:r>
              <a:endParaRPr sz="1200">
                <a:solidFill>
                  <a:schemeClr val="dk2"/>
                </a:solidFill>
              </a:endParaRPr>
            </a:p>
          </p:txBody>
        </p:sp>
        <p:sp>
          <p:nvSpPr>
            <p:cNvPr id="61" name="Google Shape;61;p13"/>
            <p:cNvSpPr txBox="1"/>
            <p:nvPr/>
          </p:nvSpPr>
          <p:spPr>
            <a:xfrm>
              <a:off x="469151" y="1223250"/>
              <a:ext cx="901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200">
                  <a:solidFill>
                    <a:schemeClr val="dk2"/>
                  </a:solidFill>
                </a:rPr>
                <a:t>Réplica 1 </a:t>
              </a:r>
              <a:endParaRPr sz="1200">
                <a:solidFill>
                  <a:schemeClr val="dk2"/>
                </a:solidFill>
              </a:endParaRPr>
            </a:p>
          </p:txBody>
        </p:sp>
        <p:sp>
          <p:nvSpPr>
            <p:cNvPr id="62" name="Google Shape;62;p13"/>
            <p:cNvSpPr txBox="1"/>
            <p:nvPr/>
          </p:nvSpPr>
          <p:spPr>
            <a:xfrm>
              <a:off x="2182524" y="1223250"/>
              <a:ext cx="901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200">
                  <a:solidFill>
                    <a:schemeClr val="dk2"/>
                  </a:solidFill>
                </a:rPr>
                <a:t>Réplica 2 </a:t>
              </a:r>
              <a:endParaRPr sz="1200">
                <a:solidFill>
                  <a:schemeClr val="dk2"/>
                </a:solidFill>
              </a:endParaRPr>
            </a:p>
          </p:txBody>
        </p:sp>
        <p:sp>
          <p:nvSpPr>
            <p:cNvPr id="63" name="Google Shape;63;p13"/>
            <p:cNvSpPr txBox="1"/>
            <p:nvPr/>
          </p:nvSpPr>
          <p:spPr>
            <a:xfrm>
              <a:off x="649447" y="1510800"/>
              <a:ext cx="540900" cy="354000"/>
            </a:xfrm>
            <a:prstGeom prst="rect">
              <a:avLst/>
            </a:prstGeom>
            <a:solidFill>
              <a:srgbClr val="BCD9E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1957</a:t>
              </a:r>
              <a:endParaRPr sz="1100">
                <a:solidFill>
                  <a:schemeClr val="dk2"/>
                </a:solidFill>
              </a:endParaRPr>
            </a:p>
          </p:txBody>
        </p:sp>
        <p:sp>
          <p:nvSpPr>
            <p:cNvPr id="64" name="Google Shape;64;p13"/>
            <p:cNvSpPr txBox="1"/>
            <p:nvPr/>
          </p:nvSpPr>
          <p:spPr>
            <a:xfrm>
              <a:off x="1414623" y="1510788"/>
              <a:ext cx="645000" cy="354000"/>
            </a:xfrm>
            <a:prstGeom prst="rect">
              <a:avLst/>
            </a:prstGeom>
            <a:solidFill>
              <a:srgbClr val="B3D9D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16040</a:t>
              </a:r>
              <a:endParaRPr sz="1100">
                <a:solidFill>
                  <a:schemeClr val="dk2"/>
                </a:solidFill>
              </a:endParaRPr>
            </a:p>
          </p:txBody>
        </p:sp>
        <p:sp>
          <p:nvSpPr>
            <p:cNvPr id="65" name="Google Shape;65;p13"/>
            <p:cNvSpPr txBox="1"/>
            <p:nvPr/>
          </p:nvSpPr>
          <p:spPr>
            <a:xfrm>
              <a:off x="2355862" y="1510788"/>
              <a:ext cx="645000" cy="354000"/>
            </a:xfrm>
            <a:prstGeom prst="rect">
              <a:avLst/>
            </a:prstGeom>
            <a:solidFill>
              <a:srgbClr val="CDE8E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1342</a:t>
              </a:r>
              <a:endParaRPr sz="1100">
                <a:solidFill>
                  <a:schemeClr val="dk2"/>
                </a:solidFil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nvSpPr>
        <p:spPr>
          <a:xfrm>
            <a:off x="2314025" y="3568500"/>
            <a:ext cx="5866500" cy="155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solidFill>
                  <a:schemeClr val="dk2"/>
                </a:solidFill>
              </a:rPr>
              <a:t>Análisis de sesgos sistemáticos en la representatividad de la library.</a:t>
            </a:r>
            <a:r>
              <a:rPr lang="es-419" sz="1200">
                <a:solidFill>
                  <a:schemeClr val="dk2"/>
                </a:solidFill>
              </a:rPr>
              <a:t> A) </a:t>
            </a:r>
            <a:r>
              <a:rPr lang="es-419" sz="1100">
                <a:solidFill>
                  <a:schemeClr val="dk1"/>
                </a:solidFill>
              </a:rPr>
              <a:t>Diagrama de </a:t>
            </a:r>
            <a:r>
              <a:rPr i="1" lang="es-419" sz="1100">
                <a:solidFill>
                  <a:schemeClr val="dk1"/>
                </a:solidFill>
              </a:rPr>
              <a:t>Venn</a:t>
            </a:r>
            <a:r>
              <a:rPr lang="es-419" sz="1100">
                <a:solidFill>
                  <a:schemeClr val="dk1"/>
                </a:solidFill>
              </a:rPr>
              <a:t> indicando el número de secuencias detectadas en la secuenciación de células integradas con el reportero para el proyecto de splicing (previo a cualquier selección por expresión), en comparación con la secuenciación del proyecto actual, en al menos una réplica. B) Gráfico de violin representando el contenido de GC de los promotores detectados y en los no detectados durante el presente ensayo reportero. C) Distribución del contenido del contenido de GC de las lecturas obtenidas, en ambas réplicas.</a:t>
            </a:r>
            <a:endParaRPr sz="1200">
              <a:solidFill>
                <a:schemeClr val="dk2"/>
              </a:solidFill>
            </a:endParaRPr>
          </a:p>
        </p:txBody>
      </p:sp>
      <p:pic>
        <p:nvPicPr>
          <p:cNvPr id="71" name="Google Shape;71;p14"/>
          <p:cNvPicPr preferRelativeResize="0"/>
          <p:nvPr/>
        </p:nvPicPr>
        <p:blipFill rotWithShape="1">
          <a:blip r:embed="rId3">
            <a:alphaModFix/>
          </a:blip>
          <a:srcRect b="0" l="744" r="0" t="970"/>
          <a:stretch/>
        </p:blipFill>
        <p:spPr>
          <a:xfrm>
            <a:off x="86225" y="82225"/>
            <a:ext cx="3256551" cy="3242825"/>
          </a:xfrm>
          <a:prstGeom prst="rect">
            <a:avLst/>
          </a:prstGeom>
          <a:noFill/>
          <a:ln>
            <a:noFill/>
          </a:ln>
        </p:spPr>
      </p:pic>
      <p:sp>
        <p:nvSpPr>
          <p:cNvPr id="72" name="Google Shape;72;p14"/>
          <p:cNvSpPr txBox="1"/>
          <p:nvPr/>
        </p:nvSpPr>
        <p:spPr>
          <a:xfrm>
            <a:off x="1446789" y="374911"/>
            <a:ext cx="721500" cy="354000"/>
          </a:xfrm>
          <a:prstGeom prst="rect">
            <a:avLst/>
          </a:prstGeom>
          <a:solidFill>
            <a:srgbClr val="EFF6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2012</a:t>
            </a:r>
            <a:endParaRPr sz="1100">
              <a:solidFill>
                <a:schemeClr val="dk2"/>
              </a:solidFill>
            </a:endParaRPr>
          </a:p>
        </p:txBody>
      </p:sp>
      <p:sp>
        <p:nvSpPr>
          <p:cNvPr id="73" name="Google Shape;73;p14"/>
          <p:cNvSpPr txBox="1"/>
          <p:nvPr/>
        </p:nvSpPr>
        <p:spPr>
          <a:xfrm>
            <a:off x="1370694" y="185978"/>
            <a:ext cx="80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200">
                <a:solidFill>
                  <a:schemeClr val="dk2"/>
                </a:solidFill>
              </a:rPr>
              <a:t>Library</a:t>
            </a:r>
            <a:endParaRPr sz="1200">
              <a:solidFill>
                <a:schemeClr val="dk2"/>
              </a:solidFill>
            </a:endParaRPr>
          </a:p>
        </p:txBody>
      </p:sp>
      <p:sp>
        <p:nvSpPr>
          <p:cNvPr id="74" name="Google Shape;74;p14"/>
          <p:cNvSpPr txBox="1"/>
          <p:nvPr/>
        </p:nvSpPr>
        <p:spPr>
          <a:xfrm>
            <a:off x="561071" y="1510800"/>
            <a:ext cx="540900" cy="354000"/>
          </a:xfrm>
          <a:prstGeom prst="rect">
            <a:avLst/>
          </a:prstGeom>
          <a:solidFill>
            <a:srgbClr val="BCD9E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1047</a:t>
            </a:r>
            <a:endParaRPr sz="1100">
              <a:solidFill>
                <a:schemeClr val="dk2"/>
              </a:solidFill>
            </a:endParaRPr>
          </a:p>
        </p:txBody>
      </p:sp>
      <p:sp>
        <p:nvSpPr>
          <p:cNvPr id="75" name="Google Shape;75;p14"/>
          <p:cNvSpPr txBox="1"/>
          <p:nvPr/>
        </p:nvSpPr>
        <p:spPr>
          <a:xfrm>
            <a:off x="1414623" y="1510788"/>
            <a:ext cx="645000" cy="354000"/>
          </a:xfrm>
          <a:prstGeom prst="rect">
            <a:avLst/>
          </a:prstGeom>
          <a:solidFill>
            <a:srgbClr val="B3D9D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18292</a:t>
            </a:r>
            <a:endParaRPr sz="1100">
              <a:solidFill>
                <a:schemeClr val="dk2"/>
              </a:solidFill>
            </a:endParaRPr>
          </a:p>
        </p:txBody>
      </p:sp>
      <p:sp>
        <p:nvSpPr>
          <p:cNvPr id="76" name="Google Shape;76;p14"/>
          <p:cNvSpPr txBox="1"/>
          <p:nvPr/>
        </p:nvSpPr>
        <p:spPr>
          <a:xfrm>
            <a:off x="2326403" y="1510788"/>
            <a:ext cx="645000" cy="354000"/>
          </a:xfrm>
          <a:prstGeom prst="rect">
            <a:avLst/>
          </a:prstGeom>
          <a:solidFill>
            <a:srgbClr val="CDE8E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2560</a:t>
            </a:r>
            <a:endParaRPr sz="1100">
              <a:solidFill>
                <a:schemeClr val="dk2"/>
              </a:solidFill>
            </a:endParaRPr>
          </a:p>
        </p:txBody>
      </p:sp>
      <p:sp>
        <p:nvSpPr>
          <p:cNvPr id="77" name="Google Shape;77;p14"/>
          <p:cNvSpPr txBox="1"/>
          <p:nvPr/>
        </p:nvSpPr>
        <p:spPr>
          <a:xfrm>
            <a:off x="247452" y="1107025"/>
            <a:ext cx="1150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200">
                <a:solidFill>
                  <a:schemeClr val="dk2"/>
                </a:solidFill>
              </a:rPr>
              <a:t>MPRA </a:t>
            </a:r>
            <a:r>
              <a:rPr lang="es-419" sz="1200">
                <a:solidFill>
                  <a:schemeClr val="dk2"/>
                </a:solidFill>
              </a:rPr>
              <a:t>transcripción</a:t>
            </a:r>
            <a:endParaRPr sz="1200">
              <a:solidFill>
                <a:schemeClr val="dk2"/>
              </a:solidFill>
            </a:endParaRPr>
          </a:p>
        </p:txBody>
      </p:sp>
      <p:sp>
        <p:nvSpPr>
          <p:cNvPr id="78" name="Google Shape;78;p14"/>
          <p:cNvSpPr txBox="1"/>
          <p:nvPr/>
        </p:nvSpPr>
        <p:spPr>
          <a:xfrm>
            <a:off x="2063844" y="1107021"/>
            <a:ext cx="1071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200">
                <a:solidFill>
                  <a:schemeClr val="dk2"/>
                </a:solidFill>
              </a:rPr>
              <a:t>MPRA splicing</a:t>
            </a:r>
            <a:endParaRPr sz="1200">
              <a:solidFill>
                <a:schemeClr val="dk2"/>
              </a:solidFill>
            </a:endParaRPr>
          </a:p>
        </p:txBody>
      </p:sp>
      <p:grpSp>
        <p:nvGrpSpPr>
          <p:cNvPr id="79" name="Google Shape;79;p14"/>
          <p:cNvGrpSpPr/>
          <p:nvPr/>
        </p:nvGrpSpPr>
        <p:grpSpPr>
          <a:xfrm>
            <a:off x="5506445" y="266008"/>
            <a:ext cx="3568830" cy="2626092"/>
            <a:chOff x="5506445" y="266008"/>
            <a:chExt cx="3568830" cy="2626092"/>
          </a:xfrm>
        </p:grpSpPr>
        <p:grpSp>
          <p:nvGrpSpPr>
            <p:cNvPr id="80" name="Google Shape;80;p14"/>
            <p:cNvGrpSpPr/>
            <p:nvPr/>
          </p:nvGrpSpPr>
          <p:grpSpPr>
            <a:xfrm>
              <a:off x="5506445" y="266008"/>
              <a:ext cx="3568830" cy="2626092"/>
              <a:chOff x="5506445" y="266008"/>
              <a:chExt cx="3568830" cy="2626092"/>
            </a:xfrm>
          </p:grpSpPr>
          <p:pic>
            <p:nvPicPr>
              <p:cNvPr id="81" name="Google Shape;81;p14" title="gc_bias_bars.jpg"/>
              <p:cNvPicPr preferRelativeResize="0"/>
              <p:nvPr/>
            </p:nvPicPr>
            <p:blipFill>
              <a:blip r:embed="rId4">
                <a:alphaModFix/>
              </a:blip>
              <a:stretch>
                <a:fillRect/>
              </a:stretch>
            </p:blipFill>
            <p:spPr>
              <a:xfrm>
                <a:off x="5506445" y="266008"/>
                <a:ext cx="3501476" cy="2626092"/>
              </a:xfrm>
              <a:prstGeom prst="rect">
                <a:avLst/>
              </a:prstGeom>
              <a:noFill/>
              <a:ln>
                <a:noFill/>
              </a:ln>
            </p:spPr>
          </p:pic>
          <p:sp>
            <p:nvSpPr>
              <p:cNvPr id="82" name="Google Shape;82;p14"/>
              <p:cNvSpPr txBox="1"/>
              <p:nvPr/>
            </p:nvSpPr>
            <p:spPr>
              <a:xfrm>
                <a:off x="7554572" y="577079"/>
                <a:ext cx="1264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900">
                    <a:solidFill>
                      <a:schemeClr val="dk2"/>
                    </a:solidFill>
                  </a:rPr>
                  <a:t>Distribución uniforme</a:t>
                </a:r>
                <a:endParaRPr sz="900">
                  <a:solidFill>
                    <a:schemeClr val="dk2"/>
                  </a:solidFill>
                </a:endParaRPr>
              </a:p>
            </p:txBody>
          </p:sp>
          <p:sp>
            <p:nvSpPr>
              <p:cNvPr id="83" name="Google Shape;83;p14"/>
              <p:cNvSpPr txBox="1"/>
              <p:nvPr/>
            </p:nvSpPr>
            <p:spPr>
              <a:xfrm>
                <a:off x="7554576" y="727896"/>
                <a:ext cx="1520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900">
                    <a:solidFill>
                      <a:schemeClr val="dk2"/>
                    </a:solidFill>
                  </a:rPr>
                  <a:t>Distribución observada</a:t>
                </a:r>
                <a:endParaRPr sz="900">
                  <a:solidFill>
                    <a:schemeClr val="dk2"/>
                  </a:solidFill>
                </a:endParaRPr>
              </a:p>
            </p:txBody>
          </p:sp>
        </p:grpSp>
        <p:sp>
          <p:nvSpPr>
            <p:cNvPr id="84" name="Google Shape;84;p14"/>
            <p:cNvSpPr/>
            <p:nvPr/>
          </p:nvSpPr>
          <p:spPr>
            <a:xfrm>
              <a:off x="7504925" y="679871"/>
              <a:ext cx="101700" cy="101700"/>
            </a:xfrm>
            <a:prstGeom prst="rect">
              <a:avLst/>
            </a:prstGeom>
            <a:solidFill>
              <a:srgbClr val="ACDA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4"/>
            <p:cNvSpPr/>
            <p:nvPr/>
          </p:nvSpPr>
          <p:spPr>
            <a:xfrm>
              <a:off x="7504925" y="832271"/>
              <a:ext cx="101700" cy="101700"/>
            </a:xfrm>
            <a:prstGeom prst="rect">
              <a:avLst/>
            </a:prstGeom>
            <a:solidFill>
              <a:srgbClr val="98C5D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86" name="Google Shape;86;p14" title="gc_bias_violin.jpg"/>
          <p:cNvPicPr preferRelativeResize="0"/>
          <p:nvPr/>
        </p:nvPicPr>
        <p:blipFill rotWithShape="1">
          <a:blip r:embed="rId5">
            <a:alphaModFix/>
          </a:blip>
          <a:srcRect b="11708" l="0" r="0" t="0"/>
          <a:stretch/>
        </p:blipFill>
        <p:spPr>
          <a:xfrm>
            <a:off x="3495175" y="152400"/>
            <a:ext cx="1858876" cy="2461777"/>
          </a:xfrm>
          <a:prstGeom prst="rect">
            <a:avLst/>
          </a:prstGeom>
          <a:noFill/>
          <a:ln>
            <a:noFill/>
          </a:ln>
        </p:spPr>
      </p:pic>
      <p:sp>
        <p:nvSpPr>
          <p:cNvPr id="87" name="Google Shape;87;p14"/>
          <p:cNvSpPr txBox="1"/>
          <p:nvPr/>
        </p:nvSpPr>
        <p:spPr>
          <a:xfrm>
            <a:off x="3217016" y="2598167"/>
            <a:ext cx="20730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100">
                <a:solidFill>
                  <a:schemeClr val="dk2"/>
                </a:solidFill>
              </a:rPr>
              <a:t>Promotores </a:t>
            </a:r>
            <a:endParaRPr sz="1100">
              <a:solidFill>
                <a:schemeClr val="dk2"/>
              </a:solidFill>
            </a:endParaRPr>
          </a:p>
          <a:p>
            <a:pPr indent="0" lvl="0" marL="0" rtl="0" algn="ctr">
              <a:spcBef>
                <a:spcPts val="0"/>
              </a:spcBef>
              <a:spcAft>
                <a:spcPts val="0"/>
              </a:spcAft>
              <a:buNone/>
            </a:pPr>
            <a:r>
              <a:rPr lang="es-419" sz="1100">
                <a:solidFill>
                  <a:schemeClr val="dk2"/>
                </a:solidFill>
              </a:rPr>
              <a:t>no detectado</a:t>
            </a:r>
            <a:endParaRPr sz="1100">
              <a:solidFill>
                <a:schemeClr val="dk2"/>
              </a:solidFill>
            </a:endParaRPr>
          </a:p>
        </p:txBody>
      </p:sp>
      <p:sp>
        <p:nvSpPr>
          <p:cNvPr id="88" name="Google Shape;88;p14"/>
          <p:cNvSpPr txBox="1"/>
          <p:nvPr/>
        </p:nvSpPr>
        <p:spPr>
          <a:xfrm>
            <a:off x="4604304" y="2614179"/>
            <a:ext cx="928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100">
                <a:solidFill>
                  <a:schemeClr val="dk2"/>
                </a:solidFill>
              </a:rPr>
              <a:t>Promotores d</a:t>
            </a:r>
            <a:r>
              <a:rPr lang="es-419" sz="1100">
                <a:solidFill>
                  <a:schemeClr val="dk2"/>
                </a:solidFill>
              </a:rPr>
              <a:t>etectados</a:t>
            </a:r>
            <a:endParaRPr sz="11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5"/>
          <p:cNvPicPr preferRelativeResize="0"/>
          <p:nvPr/>
        </p:nvPicPr>
        <p:blipFill>
          <a:blip r:embed="rId3">
            <a:alphaModFix/>
          </a:blip>
          <a:stretch>
            <a:fillRect/>
          </a:stretch>
        </p:blipFill>
        <p:spPr>
          <a:xfrm>
            <a:off x="884425" y="152400"/>
            <a:ext cx="5012300" cy="3762750"/>
          </a:xfrm>
          <a:prstGeom prst="rect">
            <a:avLst/>
          </a:prstGeom>
          <a:noFill/>
          <a:ln>
            <a:noFill/>
          </a:ln>
        </p:spPr>
      </p:pic>
      <p:sp>
        <p:nvSpPr>
          <p:cNvPr id="94" name="Google Shape;94;p15"/>
          <p:cNvSpPr txBox="1"/>
          <p:nvPr/>
        </p:nvSpPr>
        <p:spPr>
          <a:xfrm>
            <a:off x="242725" y="4030035"/>
            <a:ext cx="90444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419" sz="1200">
                <a:solidFill>
                  <a:schemeClr val="dk2"/>
                </a:solidFill>
              </a:rPr>
              <a:t>Robustez de los controles celulares internos de spike-in.</a:t>
            </a:r>
            <a:r>
              <a:rPr lang="es-419" sz="1200">
                <a:solidFill>
                  <a:schemeClr val="dk2"/>
                </a:solidFill>
              </a:rPr>
              <a:t> 30, 300 o 3000 células fueron añadidas en forma de </a:t>
            </a:r>
            <a:r>
              <a:rPr lang="es-419" sz="1200">
                <a:solidFill>
                  <a:schemeClr val="dk2"/>
                </a:solidFill>
              </a:rPr>
              <a:t>estándar</a:t>
            </a:r>
            <a:r>
              <a:rPr lang="es-419" sz="1200">
                <a:solidFill>
                  <a:schemeClr val="dk2"/>
                </a:solidFill>
              </a:rPr>
              <a:t> interno a cada muestra. Los counts corregidos de cada una de las tres líneas celulares usadas como </a:t>
            </a:r>
            <a:r>
              <a:rPr lang="es-419" sz="1200">
                <a:solidFill>
                  <a:schemeClr val="dk2"/>
                </a:solidFill>
              </a:rPr>
              <a:t>estándar</a:t>
            </a:r>
            <a:r>
              <a:rPr lang="es-419" sz="1200">
                <a:solidFill>
                  <a:schemeClr val="dk2"/>
                </a:solidFill>
              </a:rPr>
              <a:t> fueron normalizadas al de aquella con representación intermedia (Spike-in 2). Los valores para cada fracción de </a:t>
            </a:r>
            <a:r>
              <a:rPr lang="es-419" sz="1200">
                <a:solidFill>
                  <a:schemeClr val="dk2"/>
                </a:solidFill>
              </a:rPr>
              <a:t>células</a:t>
            </a:r>
            <a:r>
              <a:rPr lang="es-419" sz="1200">
                <a:solidFill>
                  <a:schemeClr val="dk2"/>
                </a:solidFill>
              </a:rPr>
              <a:t> se muestran para ambas </a:t>
            </a:r>
            <a:r>
              <a:rPr lang="es-419" sz="1200">
                <a:solidFill>
                  <a:schemeClr val="dk2"/>
                </a:solidFill>
              </a:rPr>
              <a:t>réplicas</a:t>
            </a:r>
            <a:r>
              <a:rPr lang="es-419" sz="1200">
                <a:solidFill>
                  <a:schemeClr val="dk2"/>
                </a:solidFill>
              </a:rPr>
              <a:t>, y muestran la ausencia de sesgos técnicos relevantes entre las muestras en la </a:t>
            </a:r>
            <a:r>
              <a:rPr lang="es-419" sz="1200">
                <a:solidFill>
                  <a:schemeClr val="dk2"/>
                </a:solidFill>
              </a:rPr>
              <a:t>cuantificación</a:t>
            </a:r>
            <a:r>
              <a:rPr lang="es-419" sz="1200">
                <a:solidFill>
                  <a:schemeClr val="dk2"/>
                </a:solidFill>
              </a:rPr>
              <a:t> en escala masiva.</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6"/>
          <p:cNvPicPr preferRelativeResize="0"/>
          <p:nvPr/>
        </p:nvPicPr>
        <p:blipFill>
          <a:blip r:embed="rId3">
            <a:alphaModFix/>
          </a:blip>
          <a:stretch>
            <a:fillRect/>
          </a:stretch>
        </p:blipFill>
        <p:spPr>
          <a:xfrm>
            <a:off x="152400" y="152400"/>
            <a:ext cx="2628900" cy="2590800"/>
          </a:xfrm>
          <a:prstGeom prst="rect">
            <a:avLst/>
          </a:prstGeom>
          <a:noFill/>
          <a:ln>
            <a:noFill/>
          </a:ln>
        </p:spPr>
      </p:pic>
      <p:pic>
        <p:nvPicPr>
          <p:cNvPr id="100" name="Google Shape;100;p16"/>
          <p:cNvPicPr preferRelativeResize="0"/>
          <p:nvPr/>
        </p:nvPicPr>
        <p:blipFill>
          <a:blip r:embed="rId4">
            <a:alphaModFix/>
          </a:blip>
          <a:stretch>
            <a:fillRect/>
          </a:stretch>
        </p:blipFill>
        <p:spPr>
          <a:xfrm>
            <a:off x="2933700" y="152400"/>
            <a:ext cx="3419475" cy="2638425"/>
          </a:xfrm>
          <a:prstGeom prst="rect">
            <a:avLst/>
          </a:prstGeom>
          <a:noFill/>
          <a:ln>
            <a:noFill/>
          </a:ln>
        </p:spPr>
      </p:pic>
      <p:pic>
        <p:nvPicPr>
          <p:cNvPr id="101" name="Google Shape;101;p16"/>
          <p:cNvPicPr preferRelativeResize="0"/>
          <p:nvPr/>
        </p:nvPicPr>
        <p:blipFill>
          <a:blip r:embed="rId5">
            <a:alphaModFix/>
          </a:blip>
          <a:stretch>
            <a:fillRect/>
          </a:stretch>
        </p:blipFill>
        <p:spPr>
          <a:xfrm>
            <a:off x="6505575" y="152400"/>
            <a:ext cx="2486025" cy="2418147"/>
          </a:xfrm>
          <a:prstGeom prst="rect">
            <a:avLst/>
          </a:prstGeom>
          <a:noFill/>
          <a:ln>
            <a:noFill/>
          </a:ln>
        </p:spPr>
      </p:pic>
      <p:sp>
        <p:nvSpPr>
          <p:cNvPr id="102" name="Google Shape;102;p16"/>
          <p:cNvSpPr txBox="1"/>
          <p:nvPr/>
        </p:nvSpPr>
        <p:spPr>
          <a:xfrm>
            <a:off x="735375" y="3120725"/>
            <a:ext cx="58665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solidFill>
                  <a:schemeClr val="dk2"/>
                </a:solidFill>
              </a:rPr>
              <a:t>Consistencia experimental de las métricas de actividad promotora.</a:t>
            </a:r>
            <a:r>
              <a:rPr lang="es-419" sz="1200">
                <a:solidFill>
                  <a:schemeClr val="dk2"/>
                </a:solidFill>
              </a:rPr>
              <a:t>  Histogramas representativos de la reconstrucción de las distribuciones de expresión para secuencias individuales de la library. Las barras indican la frecuencia de lecturas normalizadas en cada fracción de células recolectada. Cada color representa la distribución de un promotor distinto, mientras que las dos tonalidades reflejan los resultados de cada réplica experimental. (B) Perfiles de densidad de fluorescencia de EGFP obtenidos por citometría de flujo para una selección de promotores integrados de forma individual (n = 3 réplicas técnicas). (C) Correlación entre la media de expresión calculada a partir de los datos discretizados de la </a:t>
            </a:r>
            <a:r>
              <a:rPr i="1" lang="es-419" sz="1200">
                <a:solidFill>
                  <a:schemeClr val="dk2"/>
                </a:solidFill>
              </a:rPr>
              <a:t>library </a:t>
            </a:r>
            <a:r>
              <a:rPr lang="es-419" sz="1200">
                <a:solidFill>
                  <a:schemeClr val="dk2"/>
                </a:solidFill>
              </a:rPr>
              <a:t>(eje x) y la media obtenida mediante citometría de flujo en líneas celulares estables (eje y), evidenciando la consistencia del ensayo masivo para la determinación de la actividad promotora.</a:t>
            </a:r>
            <a:endParaRPr sz="12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grpSp>
        <p:nvGrpSpPr>
          <p:cNvPr id="107" name="Google Shape;107;p17"/>
          <p:cNvGrpSpPr/>
          <p:nvPr/>
        </p:nvGrpSpPr>
        <p:grpSpPr>
          <a:xfrm>
            <a:off x="6079523" y="5"/>
            <a:ext cx="3000912" cy="2988263"/>
            <a:chOff x="86225" y="82225"/>
            <a:chExt cx="3256551" cy="3242825"/>
          </a:xfrm>
        </p:grpSpPr>
        <p:pic>
          <p:nvPicPr>
            <p:cNvPr id="108" name="Google Shape;108;p17"/>
            <p:cNvPicPr preferRelativeResize="0"/>
            <p:nvPr/>
          </p:nvPicPr>
          <p:blipFill rotWithShape="1">
            <a:blip r:embed="rId4">
              <a:alphaModFix/>
            </a:blip>
            <a:srcRect b="0" l="744" r="0" t="970"/>
            <a:stretch/>
          </p:blipFill>
          <p:spPr>
            <a:xfrm>
              <a:off x="86225" y="82225"/>
              <a:ext cx="3256551" cy="3242825"/>
            </a:xfrm>
            <a:prstGeom prst="rect">
              <a:avLst/>
            </a:prstGeom>
            <a:noFill/>
            <a:ln>
              <a:noFill/>
            </a:ln>
          </p:spPr>
        </p:pic>
        <p:sp>
          <p:nvSpPr>
            <p:cNvPr id="109" name="Google Shape;109;p17"/>
            <p:cNvSpPr txBox="1"/>
            <p:nvPr/>
          </p:nvSpPr>
          <p:spPr>
            <a:xfrm>
              <a:off x="1458265" y="374911"/>
              <a:ext cx="721500" cy="354000"/>
            </a:xfrm>
            <a:prstGeom prst="rect">
              <a:avLst/>
            </a:prstGeom>
            <a:solidFill>
              <a:srgbClr val="EFF6FB"/>
            </a:solidFill>
            <a:ln>
              <a:noFill/>
            </a:ln>
          </p:spPr>
          <p:txBody>
            <a:bodyPr anchorCtr="0" anchor="t" bIns="84250" lIns="84250" spcFirstLastPara="1" rIns="84250" wrap="square" tIns="84250">
              <a:spAutoFit/>
            </a:bodyPr>
            <a:lstStyle/>
            <a:p>
              <a:pPr indent="0" lvl="0" marL="0" rtl="0" algn="l">
                <a:spcBef>
                  <a:spcPts val="0"/>
                </a:spcBef>
                <a:spcAft>
                  <a:spcPts val="0"/>
                </a:spcAft>
                <a:buNone/>
              </a:pPr>
              <a:r>
                <a:rPr lang="es-419" sz="1014">
                  <a:solidFill>
                    <a:schemeClr val="dk2"/>
                  </a:solidFill>
                </a:rPr>
                <a:t>9756</a:t>
              </a:r>
              <a:endParaRPr sz="1014">
                <a:solidFill>
                  <a:schemeClr val="dk2"/>
                </a:solidFill>
              </a:endParaRPr>
            </a:p>
          </p:txBody>
        </p:sp>
        <p:sp>
          <p:nvSpPr>
            <p:cNvPr id="110" name="Google Shape;110;p17"/>
            <p:cNvSpPr txBox="1"/>
            <p:nvPr/>
          </p:nvSpPr>
          <p:spPr>
            <a:xfrm>
              <a:off x="1370694" y="185978"/>
              <a:ext cx="806100" cy="369300"/>
            </a:xfrm>
            <a:prstGeom prst="rect">
              <a:avLst/>
            </a:prstGeom>
            <a:noFill/>
            <a:ln>
              <a:noFill/>
            </a:ln>
          </p:spPr>
          <p:txBody>
            <a:bodyPr anchorCtr="0" anchor="t" bIns="84250" lIns="84250" spcFirstLastPara="1" rIns="84250" wrap="square" tIns="84250">
              <a:spAutoFit/>
            </a:bodyPr>
            <a:lstStyle/>
            <a:p>
              <a:pPr indent="0" lvl="0" marL="0" rtl="0" algn="l">
                <a:spcBef>
                  <a:spcPts val="0"/>
                </a:spcBef>
                <a:spcAft>
                  <a:spcPts val="0"/>
                </a:spcAft>
                <a:buNone/>
              </a:pPr>
              <a:r>
                <a:rPr lang="es-419" sz="1106">
                  <a:solidFill>
                    <a:schemeClr val="dk2"/>
                  </a:solidFill>
                </a:rPr>
                <a:t>Library</a:t>
              </a:r>
              <a:endParaRPr sz="1106">
                <a:solidFill>
                  <a:schemeClr val="dk2"/>
                </a:solidFill>
              </a:endParaRPr>
            </a:p>
          </p:txBody>
        </p:sp>
        <p:sp>
          <p:nvSpPr>
            <p:cNvPr id="111" name="Google Shape;111;p17"/>
            <p:cNvSpPr txBox="1"/>
            <p:nvPr/>
          </p:nvSpPr>
          <p:spPr>
            <a:xfrm>
              <a:off x="469151" y="1223250"/>
              <a:ext cx="901500" cy="369300"/>
            </a:xfrm>
            <a:prstGeom prst="rect">
              <a:avLst/>
            </a:prstGeom>
            <a:noFill/>
            <a:ln>
              <a:noFill/>
            </a:ln>
          </p:spPr>
          <p:txBody>
            <a:bodyPr anchorCtr="0" anchor="t" bIns="84250" lIns="84250" spcFirstLastPara="1" rIns="84250" wrap="square" tIns="84250">
              <a:spAutoFit/>
            </a:bodyPr>
            <a:lstStyle/>
            <a:p>
              <a:pPr indent="0" lvl="0" marL="0" rtl="0" algn="l">
                <a:spcBef>
                  <a:spcPts val="0"/>
                </a:spcBef>
                <a:spcAft>
                  <a:spcPts val="0"/>
                </a:spcAft>
                <a:buNone/>
              </a:pPr>
              <a:r>
                <a:rPr lang="es-419" sz="1106">
                  <a:solidFill>
                    <a:schemeClr val="dk2"/>
                  </a:solidFill>
                </a:rPr>
                <a:t>Réplica 1 </a:t>
              </a:r>
              <a:endParaRPr sz="1106">
                <a:solidFill>
                  <a:schemeClr val="dk2"/>
                </a:solidFill>
              </a:endParaRPr>
            </a:p>
          </p:txBody>
        </p:sp>
        <p:sp>
          <p:nvSpPr>
            <p:cNvPr id="112" name="Google Shape;112;p17"/>
            <p:cNvSpPr txBox="1"/>
            <p:nvPr/>
          </p:nvSpPr>
          <p:spPr>
            <a:xfrm>
              <a:off x="2182524" y="1223250"/>
              <a:ext cx="901500" cy="369300"/>
            </a:xfrm>
            <a:prstGeom prst="rect">
              <a:avLst/>
            </a:prstGeom>
            <a:noFill/>
            <a:ln>
              <a:noFill/>
            </a:ln>
          </p:spPr>
          <p:txBody>
            <a:bodyPr anchorCtr="0" anchor="t" bIns="84250" lIns="84250" spcFirstLastPara="1" rIns="84250" wrap="square" tIns="84250">
              <a:spAutoFit/>
            </a:bodyPr>
            <a:lstStyle/>
            <a:p>
              <a:pPr indent="0" lvl="0" marL="0" rtl="0" algn="l">
                <a:spcBef>
                  <a:spcPts val="0"/>
                </a:spcBef>
                <a:spcAft>
                  <a:spcPts val="0"/>
                </a:spcAft>
                <a:buNone/>
              </a:pPr>
              <a:r>
                <a:rPr lang="es-419" sz="1106">
                  <a:solidFill>
                    <a:schemeClr val="dk2"/>
                  </a:solidFill>
                </a:rPr>
                <a:t>Réplica 2 </a:t>
              </a:r>
              <a:endParaRPr sz="1106">
                <a:solidFill>
                  <a:schemeClr val="dk2"/>
                </a:solidFill>
              </a:endParaRPr>
            </a:p>
          </p:txBody>
        </p:sp>
        <p:sp>
          <p:nvSpPr>
            <p:cNvPr id="113" name="Google Shape;113;p17"/>
            <p:cNvSpPr txBox="1"/>
            <p:nvPr/>
          </p:nvSpPr>
          <p:spPr>
            <a:xfrm>
              <a:off x="649447" y="1510800"/>
              <a:ext cx="540900" cy="354000"/>
            </a:xfrm>
            <a:prstGeom prst="rect">
              <a:avLst/>
            </a:prstGeom>
            <a:solidFill>
              <a:srgbClr val="BCD9E5"/>
            </a:solidFill>
            <a:ln>
              <a:noFill/>
            </a:ln>
          </p:spPr>
          <p:txBody>
            <a:bodyPr anchorCtr="0" anchor="t" bIns="84250" lIns="84250" spcFirstLastPara="1" rIns="84250" wrap="square" tIns="84250">
              <a:spAutoFit/>
            </a:bodyPr>
            <a:lstStyle/>
            <a:p>
              <a:pPr indent="0" lvl="0" marL="0" rtl="0" algn="l">
                <a:spcBef>
                  <a:spcPts val="0"/>
                </a:spcBef>
                <a:spcAft>
                  <a:spcPts val="0"/>
                </a:spcAft>
                <a:buNone/>
              </a:pPr>
              <a:r>
                <a:rPr lang="es-419" sz="1014">
                  <a:solidFill>
                    <a:schemeClr val="dk2"/>
                  </a:solidFill>
                </a:rPr>
                <a:t>835</a:t>
              </a:r>
              <a:endParaRPr sz="1014">
                <a:solidFill>
                  <a:schemeClr val="dk2"/>
                </a:solidFill>
              </a:endParaRPr>
            </a:p>
          </p:txBody>
        </p:sp>
        <p:sp>
          <p:nvSpPr>
            <p:cNvPr id="114" name="Google Shape;114;p17"/>
            <p:cNvSpPr txBox="1"/>
            <p:nvPr/>
          </p:nvSpPr>
          <p:spPr>
            <a:xfrm>
              <a:off x="1414623" y="1510788"/>
              <a:ext cx="645000" cy="354000"/>
            </a:xfrm>
            <a:prstGeom prst="rect">
              <a:avLst/>
            </a:prstGeom>
            <a:solidFill>
              <a:srgbClr val="B3D9DD"/>
            </a:solidFill>
            <a:ln>
              <a:noFill/>
            </a:ln>
          </p:spPr>
          <p:txBody>
            <a:bodyPr anchorCtr="0" anchor="t" bIns="84250" lIns="84250" spcFirstLastPara="1" rIns="84250" wrap="square" tIns="84250">
              <a:spAutoFit/>
            </a:bodyPr>
            <a:lstStyle/>
            <a:p>
              <a:pPr indent="0" lvl="0" marL="0" rtl="0" algn="l">
                <a:spcBef>
                  <a:spcPts val="0"/>
                </a:spcBef>
                <a:spcAft>
                  <a:spcPts val="0"/>
                </a:spcAft>
                <a:buNone/>
              </a:pPr>
              <a:r>
                <a:rPr lang="es-419" sz="1014">
                  <a:solidFill>
                    <a:schemeClr val="dk2"/>
                  </a:solidFill>
                </a:rPr>
                <a:t>10401</a:t>
              </a:r>
              <a:endParaRPr sz="1014">
                <a:solidFill>
                  <a:schemeClr val="dk2"/>
                </a:solidFill>
              </a:endParaRPr>
            </a:p>
          </p:txBody>
        </p:sp>
        <p:sp>
          <p:nvSpPr>
            <p:cNvPr id="115" name="Google Shape;115;p17"/>
            <p:cNvSpPr txBox="1"/>
            <p:nvPr/>
          </p:nvSpPr>
          <p:spPr>
            <a:xfrm>
              <a:off x="2355862" y="1510788"/>
              <a:ext cx="645000" cy="354000"/>
            </a:xfrm>
            <a:prstGeom prst="rect">
              <a:avLst/>
            </a:prstGeom>
            <a:solidFill>
              <a:srgbClr val="CDE8E8"/>
            </a:solidFill>
            <a:ln>
              <a:noFill/>
            </a:ln>
          </p:spPr>
          <p:txBody>
            <a:bodyPr anchorCtr="0" anchor="t" bIns="84250" lIns="84250" spcFirstLastPara="1" rIns="84250" wrap="square" tIns="84250">
              <a:spAutoFit/>
            </a:bodyPr>
            <a:lstStyle/>
            <a:p>
              <a:pPr indent="0" lvl="0" marL="0" rtl="0" algn="l">
                <a:spcBef>
                  <a:spcPts val="0"/>
                </a:spcBef>
                <a:spcAft>
                  <a:spcPts val="0"/>
                </a:spcAft>
                <a:buClr>
                  <a:schemeClr val="dk1"/>
                </a:buClr>
                <a:buSzPts val="1100"/>
                <a:buFont typeface="Arial"/>
                <a:buNone/>
              </a:pPr>
              <a:r>
                <a:rPr lang="es-419" sz="1014">
                  <a:solidFill>
                    <a:schemeClr val="dk2"/>
                  </a:solidFill>
                </a:rPr>
                <a:t>2919</a:t>
              </a:r>
              <a:endParaRPr sz="1014">
                <a:solidFill>
                  <a:schemeClr val="dk2"/>
                </a:solidFill>
              </a:endParaRPr>
            </a:p>
          </p:txBody>
        </p:sp>
      </p:grpSp>
      <p:sp>
        <p:nvSpPr>
          <p:cNvPr id="116" name="Google Shape;116;p17"/>
          <p:cNvSpPr txBox="1"/>
          <p:nvPr/>
        </p:nvSpPr>
        <p:spPr>
          <a:xfrm>
            <a:off x="114750" y="3566075"/>
            <a:ext cx="8609100" cy="195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t>Análisis de correlación y consistencia entre réplicas de secuenciación. </a:t>
            </a:r>
            <a:endParaRPr b="1" sz="1200"/>
          </a:p>
          <a:p>
            <a:pPr indent="0" lvl="0" marL="0" rtl="0" algn="l">
              <a:lnSpc>
                <a:spcPct val="115000"/>
              </a:lnSpc>
              <a:spcBef>
                <a:spcPts val="1200"/>
              </a:spcBef>
              <a:spcAft>
                <a:spcPts val="0"/>
              </a:spcAft>
              <a:buClr>
                <a:schemeClr val="dk1"/>
              </a:buClr>
              <a:buSzPts val="1100"/>
              <a:buFont typeface="Arial"/>
              <a:buNone/>
            </a:pPr>
            <a:r>
              <a:rPr b="1" lang="es-419" sz="1200">
                <a:solidFill>
                  <a:schemeClr val="dk1"/>
                </a:solidFill>
              </a:rPr>
              <a:t>(A-B)</a:t>
            </a:r>
            <a:r>
              <a:rPr lang="es-419" sz="1200">
                <a:solidFill>
                  <a:schemeClr val="dk1"/>
                </a:solidFill>
              </a:rPr>
              <a:t> Gráfico de dispersión que muestra la correlación de la media de expresión entre las dos réplicas experimentales antes (A) y después (B) de aplicar los filtros de consistencia (coeficientes de </a:t>
            </a:r>
            <a:r>
              <a:rPr i="1" lang="es-419" sz="1200">
                <a:solidFill>
                  <a:schemeClr val="dk1"/>
                </a:solidFill>
              </a:rPr>
              <a:t>Pearson</a:t>
            </a:r>
            <a:r>
              <a:rPr lang="es-419" sz="1200">
                <a:solidFill>
                  <a:schemeClr val="dk1"/>
                </a:solidFill>
              </a:rPr>
              <a:t> de 0.72 y 0.85, respectivamente). Los </a:t>
            </a:r>
            <a:r>
              <a:rPr i="1" lang="es-419" sz="1200">
                <a:solidFill>
                  <a:schemeClr val="dk1"/>
                </a:solidFill>
              </a:rPr>
              <a:t>counts</a:t>
            </a:r>
            <a:r>
              <a:rPr lang="es-419" sz="1200">
                <a:solidFill>
                  <a:schemeClr val="dk1"/>
                </a:solidFill>
              </a:rPr>
              <a:t> mínimos y la eliminación de perfiles bimodales incrementan la robustez de la determinación de la actividad. </a:t>
            </a:r>
            <a:r>
              <a:rPr b="1" lang="es-419" sz="1200">
                <a:solidFill>
                  <a:schemeClr val="dk1"/>
                </a:solidFill>
              </a:rPr>
              <a:t>(C)</a:t>
            </a:r>
            <a:r>
              <a:rPr lang="es-419" sz="1200">
                <a:solidFill>
                  <a:schemeClr val="dk1"/>
                </a:solidFill>
              </a:rPr>
              <a:t> Representación del subconjunto final de 12214 promotores de alta confianza seleccionados para los análisis subsiguientes, detallando su presencia por réplicas.</a:t>
            </a:r>
            <a:endParaRPr sz="1200">
              <a:solidFill>
                <a:schemeClr val="dk1"/>
              </a:solidFill>
            </a:endParaRPr>
          </a:p>
          <a:p>
            <a:pPr indent="0" lvl="0" marL="0" rtl="0" algn="l">
              <a:spcBef>
                <a:spcPts val="1200"/>
              </a:spcBef>
              <a:spcAft>
                <a:spcPts val="0"/>
              </a:spcAft>
              <a:buNone/>
            </a:pPr>
            <a:r>
              <a:t/>
            </a:r>
            <a:endParaRPr b="1"/>
          </a:p>
        </p:txBody>
      </p:sp>
      <p:grpSp>
        <p:nvGrpSpPr>
          <p:cNvPr id="117" name="Google Shape;117;p17"/>
          <p:cNvGrpSpPr/>
          <p:nvPr/>
        </p:nvGrpSpPr>
        <p:grpSpPr>
          <a:xfrm>
            <a:off x="2" y="-3"/>
            <a:ext cx="3001132" cy="2796036"/>
            <a:chOff x="208625" y="-206579"/>
            <a:chExt cx="4062721" cy="3785076"/>
          </a:xfrm>
        </p:grpSpPr>
        <p:pic>
          <p:nvPicPr>
            <p:cNvPr id="118" name="Google Shape;118;p17" title="mean_replicates_prefilter.jpg"/>
            <p:cNvPicPr preferRelativeResize="0"/>
            <p:nvPr/>
          </p:nvPicPr>
          <p:blipFill rotWithShape="1">
            <a:blip r:embed="rId5">
              <a:alphaModFix/>
            </a:blip>
            <a:srcRect b="0" l="87149" r="0" t="0"/>
            <a:stretch/>
          </p:blipFill>
          <p:spPr>
            <a:xfrm>
              <a:off x="3617220" y="-206579"/>
              <a:ext cx="654126" cy="3785076"/>
            </a:xfrm>
            <a:prstGeom prst="rect">
              <a:avLst/>
            </a:prstGeom>
            <a:noFill/>
            <a:ln>
              <a:noFill/>
            </a:ln>
          </p:spPr>
        </p:pic>
        <p:pic>
          <p:nvPicPr>
            <p:cNvPr id="119" name="Google Shape;119;p17" title="mean_replicates_prefilter.jpg"/>
            <p:cNvPicPr preferRelativeResize="0"/>
            <p:nvPr/>
          </p:nvPicPr>
          <p:blipFill rotWithShape="1">
            <a:blip r:embed="rId5">
              <a:alphaModFix/>
            </a:blip>
            <a:srcRect b="0" l="0" r="31371" t="0"/>
            <a:stretch/>
          </p:blipFill>
          <p:spPr>
            <a:xfrm>
              <a:off x="208625" y="-146375"/>
              <a:ext cx="3397100" cy="3712451"/>
            </a:xfrm>
            <a:prstGeom prst="rect">
              <a:avLst/>
            </a:prstGeom>
            <a:noFill/>
            <a:ln>
              <a:noFill/>
            </a:ln>
          </p:spPr>
        </p:pic>
        <p:pic>
          <p:nvPicPr>
            <p:cNvPr id="120" name="Google Shape;120;p17" title="mean_replicates_prefilter.jpg"/>
            <p:cNvPicPr preferRelativeResize="0"/>
            <p:nvPr/>
          </p:nvPicPr>
          <p:blipFill rotWithShape="1">
            <a:blip r:embed="rId5">
              <a:alphaModFix/>
            </a:blip>
            <a:srcRect b="38266" l="69245" r="11846" t="43974"/>
            <a:stretch/>
          </p:blipFill>
          <p:spPr>
            <a:xfrm>
              <a:off x="649472" y="440675"/>
              <a:ext cx="954675" cy="672499"/>
            </a:xfrm>
            <a:prstGeom prst="rect">
              <a:avLst/>
            </a:prstGeom>
            <a:noFill/>
            <a:ln>
              <a:noFill/>
            </a:ln>
          </p:spPr>
        </p:pic>
      </p:grpSp>
      <p:pic>
        <p:nvPicPr>
          <p:cNvPr id="121" name="Google Shape;121;p17" title="mean_replicates_postfilter.jpg"/>
          <p:cNvPicPr preferRelativeResize="0"/>
          <p:nvPr/>
        </p:nvPicPr>
        <p:blipFill>
          <a:blip r:embed="rId6">
            <a:alphaModFix/>
          </a:blip>
          <a:stretch>
            <a:fillRect/>
          </a:stretch>
        </p:blipFill>
        <p:spPr>
          <a:xfrm>
            <a:off x="3045238" y="6"/>
            <a:ext cx="2899328" cy="27959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18" title="CGI_violin_rep1.jpg"/>
          <p:cNvPicPr preferRelativeResize="0"/>
          <p:nvPr/>
        </p:nvPicPr>
        <p:blipFill>
          <a:blip r:embed="rId3">
            <a:alphaModFix/>
          </a:blip>
          <a:stretch>
            <a:fillRect/>
          </a:stretch>
        </p:blipFill>
        <p:spPr>
          <a:xfrm>
            <a:off x="296538" y="3065425"/>
            <a:ext cx="2235203" cy="1676402"/>
          </a:xfrm>
          <a:prstGeom prst="rect">
            <a:avLst/>
          </a:prstGeom>
          <a:noFill/>
          <a:ln>
            <a:noFill/>
          </a:ln>
        </p:spPr>
      </p:pic>
      <p:pic>
        <p:nvPicPr>
          <p:cNvPr id="127" name="Google Shape;127;p18" title="CGI_violin_rep2.jpg"/>
          <p:cNvPicPr preferRelativeResize="0"/>
          <p:nvPr/>
        </p:nvPicPr>
        <p:blipFill rotWithShape="1">
          <a:blip r:embed="rId4">
            <a:alphaModFix/>
          </a:blip>
          <a:srcRect b="0" l="11715" r="0" t="0"/>
          <a:stretch/>
        </p:blipFill>
        <p:spPr>
          <a:xfrm>
            <a:off x="2415738" y="3065425"/>
            <a:ext cx="1973427" cy="1676398"/>
          </a:xfrm>
          <a:prstGeom prst="rect">
            <a:avLst/>
          </a:prstGeom>
          <a:noFill/>
          <a:ln>
            <a:noFill/>
          </a:ln>
        </p:spPr>
      </p:pic>
      <p:pic>
        <p:nvPicPr>
          <p:cNvPr id="128" name="Google Shape;128;p18" title="CGI_scatter.jpg"/>
          <p:cNvPicPr preferRelativeResize="0"/>
          <p:nvPr/>
        </p:nvPicPr>
        <p:blipFill>
          <a:blip r:embed="rId5">
            <a:alphaModFix/>
          </a:blip>
          <a:stretch>
            <a:fillRect/>
          </a:stretch>
        </p:blipFill>
        <p:spPr>
          <a:xfrm>
            <a:off x="1" y="0"/>
            <a:ext cx="4087235" cy="3065426"/>
          </a:xfrm>
          <a:prstGeom prst="rect">
            <a:avLst/>
          </a:prstGeom>
          <a:noFill/>
          <a:ln>
            <a:noFill/>
          </a:ln>
        </p:spPr>
      </p:pic>
      <p:pic>
        <p:nvPicPr>
          <p:cNvPr id="129" name="Google Shape;129;p18" title="TATA_scatter.jpg"/>
          <p:cNvPicPr preferRelativeResize="0"/>
          <p:nvPr/>
        </p:nvPicPr>
        <p:blipFill>
          <a:blip r:embed="rId6">
            <a:alphaModFix/>
          </a:blip>
          <a:stretch>
            <a:fillRect/>
          </a:stretch>
        </p:blipFill>
        <p:spPr>
          <a:xfrm>
            <a:off x="4740600" y="43288"/>
            <a:ext cx="3971799" cy="2978849"/>
          </a:xfrm>
          <a:prstGeom prst="rect">
            <a:avLst/>
          </a:prstGeom>
          <a:noFill/>
          <a:ln>
            <a:noFill/>
          </a:ln>
        </p:spPr>
      </p:pic>
      <p:pic>
        <p:nvPicPr>
          <p:cNvPr id="130" name="Google Shape;130;p18" title="TATA_violin_rep1.jpg"/>
          <p:cNvPicPr preferRelativeResize="0"/>
          <p:nvPr/>
        </p:nvPicPr>
        <p:blipFill>
          <a:blip r:embed="rId7">
            <a:alphaModFix/>
          </a:blip>
          <a:stretch>
            <a:fillRect/>
          </a:stretch>
        </p:blipFill>
        <p:spPr>
          <a:xfrm>
            <a:off x="4874680" y="3097699"/>
            <a:ext cx="2280765" cy="1710574"/>
          </a:xfrm>
          <a:prstGeom prst="rect">
            <a:avLst/>
          </a:prstGeom>
          <a:noFill/>
          <a:ln>
            <a:noFill/>
          </a:ln>
        </p:spPr>
      </p:pic>
      <p:pic>
        <p:nvPicPr>
          <p:cNvPr id="131" name="Google Shape;131;p18" title="TATA_violin_rep2.jpg"/>
          <p:cNvPicPr preferRelativeResize="0"/>
          <p:nvPr/>
        </p:nvPicPr>
        <p:blipFill rotWithShape="1">
          <a:blip r:embed="rId8">
            <a:alphaModFix/>
          </a:blip>
          <a:srcRect b="0" l="12080" r="0" t="0"/>
          <a:stretch/>
        </p:blipFill>
        <p:spPr>
          <a:xfrm>
            <a:off x="7021375" y="3094685"/>
            <a:ext cx="2005356" cy="17105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19"/>
          <p:cNvPicPr preferRelativeResize="0"/>
          <p:nvPr/>
        </p:nvPicPr>
        <p:blipFill rotWithShape="1">
          <a:blip r:embed="rId3">
            <a:alphaModFix/>
          </a:blip>
          <a:srcRect b="0" l="0" r="0" t="9000"/>
          <a:stretch/>
        </p:blipFill>
        <p:spPr>
          <a:xfrm>
            <a:off x="152400" y="546500"/>
            <a:ext cx="7048201" cy="3982901"/>
          </a:xfrm>
          <a:prstGeom prst="rect">
            <a:avLst/>
          </a:prstGeom>
          <a:noFill/>
          <a:ln>
            <a:noFill/>
          </a:ln>
        </p:spPr>
      </p:pic>
      <p:sp>
        <p:nvSpPr>
          <p:cNvPr id="137" name="Google Shape;137;p19"/>
          <p:cNvSpPr txBox="1"/>
          <p:nvPr/>
        </p:nvSpPr>
        <p:spPr>
          <a:xfrm>
            <a:off x="3835025" y="4343400"/>
            <a:ext cx="2601600" cy="276900"/>
          </a:xfrm>
          <a:prstGeom prst="rect">
            <a:avLst/>
          </a:prstGeom>
          <a:solidFill>
            <a:schemeClr val="lt1"/>
          </a:solidFill>
          <a:ln>
            <a:noFill/>
          </a:ln>
        </p:spPr>
        <p:txBody>
          <a:bodyPr anchorCtr="0" anchor="t" bIns="91425" lIns="91425" spcFirstLastPara="1" rIns="91425" wrap="square" tIns="0">
            <a:spAutoFit/>
          </a:bodyPr>
          <a:lstStyle/>
          <a:p>
            <a:pPr indent="0" lvl="0" marL="0" rtl="0" algn="l">
              <a:spcBef>
                <a:spcPts val="0"/>
              </a:spcBef>
              <a:spcAft>
                <a:spcPts val="0"/>
              </a:spcAft>
              <a:buNone/>
            </a:pPr>
            <a:r>
              <a:rPr b="1" lang="es-419" sz="1200">
                <a:solidFill>
                  <a:schemeClr val="dk2"/>
                </a:solidFill>
              </a:rPr>
              <a:t>Efecto sobre la actividad media</a:t>
            </a:r>
            <a:endParaRPr b="1" sz="1200">
              <a:solidFill>
                <a:schemeClr val="dk2"/>
              </a:solidFill>
            </a:endParaRPr>
          </a:p>
        </p:txBody>
      </p:sp>
      <p:sp>
        <p:nvSpPr>
          <p:cNvPr id="138" name="Google Shape;138;p19"/>
          <p:cNvSpPr txBox="1"/>
          <p:nvPr/>
        </p:nvSpPr>
        <p:spPr>
          <a:xfrm>
            <a:off x="3465653" y="454825"/>
            <a:ext cx="1005300" cy="361800"/>
          </a:xfrm>
          <a:prstGeom prst="rect">
            <a:avLst/>
          </a:prstGeom>
          <a:solidFill>
            <a:schemeClr val="lt1"/>
          </a:solidFill>
          <a:ln>
            <a:noFill/>
          </a:ln>
        </p:spPr>
        <p:txBody>
          <a:bodyPr anchorCtr="0" anchor="t" bIns="91425" lIns="0" spcFirstLastPara="1" rIns="0" wrap="square" tIns="91425">
            <a:spAutoFit/>
          </a:bodyPr>
          <a:lstStyle/>
          <a:p>
            <a:pPr indent="0" lvl="0" marL="0" rtl="0" algn="l">
              <a:spcBef>
                <a:spcPts val="0"/>
              </a:spcBef>
              <a:spcAft>
                <a:spcPts val="0"/>
              </a:spcAft>
              <a:buNone/>
            </a:pPr>
            <a:r>
              <a:rPr b="1" lang="es-419" sz="1150">
                <a:solidFill>
                  <a:schemeClr val="dk2"/>
                </a:solidFill>
              </a:rPr>
              <a:t>Alta actividad</a:t>
            </a:r>
            <a:endParaRPr b="1" sz="1150">
              <a:solidFill>
                <a:schemeClr val="dk2"/>
              </a:solidFill>
            </a:endParaRPr>
          </a:p>
        </p:txBody>
      </p:sp>
      <p:sp>
        <p:nvSpPr>
          <p:cNvPr id="139" name="Google Shape;139;p19"/>
          <p:cNvSpPr txBox="1"/>
          <p:nvPr/>
        </p:nvSpPr>
        <p:spPr>
          <a:xfrm>
            <a:off x="3142325" y="248494"/>
            <a:ext cx="692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solidFill>
                  <a:schemeClr val="dk2"/>
                </a:solidFill>
              </a:rPr>
              <a:t>Efecto</a:t>
            </a:r>
            <a:endParaRPr b="1" sz="1200">
              <a:solidFill>
                <a:schemeClr val="dk2"/>
              </a:solidFill>
            </a:endParaRPr>
          </a:p>
        </p:txBody>
      </p:sp>
      <p:sp>
        <p:nvSpPr>
          <p:cNvPr id="140" name="Google Shape;140;p19"/>
          <p:cNvSpPr txBox="1"/>
          <p:nvPr/>
        </p:nvSpPr>
        <p:spPr>
          <a:xfrm>
            <a:off x="4674460" y="452422"/>
            <a:ext cx="1005300" cy="361800"/>
          </a:xfrm>
          <a:prstGeom prst="rect">
            <a:avLst/>
          </a:prstGeom>
          <a:solidFill>
            <a:schemeClr val="lt1"/>
          </a:solidFill>
          <a:ln>
            <a:noFill/>
          </a:ln>
        </p:spPr>
        <p:txBody>
          <a:bodyPr anchorCtr="0" anchor="t" bIns="91425" lIns="0" spcFirstLastPara="1" rIns="0" wrap="square" tIns="91425">
            <a:spAutoFit/>
          </a:bodyPr>
          <a:lstStyle/>
          <a:p>
            <a:pPr indent="0" lvl="0" marL="0" rtl="0" algn="l">
              <a:spcBef>
                <a:spcPts val="0"/>
              </a:spcBef>
              <a:spcAft>
                <a:spcPts val="0"/>
              </a:spcAft>
              <a:buNone/>
            </a:pPr>
            <a:r>
              <a:rPr b="1" lang="es-419" sz="1150">
                <a:solidFill>
                  <a:schemeClr val="dk2"/>
                </a:solidFill>
              </a:rPr>
              <a:t>Baja </a:t>
            </a:r>
            <a:r>
              <a:rPr b="1" lang="es-419" sz="1150">
                <a:solidFill>
                  <a:schemeClr val="dk2"/>
                </a:solidFill>
              </a:rPr>
              <a:t>actividad</a:t>
            </a:r>
            <a:endParaRPr b="1" sz="1150">
              <a:solidFill>
                <a:schemeClr val="dk2"/>
              </a:solidFill>
            </a:endParaRPr>
          </a:p>
        </p:txBody>
      </p:sp>
      <p:sp>
        <p:nvSpPr>
          <p:cNvPr id="141" name="Google Shape;141;p19"/>
          <p:cNvSpPr txBox="1"/>
          <p:nvPr/>
        </p:nvSpPr>
        <p:spPr>
          <a:xfrm>
            <a:off x="781900" y="233289"/>
            <a:ext cx="1237200" cy="715800"/>
          </a:xfrm>
          <a:prstGeom prst="rect">
            <a:avLst/>
          </a:prstGeom>
          <a:solidFill>
            <a:schemeClr val="lt1"/>
          </a:solidFill>
          <a:ln>
            <a:noFill/>
          </a:ln>
        </p:spPr>
        <p:txBody>
          <a:bodyPr anchorCtr="0" anchor="t" bIns="91425" lIns="0" spcFirstLastPara="1" rIns="0" wrap="square" tIns="91425">
            <a:spAutoFit/>
          </a:bodyPr>
          <a:lstStyle/>
          <a:p>
            <a:pPr indent="0" lvl="0" marL="0" rtl="0" algn="ctr">
              <a:spcBef>
                <a:spcPts val="0"/>
              </a:spcBef>
              <a:spcAft>
                <a:spcPts val="0"/>
              </a:spcAft>
              <a:buNone/>
            </a:pPr>
            <a:r>
              <a:rPr b="1" lang="es-419" sz="1150">
                <a:solidFill>
                  <a:schemeClr val="dk2"/>
                </a:solidFill>
              </a:rPr>
              <a:t>Características</a:t>
            </a:r>
            <a:r>
              <a:rPr b="1" lang="es-419" sz="1150">
                <a:solidFill>
                  <a:schemeClr val="dk2"/>
                </a:solidFill>
              </a:rPr>
              <a:t> basadas en la secuencia</a:t>
            </a:r>
            <a:endParaRPr b="1" sz="1150">
              <a:solidFill>
                <a:schemeClr val="dk2"/>
              </a:solidFill>
            </a:endParaRPr>
          </a:p>
        </p:txBody>
      </p:sp>
      <p:sp>
        <p:nvSpPr>
          <p:cNvPr id="142" name="Google Shape;142;p19"/>
          <p:cNvSpPr txBox="1"/>
          <p:nvPr/>
        </p:nvSpPr>
        <p:spPr>
          <a:xfrm>
            <a:off x="920600" y="1229375"/>
            <a:ext cx="13518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F37336"/>
                </a:solidFill>
              </a:rPr>
              <a:t>Isla CpG</a:t>
            </a:r>
            <a:endParaRPr>
              <a:solidFill>
                <a:srgbClr val="F37336"/>
              </a:solidFill>
            </a:endParaRPr>
          </a:p>
        </p:txBody>
      </p:sp>
      <p:sp>
        <p:nvSpPr>
          <p:cNvPr id="143" name="Google Shape;143;p19"/>
          <p:cNvSpPr txBox="1"/>
          <p:nvPr/>
        </p:nvSpPr>
        <p:spPr>
          <a:xfrm>
            <a:off x="2344825" y="1810225"/>
            <a:ext cx="5944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44" name="Google Shape;144;p19"/>
          <p:cNvSpPr txBox="1"/>
          <p:nvPr/>
        </p:nvSpPr>
        <p:spPr>
          <a:xfrm>
            <a:off x="813075" y="991850"/>
            <a:ext cx="13518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F37336"/>
                </a:solidFill>
              </a:rPr>
              <a:t>   CCAAT</a:t>
            </a:r>
            <a:endParaRPr>
              <a:solidFill>
                <a:srgbClr val="F37336"/>
              </a:solidFill>
            </a:endParaRPr>
          </a:p>
        </p:txBody>
      </p:sp>
      <p:sp>
        <p:nvSpPr>
          <p:cNvPr id="145" name="Google Shape;145;p19"/>
          <p:cNvSpPr txBox="1"/>
          <p:nvPr/>
        </p:nvSpPr>
        <p:spPr>
          <a:xfrm>
            <a:off x="884822" y="1503213"/>
            <a:ext cx="13518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F37336"/>
                </a:solidFill>
              </a:rPr>
              <a:t>TATA-box</a:t>
            </a:r>
            <a:endParaRPr>
              <a:solidFill>
                <a:srgbClr val="F37336"/>
              </a:solidFill>
            </a:endParaRPr>
          </a:p>
        </p:txBody>
      </p:sp>
      <p:sp>
        <p:nvSpPr>
          <p:cNvPr id="146" name="Google Shape;146;p19"/>
          <p:cNvSpPr txBox="1"/>
          <p:nvPr/>
        </p:nvSpPr>
        <p:spPr>
          <a:xfrm>
            <a:off x="942002" y="1766743"/>
            <a:ext cx="13518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F37336"/>
                </a:solidFill>
              </a:rPr>
              <a:t>GC</a:t>
            </a:r>
            <a:r>
              <a:rPr lang="es-419">
                <a:solidFill>
                  <a:srgbClr val="F37336"/>
                </a:solidFill>
              </a:rPr>
              <a:t>-box</a:t>
            </a:r>
            <a:endParaRPr>
              <a:solidFill>
                <a:srgbClr val="F37336"/>
              </a:solidFill>
            </a:endParaRPr>
          </a:p>
        </p:txBody>
      </p:sp>
      <p:sp>
        <p:nvSpPr>
          <p:cNvPr id="147" name="Google Shape;147;p19"/>
          <p:cNvSpPr txBox="1"/>
          <p:nvPr/>
        </p:nvSpPr>
        <p:spPr>
          <a:xfrm>
            <a:off x="373593" y="2030275"/>
            <a:ext cx="20538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F37336"/>
                </a:solidFill>
              </a:rPr>
              <a:t>Alto contenido en G+C</a:t>
            </a:r>
            <a:endParaRPr>
              <a:solidFill>
                <a:srgbClr val="F37336"/>
              </a:solidFill>
            </a:endParaRPr>
          </a:p>
        </p:txBody>
      </p:sp>
      <p:sp>
        <p:nvSpPr>
          <p:cNvPr id="148" name="Google Shape;148;p19"/>
          <p:cNvSpPr txBox="1"/>
          <p:nvPr/>
        </p:nvSpPr>
        <p:spPr>
          <a:xfrm>
            <a:off x="801991" y="2269278"/>
            <a:ext cx="13518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F37336"/>
                </a:solidFill>
              </a:rPr>
              <a:t>CG en TSS</a:t>
            </a:r>
            <a:endParaRPr>
              <a:solidFill>
                <a:srgbClr val="F37336"/>
              </a:solidFill>
            </a:endParaRPr>
          </a:p>
        </p:txBody>
      </p:sp>
      <p:sp>
        <p:nvSpPr>
          <p:cNvPr id="149" name="Google Shape;149;p19"/>
          <p:cNvSpPr txBox="1"/>
          <p:nvPr/>
        </p:nvSpPr>
        <p:spPr>
          <a:xfrm>
            <a:off x="1095665" y="2508259"/>
            <a:ext cx="13518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F37336"/>
                </a:solidFill>
              </a:rPr>
              <a:t>TCT</a:t>
            </a:r>
            <a:endParaRPr>
              <a:solidFill>
                <a:srgbClr val="F37336"/>
              </a:solidFill>
            </a:endParaRPr>
          </a:p>
        </p:txBody>
      </p:sp>
      <p:sp>
        <p:nvSpPr>
          <p:cNvPr id="150" name="Google Shape;150;p19"/>
          <p:cNvSpPr txBox="1"/>
          <p:nvPr/>
        </p:nvSpPr>
        <p:spPr>
          <a:xfrm>
            <a:off x="386175" y="2773823"/>
            <a:ext cx="2205600" cy="288300"/>
          </a:xfrm>
          <a:prstGeom prst="rect">
            <a:avLst/>
          </a:prstGeom>
          <a:solidFill>
            <a:schemeClr val="lt1"/>
          </a:solidFill>
          <a:ln>
            <a:noFill/>
          </a:ln>
        </p:spPr>
        <p:txBody>
          <a:bodyPr anchorCtr="0" anchor="t" bIns="72000" lIns="91425" spcFirstLastPara="1" rIns="91425" wrap="square" tIns="0">
            <a:spAutoFit/>
          </a:bodyPr>
          <a:lstStyle/>
          <a:p>
            <a:pPr indent="0" lvl="0" marL="0" rtl="0" algn="l">
              <a:spcBef>
                <a:spcPts val="0"/>
              </a:spcBef>
              <a:spcAft>
                <a:spcPts val="0"/>
              </a:spcAft>
              <a:buNone/>
            </a:pPr>
            <a:r>
              <a:rPr lang="es-419">
                <a:solidFill>
                  <a:srgbClr val="24A35F"/>
                </a:solidFill>
              </a:rPr>
              <a:t>Elementos transponibles</a:t>
            </a:r>
            <a:endParaRPr>
              <a:solidFill>
                <a:srgbClr val="24A35F"/>
              </a:solidFill>
            </a:endParaRPr>
          </a:p>
        </p:txBody>
      </p:sp>
      <p:sp>
        <p:nvSpPr>
          <p:cNvPr id="151" name="Google Shape;151;p19"/>
          <p:cNvSpPr txBox="1"/>
          <p:nvPr/>
        </p:nvSpPr>
        <p:spPr>
          <a:xfrm>
            <a:off x="572050" y="3052022"/>
            <a:ext cx="16569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24A35F"/>
                </a:solidFill>
              </a:rPr>
              <a:t>TSS no canónico</a:t>
            </a:r>
            <a:endParaRPr>
              <a:solidFill>
                <a:srgbClr val="24A35F"/>
              </a:solidFill>
            </a:endParaRPr>
          </a:p>
        </p:txBody>
      </p:sp>
      <p:sp>
        <p:nvSpPr>
          <p:cNvPr id="152" name="Google Shape;152;p19"/>
          <p:cNvSpPr txBox="1"/>
          <p:nvPr/>
        </p:nvSpPr>
        <p:spPr>
          <a:xfrm>
            <a:off x="1076130" y="3333063"/>
            <a:ext cx="6606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24A35F"/>
                </a:solidFill>
              </a:rPr>
              <a:t>SINE</a:t>
            </a:r>
            <a:endParaRPr>
              <a:solidFill>
                <a:srgbClr val="24A35F"/>
              </a:solidFill>
            </a:endParaRPr>
          </a:p>
        </p:txBody>
      </p:sp>
      <p:sp>
        <p:nvSpPr>
          <p:cNvPr id="153" name="Google Shape;153;p19"/>
          <p:cNvSpPr txBox="1"/>
          <p:nvPr/>
        </p:nvSpPr>
        <p:spPr>
          <a:xfrm>
            <a:off x="1094362" y="3588669"/>
            <a:ext cx="6606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24A35F"/>
                </a:solidFill>
              </a:rPr>
              <a:t>L</a:t>
            </a:r>
            <a:r>
              <a:rPr lang="es-419">
                <a:solidFill>
                  <a:srgbClr val="24A35F"/>
                </a:solidFill>
              </a:rPr>
              <a:t>INE</a:t>
            </a:r>
            <a:endParaRPr>
              <a:solidFill>
                <a:srgbClr val="24A35F"/>
              </a:solidFill>
            </a:endParaRPr>
          </a:p>
        </p:txBody>
      </p:sp>
      <p:sp>
        <p:nvSpPr>
          <p:cNvPr id="154" name="Google Shape;154;p19"/>
          <p:cNvSpPr txBox="1"/>
          <p:nvPr/>
        </p:nvSpPr>
        <p:spPr>
          <a:xfrm>
            <a:off x="624416" y="3887950"/>
            <a:ext cx="15249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24A35F"/>
                </a:solidFill>
              </a:rPr>
              <a:t>Retrotransposón</a:t>
            </a:r>
            <a:endParaRPr>
              <a:solidFill>
                <a:srgbClr val="24A35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0"/>
          <p:cNvPicPr preferRelativeResize="0"/>
          <p:nvPr/>
        </p:nvPicPr>
        <p:blipFill rotWithShape="1">
          <a:blip r:embed="rId3">
            <a:alphaModFix/>
          </a:blip>
          <a:srcRect b="6350" l="0" r="0" t="8876"/>
          <a:stretch/>
        </p:blipFill>
        <p:spPr>
          <a:xfrm>
            <a:off x="554900" y="1387075"/>
            <a:ext cx="7410450" cy="3116800"/>
          </a:xfrm>
          <a:prstGeom prst="rect">
            <a:avLst/>
          </a:prstGeom>
          <a:noFill/>
          <a:ln>
            <a:noFill/>
          </a:ln>
        </p:spPr>
      </p:pic>
      <p:sp>
        <p:nvSpPr>
          <p:cNvPr id="160" name="Google Shape;160;p20"/>
          <p:cNvSpPr txBox="1"/>
          <p:nvPr/>
        </p:nvSpPr>
        <p:spPr>
          <a:xfrm>
            <a:off x="1343725" y="966048"/>
            <a:ext cx="1713300" cy="715800"/>
          </a:xfrm>
          <a:prstGeom prst="rect">
            <a:avLst/>
          </a:prstGeom>
          <a:solidFill>
            <a:schemeClr val="lt1"/>
          </a:solidFill>
          <a:ln>
            <a:noFill/>
          </a:ln>
        </p:spPr>
        <p:txBody>
          <a:bodyPr anchorCtr="0" anchor="t" bIns="91425" lIns="0" spcFirstLastPara="1" rIns="0" wrap="square" tIns="91425">
            <a:spAutoFit/>
          </a:bodyPr>
          <a:lstStyle/>
          <a:p>
            <a:pPr indent="0" lvl="0" marL="0" rtl="0" algn="ctr">
              <a:spcBef>
                <a:spcPts val="0"/>
              </a:spcBef>
              <a:spcAft>
                <a:spcPts val="0"/>
              </a:spcAft>
              <a:buNone/>
            </a:pPr>
            <a:r>
              <a:rPr b="1" lang="es-419" sz="1150">
                <a:solidFill>
                  <a:schemeClr val="dk2"/>
                </a:solidFill>
              </a:rPr>
              <a:t>Características </a:t>
            </a:r>
            <a:endParaRPr b="1" sz="1150">
              <a:solidFill>
                <a:schemeClr val="dk2"/>
              </a:solidFill>
            </a:endParaRPr>
          </a:p>
          <a:p>
            <a:pPr indent="0" lvl="0" marL="0" rtl="0" algn="ctr">
              <a:spcBef>
                <a:spcPts val="0"/>
              </a:spcBef>
              <a:spcAft>
                <a:spcPts val="0"/>
              </a:spcAft>
              <a:buNone/>
            </a:pPr>
            <a:r>
              <a:rPr b="1" lang="es-419" sz="1150">
                <a:solidFill>
                  <a:schemeClr val="dk2"/>
                </a:solidFill>
              </a:rPr>
              <a:t>basadas en el </a:t>
            </a:r>
            <a:endParaRPr b="1" sz="1150">
              <a:solidFill>
                <a:schemeClr val="dk2"/>
              </a:solidFill>
            </a:endParaRPr>
          </a:p>
          <a:p>
            <a:pPr indent="0" lvl="0" marL="0" rtl="0" algn="ctr">
              <a:spcBef>
                <a:spcPts val="0"/>
              </a:spcBef>
              <a:spcAft>
                <a:spcPts val="0"/>
              </a:spcAft>
              <a:buNone/>
            </a:pPr>
            <a:r>
              <a:rPr b="1" lang="es-419" sz="1150">
                <a:solidFill>
                  <a:schemeClr val="dk2"/>
                </a:solidFill>
              </a:rPr>
              <a:t>contexto </a:t>
            </a:r>
            <a:r>
              <a:rPr b="1" lang="es-419" sz="1150">
                <a:solidFill>
                  <a:schemeClr val="dk2"/>
                </a:solidFill>
              </a:rPr>
              <a:t>endógeno</a:t>
            </a:r>
            <a:endParaRPr b="1" sz="1150">
              <a:solidFill>
                <a:schemeClr val="dk2"/>
              </a:solidFill>
            </a:endParaRPr>
          </a:p>
        </p:txBody>
      </p:sp>
      <p:sp>
        <p:nvSpPr>
          <p:cNvPr id="161" name="Google Shape;161;p20"/>
          <p:cNvSpPr txBox="1"/>
          <p:nvPr/>
        </p:nvSpPr>
        <p:spPr>
          <a:xfrm>
            <a:off x="4167455" y="1332088"/>
            <a:ext cx="1005300" cy="361800"/>
          </a:xfrm>
          <a:prstGeom prst="rect">
            <a:avLst/>
          </a:prstGeom>
          <a:solidFill>
            <a:schemeClr val="lt1"/>
          </a:solidFill>
          <a:ln>
            <a:noFill/>
          </a:ln>
        </p:spPr>
        <p:txBody>
          <a:bodyPr anchorCtr="0" anchor="t" bIns="91425" lIns="0" spcFirstLastPara="1" rIns="0" wrap="square" tIns="91425">
            <a:spAutoFit/>
          </a:bodyPr>
          <a:lstStyle/>
          <a:p>
            <a:pPr indent="0" lvl="0" marL="0" rtl="0" algn="l">
              <a:spcBef>
                <a:spcPts val="0"/>
              </a:spcBef>
              <a:spcAft>
                <a:spcPts val="0"/>
              </a:spcAft>
              <a:buNone/>
            </a:pPr>
            <a:r>
              <a:rPr b="1" lang="es-419" sz="1150">
                <a:solidFill>
                  <a:schemeClr val="dk2"/>
                </a:solidFill>
              </a:rPr>
              <a:t>Alta actividad</a:t>
            </a:r>
            <a:endParaRPr b="1" sz="1150">
              <a:solidFill>
                <a:schemeClr val="dk2"/>
              </a:solidFill>
            </a:endParaRPr>
          </a:p>
        </p:txBody>
      </p:sp>
      <p:sp>
        <p:nvSpPr>
          <p:cNvPr id="162" name="Google Shape;162;p20"/>
          <p:cNvSpPr txBox="1"/>
          <p:nvPr/>
        </p:nvSpPr>
        <p:spPr>
          <a:xfrm>
            <a:off x="3844128" y="1125758"/>
            <a:ext cx="692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solidFill>
                  <a:schemeClr val="dk2"/>
                </a:solidFill>
              </a:rPr>
              <a:t>Efecto</a:t>
            </a:r>
            <a:endParaRPr b="1" sz="1200">
              <a:solidFill>
                <a:schemeClr val="dk2"/>
              </a:solidFill>
            </a:endParaRPr>
          </a:p>
        </p:txBody>
      </p:sp>
      <p:sp>
        <p:nvSpPr>
          <p:cNvPr id="163" name="Google Shape;163;p20"/>
          <p:cNvSpPr txBox="1"/>
          <p:nvPr/>
        </p:nvSpPr>
        <p:spPr>
          <a:xfrm>
            <a:off x="5376263" y="1329686"/>
            <a:ext cx="1005300" cy="361800"/>
          </a:xfrm>
          <a:prstGeom prst="rect">
            <a:avLst/>
          </a:prstGeom>
          <a:solidFill>
            <a:schemeClr val="lt1"/>
          </a:solidFill>
          <a:ln>
            <a:noFill/>
          </a:ln>
        </p:spPr>
        <p:txBody>
          <a:bodyPr anchorCtr="0" anchor="t" bIns="91425" lIns="0" spcFirstLastPara="1" rIns="0" wrap="square" tIns="91425">
            <a:spAutoFit/>
          </a:bodyPr>
          <a:lstStyle/>
          <a:p>
            <a:pPr indent="0" lvl="0" marL="0" rtl="0" algn="l">
              <a:spcBef>
                <a:spcPts val="0"/>
              </a:spcBef>
              <a:spcAft>
                <a:spcPts val="0"/>
              </a:spcAft>
              <a:buNone/>
            </a:pPr>
            <a:r>
              <a:rPr b="1" lang="es-419" sz="1150">
                <a:solidFill>
                  <a:schemeClr val="dk2"/>
                </a:solidFill>
              </a:rPr>
              <a:t>Baja actividad</a:t>
            </a:r>
            <a:endParaRPr b="1" sz="1150">
              <a:solidFill>
                <a:schemeClr val="dk2"/>
              </a:solidFill>
            </a:endParaRPr>
          </a:p>
        </p:txBody>
      </p:sp>
      <p:sp>
        <p:nvSpPr>
          <p:cNvPr id="164" name="Google Shape;164;p20"/>
          <p:cNvSpPr txBox="1"/>
          <p:nvPr/>
        </p:nvSpPr>
        <p:spPr>
          <a:xfrm>
            <a:off x="1029806" y="1848455"/>
            <a:ext cx="23160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F37336"/>
                </a:solidFill>
              </a:rPr>
              <a:t>Alta actividad en HEK293</a:t>
            </a:r>
            <a:endParaRPr>
              <a:solidFill>
                <a:srgbClr val="F37336"/>
              </a:solidFill>
            </a:endParaRPr>
          </a:p>
        </p:txBody>
      </p:sp>
      <p:sp>
        <p:nvSpPr>
          <p:cNvPr id="165" name="Google Shape;165;p20"/>
          <p:cNvSpPr txBox="1"/>
          <p:nvPr/>
        </p:nvSpPr>
        <p:spPr>
          <a:xfrm>
            <a:off x="4360229" y="4442778"/>
            <a:ext cx="2601600" cy="276900"/>
          </a:xfrm>
          <a:prstGeom prst="rect">
            <a:avLst/>
          </a:prstGeom>
          <a:solidFill>
            <a:schemeClr val="lt1"/>
          </a:solidFill>
          <a:ln>
            <a:noFill/>
          </a:ln>
        </p:spPr>
        <p:txBody>
          <a:bodyPr anchorCtr="0" anchor="t" bIns="91425" lIns="91425" spcFirstLastPara="1" rIns="91425" wrap="square" tIns="0">
            <a:spAutoFit/>
          </a:bodyPr>
          <a:lstStyle/>
          <a:p>
            <a:pPr indent="0" lvl="0" marL="0" rtl="0" algn="l">
              <a:spcBef>
                <a:spcPts val="0"/>
              </a:spcBef>
              <a:spcAft>
                <a:spcPts val="0"/>
              </a:spcAft>
              <a:buNone/>
            </a:pPr>
            <a:r>
              <a:rPr b="1" lang="es-419" sz="1200">
                <a:solidFill>
                  <a:schemeClr val="dk2"/>
                </a:solidFill>
              </a:rPr>
              <a:t>Efecto sobre la actividad media</a:t>
            </a:r>
            <a:endParaRPr b="1" sz="1200">
              <a:solidFill>
                <a:schemeClr val="dk2"/>
              </a:solidFill>
            </a:endParaRPr>
          </a:p>
        </p:txBody>
      </p:sp>
      <p:pic>
        <p:nvPicPr>
          <p:cNvPr id="166" name="Google Shape;166;p20"/>
          <p:cNvPicPr preferRelativeResize="0"/>
          <p:nvPr/>
        </p:nvPicPr>
        <p:blipFill>
          <a:blip r:embed="rId4">
            <a:alphaModFix/>
          </a:blip>
          <a:stretch>
            <a:fillRect/>
          </a:stretch>
        </p:blipFill>
        <p:spPr>
          <a:xfrm>
            <a:off x="4042753" y="4313375"/>
            <a:ext cx="3160425" cy="161650"/>
          </a:xfrm>
          <a:prstGeom prst="rect">
            <a:avLst/>
          </a:prstGeom>
          <a:noFill/>
          <a:ln>
            <a:noFill/>
          </a:ln>
        </p:spPr>
      </p:pic>
      <p:sp>
        <p:nvSpPr>
          <p:cNvPr id="167" name="Google Shape;167;p20"/>
          <p:cNvSpPr txBox="1"/>
          <p:nvPr/>
        </p:nvSpPr>
        <p:spPr>
          <a:xfrm>
            <a:off x="323200" y="2075766"/>
            <a:ext cx="42135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F37336"/>
                </a:solidFill>
              </a:rPr>
              <a:t>Alta accesibilidad a la cromatina (DNasa-seq)</a:t>
            </a:r>
            <a:endParaRPr>
              <a:solidFill>
                <a:srgbClr val="F37336"/>
              </a:solidFill>
            </a:endParaRPr>
          </a:p>
        </p:txBody>
      </p:sp>
      <p:sp>
        <p:nvSpPr>
          <p:cNvPr id="168" name="Google Shape;168;p20"/>
          <p:cNvSpPr txBox="1"/>
          <p:nvPr/>
        </p:nvSpPr>
        <p:spPr>
          <a:xfrm>
            <a:off x="1083060" y="2345890"/>
            <a:ext cx="27387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F37336"/>
                </a:solidFill>
              </a:rPr>
              <a:t>Baja especificidad de tejido</a:t>
            </a:r>
            <a:endParaRPr>
              <a:solidFill>
                <a:srgbClr val="F37336"/>
              </a:solidFill>
            </a:endParaRPr>
          </a:p>
        </p:txBody>
      </p:sp>
      <p:sp>
        <p:nvSpPr>
          <p:cNvPr id="169" name="Google Shape;169;p20"/>
          <p:cNvSpPr txBox="1"/>
          <p:nvPr/>
        </p:nvSpPr>
        <p:spPr>
          <a:xfrm>
            <a:off x="1395994" y="2573206"/>
            <a:ext cx="27387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F37336"/>
                </a:solidFill>
              </a:rPr>
              <a:t>Promotor disperso</a:t>
            </a:r>
            <a:endParaRPr>
              <a:solidFill>
                <a:srgbClr val="F37336"/>
              </a:solidFill>
            </a:endParaRPr>
          </a:p>
        </p:txBody>
      </p:sp>
      <p:sp>
        <p:nvSpPr>
          <p:cNvPr id="170" name="Google Shape;170;p20"/>
          <p:cNvSpPr txBox="1"/>
          <p:nvPr/>
        </p:nvSpPr>
        <p:spPr>
          <a:xfrm>
            <a:off x="742160" y="2839130"/>
            <a:ext cx="32196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24A35F"/>
                </a:solidFill>
              </a:rPr>
              <a:t>Alta conservación distal (-150 a -235)</a:t>
            </a:r>
            <a:endParaRPr>
              <a:solidFill>
                <a:srgbClr val="24A35F"/>
              </a:solidFill>
            </a:endParaRPr>
          </a:p>
        </p:txBody>
      </p:sp>
      <p:sp>
        <p:nvSpPr>
          <p:cNvPr id="171" name="Google Shape;171;p20"/>
          <p:cNvSpPr txBox="1"/>
          <p:nvPr/>
        </p:nvSpPr>
        <p:spPr>
          <a:xfrm>
            <a:off x="1142751" y="3087850"/>
            <a:ext cx="27387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24A35F"/>
                </a:solidFill>
              </a:rPr>
              <a:t>   Enhancers en ∓50kb</a:t>
            </a:r>
            <a:endParaRPr>
              <a:solidFill>
                <a:srgbClr val="24A35F"/>
              </a:solidFill>
            </a:endParaRPr>
          </a:p>
        </p:txBody>
      </p:sp>
      <p:sp>
        <p:nvSpPr>
          <p:cNvPr id="172" name="Google Shape;172;p20"/>
          <p:cNvSpPr txBox="1"/>
          <p:nvPr/>
        </p:nvSpPr>
        <p:spPr>
          <a:xfrm>
            <a:off x="1343729" y="3336575"/>
            <a:ext cx="18768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24A35F"/>
                </a:solidFill>
              </a:rPr>
              <a:t>Promotor focalizado</a:t>
            </a:r>
            <a:endParaRPr>
              <a:solidFill>
                <a:srgbClr val="24A35F"/>
              </a:solidFill>
            </a:endParaRPr>
          </a:p>
        </p:txBody>
      </p:sp>
      <p:sp>
        <p:nvSpPr>
          <p:cNvPr id="173" name="Google Shape;173;p20"/>
          <p:cNvSpPr txBox="1"/>
          <p:nvPr/>
        </p:nvSpPr>
        <p:spPr>
          <a:xfrm>
            <a:off x="888994" y="3574588"/>
            <a:ext cx="32196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24A35F"/>
                </a:solidFill>
              </a:rPr>
              <a:t>Actividad no detectada (FANTOM5)</a:t>
            </a:r>
            <a:endParaRPr>
              <a:solidFill>
                <a:srgbClr val="24A35F"/>
              </a:solidFill>
            </a:endParaRPr>
          </a:p>
        </p:txBody>
      </p:sp>
      <p:sp>
        <p:nvSpPr>
          <p:cNvPr id="174" name="Google Shape;174;p20"/>
          <p:cNvSpPr txBox="1"/>
          <p:nvPr/>
        </p:nvSpPr>
        <p:spPr>
          <a:xfrm>
            <a:off x="1266142" y="3812606"/>
            <a:ext cx="32196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24A35F"/>
                </a:solidFill>
              </a:rPr>
              <a:t>Sin actividad en ratón</a:t>
            </a:r>
            <a:endParaRPr>
              <a:solidFill>
                <a:srgbClr val="24A35F"/>
              </a:solidFill>
            </a:endParaRPr>
          </a:p>
        </p:txBody>
      </p:sp>
      <p:sp>
        <p:nvSpPr>
          <p:cNvPr id="175" name="Google Shape;175;p20"/>
          <p:cNvSpPr txBox="1"/>
          <p:nvPr/>
        </p:nvSpPr>
        <p:spPr>
          <a:xfrm>
            <a:off x="1065375" y="4039925"/>
            <a:ext cx="2457900" cy="215400"/>
          </a:xfrm>
          <a:prstGeom prst="rect">
            <a:avLst/>
          </a:prstGeom>
          <a:solidFill>
            <a:schemeClr val="lt1"/>
          </a:solidFill>
          <a:ln>
            <a:noFill/>
          </a:ln>
        </p:spPr>
        <p:txBody>
          <a:bodyPr anchorCtr="0" anchor="t" bIns="0" lIns="91425" spcFirstLastPara="1" rIns="91425" wrap="square" tIns="0">
            <a:spAutoFit/>
          </a:bodyPr>
          <a:lstStyle/>
          <a:p>
            <a:pPr indent="0" lvl="0" marL="0" rtl="0" algn="l">
              <a:spcBef>
                <a:spcPts val="0"/>
              </a:spcBef>
              <a:spcAft>
                <a:spcPts val="0"/>
              </a:spcAft>
              <a:buNone/>
            </a:pPr>
            <a:r>
              <a:rPr lang="es-419">
                <a:solidFill>
                  <a:srgbClr val="24A35F"/>
                </a:solidFill>
              </a:rPr>
              <a:t>Alta especificidad de tejido</a:t>
            </a:r>
            <a:endParaRPr>
              <a:solidFill>
                <a:srgbClr val="24A35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