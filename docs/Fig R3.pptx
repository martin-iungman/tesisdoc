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tin Iungm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0T16:38:31.281">
    <p:pos x="4160" y="96"/>
    <p:text>revisar y acortar la leyenda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701cfb41a30eee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701cfb41a30eee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701cfb41a30eeeb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h701cfb41a30eeeb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701cfb41a30eeeb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701cfb41a30eeeb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5e06a3c0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5e06a3c0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5e06a3c0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5e06a3c0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metrica_ruido.jpg"/>
          <p:cNvPicPr preferRelativeResize="0"/>
          <p:nvPr/>
        </p:nvPicPr>
        <p:blipFill>
          <a:blip r:embed="rId4">
            <a:alphaModFix/>
          </a:blip>
          <a:stretch>
            <a:fillRect/>
          </a:stretch>
        </p:blipFill>
        <p:spPr>
          <a:xfrm>
            <a:off x="152400" y="152400"/>
            <a:ext cx="6451599" cy="4838700"/>
          </a:xfrm>
          <a:prstGeom prst="rect">
            <a:avLst/>
          </a:prstGeom>
          <a:noFill/>
          <a:ln>
            <a:noFill/>
          </a:ln>
        </p:spPr>
      </p:pic>
      <p:sp>
        <p:nvSpPr>
          <p:cNvPr id="55" name="Google Shape;55;p13"/>
          <p:cNvSpPr txBox="1"/>
          <p:nvPr/>
        </p:nvSpPr>
        <p:spPr>
          <a:xfrm>
            <a:off x="6604000" y="152400"/>
            <a:ext cx="3000000" cy="398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419" sz="800">
                <a:solidFill>
                  <a:schemeClr val="dk1"/>
                </a:solidFill>
              </a:rPr>
              <a:t>Fig. R3.1. Medición del ruido transcripcional desacoplado de la actividad.</a:t>
            </a:r>
            <a:r>
              <a:rPr lang="es-419" sz="800">
                <a:solidFill>
                  <a:schemeClr val="dk1"/>
                </a:solidFill>
              </a:rPr>
              <a:t> (A) Construcción de la métrica de ruido en la réplica 1. A la izquierda, varianza en función de la actividad media de cada promotor; las bandas alternadas delimitan los intervalos de 100 promotores de actividad similar, y en rojo se resalta un intervalo de actividad intermedia (intervalo 56). En el centro, los 100 promotores de ese intervalo ordenados por su varianza, con el rango de 1 a 100 asignado a cada uno. A la derecha, distribución de las lecturas normalizadas entre las fracciones de </a:t>
            </a:r>
            <a:r>
              <a:rPr i="1" lang="es-419" sz="800">
                <a:solidFill>
                  <a:schemeClr val="dk1"/>
                </a:solidFill>
              </a:rPr>
              <a:t>sorting</a:t>
            </a:r>
            <a:r>
              <a:rPr lang="es-419" sz="800">
                <a:solidFill>
                  <a:schemeClr val="dk1"/>
                </a:solidFill>
              </a:rPr>
              <a:t> para dos promotores de ese intervalo: MYLPF_1 (rango 10, en ámbar) y CDK11B_1 (rango 90, en violeta); la línea punteada indica la actividad media de ambos. (B) Rango de varianza dentro de cada intervalo en función del intervalo de actividad media para todos los promotores de la réplica 1, con el intervalo y los promotores de A resaltados. La línea indica la tendencia (LOESS), que por construcción es constante en 50 (línea punteada). (C) Reproducibilidad del rango de varianza entre réplicas. Para los 10.381 promotores medidos en ambas réplicas, se muestra el rango medio en la réplica 2 (con su IC 95%) para cada decil del rango en la réplica 1, para el conjunto de los promotores (negro) y por separado según el tercil de actividad (promedio del percentil de actividad en ambas réplicas; tonos de azul). La línea punteada indica el valor esperado en ausencia de reproducibilidad. Las bandas sombreadas indican los deciles en los que se ubican los promotores de ejemplo, con su rango en cada réplica.</a:t>
            </a:r>
            <a:endParaRPr sz="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ruido_cgi.jpg"/>
          <p:cNvPicPr preferRelativeResize="0"/>
          <p:nvPr/>
        </p:nvPicPr>
        <p:blipFill>
          <a:blip r:embed="rId3">
            <a:alphaModFix/>
          </a:blip>
          <a:stretch>
            <a:fillRect/>
          </a:stretch>
        </p:blipFill>
        <p:spPr>
          <a:xfrm>
            <a:off x="1113925" y="1009271"/>
            <a:ext cx="6076948" cy="2563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4797925" y="916175"/>
            <a:ext cx="30000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Fig. R3.3. El ruido se asocia con la composición del fragmento de manera distinta que la actividad.</a:t>
            </a:r>
            <a:r>
              <a:rPr lang="es-419" sz="1100">
                <a:solidFill>
                  <a:schemeClr val="dk1"/>
                </a:solidFill>
              </a:rPr>
              <a:t> (A) Rango de varianza medio de los promotores en cada decil de la razón CpG observado/esperado del fragmento, para las réplicas 1 y 2. Cada punto se ubica en la mediana del decil, y las barras verticales indican el IC 95%. La línea punteada vertical indica el valor de 0,6 que define a las islas CpG, y la línea punteada horizontal, el rango medio esperado en ausencia de asociación. Se indica el ρ de Spearman entre la razón CpG o/e y el rango de varianza de cada réplica. (B) Igual que en A, para el contenido de G+C del fragmento; la línea punteada vertical indica el 50%, el valor de contenido de G+C de la definición de isla. </a:t>
            </a:r>
            <a:endParaRPr/>
          </a:p>
        </p:txBody>
      </p:sp>
      <p:pic>
        <p:nvPicPr>
          <p:cNvPr id="66" name="Google Shape;66;p15" title="ruido_composicion_deciles.jpg"/>
          <p:cNvPicPr preferRelativeResize="0"/>
          <p:nvPr/>
        </p:nvPicPr>
        <p:blipFill>
          <a:blip r:embed="rId3">
            <a:alphaModFix/>
          </a:blip>
          <a:stretch>
            <a:fillRect/>
          </a:stretch>
        </p:blipFill>
        <p:spPr>
          <a:xfrm>
            <a:off x="152400" y="152400"/>
            <a:ext cx="4089743" cy="48387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6" title="ruido_tata.jpg"/>
          <p:cNvPicPr preferRelativeResize="0"/>
          <p:nvPr/>
        </p:nvPicPr>
        <p:blipFill>
          <a:blip r:embed="rId3">
            <a:alphaModFix/>
          </a:blip>
          <a:stretch>
            <a:fillRect/>
          </a:stretch>
        </p:blipFill>
        <p:spPr>
          <a:xfrm>
            <a:off x="152400" y="152400"/>
            <a:ext cx="8839204" cy="25939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title="summary_noise.jpg"/>
          <p:cNvPicPr preferRelativeResize="0"/>
          <p:nvPr/>
        </p:nvPicPr>
        <p:blipFill>
          <a:blip r:embed="rId3">
            <a:alphaModFix/>
          </a:blip>
          <a:stretch>
            <a:fillRect/>
          </a:stretch>
        </p:blipFill>
        <p:spPr>
          <a:xfrm>
            <a:off x="152400" y="152400"/>
            <a:ext cx="8839204" cy="44196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