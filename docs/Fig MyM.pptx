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4.xml"/>
  <Override ContentType="application/vnd.openxmlformats-officedocument.presentationml.comments+xml" PartName="/ppt/comments/comment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Ignacio Schor"/>
  <p:cmAuthor clrIdx="1" id="1" initials="" lastIdx="3" name="Martin Iungman"/>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schemas.openxmlformats.org/officeDocument/2006/relationships/slide" Target="slides/slide16.xml"/><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10-01T18:10:02.713">
    <p:pos x="136" y="2588"/>
    <p:text>Los plots fueron generados con la asistencia de BioRender...</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1" dt="2026-03-09T20:27:41.679">
    <p:pos x="441" y="316"/>
    <p:text>cambiar de color...</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2" dt="2026-03-20T16:29:37.389">
    <p:pos x="3019" y="1276"/>
    <p:text>agrandar texto</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3" dt="2026-10-13T19:36:37.538">
    <p:pos x="714" y="96"/>
    <p:text>eliminar una de las leyendas de Base</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cdb3e813f6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cdb3e813f6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584734f4e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f584734f4e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df342a180f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df342a180f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df342a180f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df342a180f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95e832e9a1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95e832e9a1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95e832e9a1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95e832e9a1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95e832e9a1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95e832e9a1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9631daccb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9631daccb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9631daccbb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9631daccbb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h583038cfc21dcb3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h583038cfc21dcb3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9631daccbb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9631daccbb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f584734f4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f584734f4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h2f3664efa2367f3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h2f3664efa2367f3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f565a8e47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f565a8e47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f584734f4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f584734f4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comments" Target="../comments/comment1.xml"/><Relationship Id="rId4" Type="http://schemas.openxmlformats.org/officeDocument/2006/relationships/image" Target="../media/image13.png"/><Relationship Id="rId5" Type="http://schemas.openxmlformats.org/officeDocument/2006/relationships/image" Target="../media/image5.png"/><Relationship Id="rId6" Type="http://schemas.openxmlformats.org/officeDocument/2006/relationships/image" Target="../media/image1.png"/><Relationship Id="rId7" Type="http://schemas.openxmlformats.org/officeDocument/2006/relationships/image" Target="../media/image8.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8.jpg"/><Relationship Id="rId4" Type="http://schemas.openxmlformats.org/officeDocument/2006/relationships/image" Target="../media/image17.jpg"/><Relationship Id="rId5"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comments" Target="../comments/comment2.xml"/><Relationship Id="rId4" Type="http://schemas.openxmlformats.org/officeDocument/2006/relationships/image" Target="../media/image19.jpg"/><Relationship Id="rId5" Type="http://schemas.openxmlformats.org/officeDocument/2006/relationships/image" Target="../media/image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comments" Target="../comments/comment3.xml"/><Relationship Id="rId4" Type="http://schemas.openxmlformats.org/officeDocument/2006/relationships/image" Target="../media/image23.jpg"/><Relationship Id="rId5"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comments" Target="../comments/comment4.xml"/><Relationship Id="rId4" Type="http://schemas.openxmlformats.org/officeDocument/2006/relationships/image" Target="../media/image2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1.jpg"/><Relationship Id="rId4" Type="http://schemas.openxmlformats.org/officeDocument/2006/relationships/image" Target="../media/image2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0.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4.png"/><Relationship Id="rId4" Type="http://schemas.openxmlformats.org/officeDocument/2006/relationships/image" Target="../media/image12.png"/><Relationship Id="rId5"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title="b0ed0c90-99a1-4f6a-8e12-c30cd3a3dcdd.png"/>
          <p:cNvPicPr preferRelativeResize="0"/>
          <p:nvPr/>
        </p:nvPicPr>
        <p:blipFill>
          <a:blip r:embed="rId4">
            <a:alphaModFix/>
          </a:blip>
          <a:stretch>
            <a:fillRect/>
          </a:stretch>
        </p:blipFill>
        <p:spPr>
          <a:xfrm>
            <a:off x="0" y="0"/>
            <a:ext cx="8839200" cy="4165600"/>
          </a:xfrm>
          <a:prstGeom prst="rect">
            <a:avLst/>
          </a:prstGeom>
          <a:noFill/>
          <a:ln>
            <a:noFill/>
          </a:ln>
        </p:spPr>
      </p:pic>
      <p:sp>
        <p:nvSpPr>
          <p:cNvPr id="55" name="Google Shape;55;p13"/>
          <p:cNvSpPr txBox="1"/>
          <p:nvPr/>
        </p:nvSpPr>
        <p:spPr>
          <a:xfrm>
            <a:off x="5953855" y="1020000"/>
            <a:ext cx="330600" cy="184800"/>
          </a:xfrm>
          <a:prstGeom prst="rect">
            <a:avLst/>
          </a:prstGeom>
          <a:solidFill>
            <a:schemeClr val="lt1"/>
          </a:solidFill>
          <a:ln>
            <a:noFill/>
          </a:ln>
        </p:spPr>
        <p:txBody>
          <a:bodyPr anchorCtr="0" anchor="t" bIns="0" lIns="0" spcFirstLastPara="1" rIns="0" wrap="square" tIns="0">
            <a:spAutoFit/>
          </a:bodyPr>
          <a:lstStyle/>
          <a:p>
            <a:pPr indent="0" lvl="0" marL="0" rtl="0" algn="l">
              <a:spcBef>
                <a:spcPts val="0"/>
              </a:spcBef>
              <a:spcAft>
                <a:spcPts val="0"/>
              </a:spcAft>
              <a:buNone/>
            </a:pPr>
            <a:r>
              <a:rPr lang="es-419" sz="600">
                <a:solidFill>
                  <a:schemeClr val="dk2"/>
                </a:solidFill>
                <a:highlight>
                  <a:schemeClr val="lt1"/>
                </a:highlight>
              </a:rPr>
              <a:t>Fracción</a:t>
            </a:r>
            <a:endParaRPr sz="600">
              <a:solidFill>
                <a:schemeClr val="dk2"/>
              </a:solidFill>
              <a:highlight>
                <a:schemeClr val="lt1"/>
              </a:highlight>
            </a:endParaRPr>
          </a:p>
          <a:p>
            <a:pPr indent="0" lvl="0" marL="0" rtl="0" algn="l">
              <a:spcBef>
                <a:spcPts val="0"/>
              </a:spcBef>
              <a:spcAft>
                <a:spcPts val="0"/>
              </a:spcAft>
              <a:buNone/>
            </a:pPr>
            <a:r>
              <a:rPr lang="es-419" sz="600">
                <a:solidFill>
                  <a:schemeClr val="dk2"/>
                </a:solidFill>
                <a:highlight>
                  <a:schemeClr val="lt1"/>
                </a:highlight>
              </a:rPr>
              <a:t>celular</a:t>
            </a:r>
            <a:endParaRPr sz="600">
              <a:solidFill>
                <a:schemeClr val="dk2"/>
              </a:solidFill>
              <a:highlight>
                <a:schemeClr val="lt1"/>
              </a:highlight>
            </a:endParaRPr>
          </a:p>
        </p:txBody>
      </p:sp>
      <p:sp>
        <p:nvSpPr>
          <p:cNvPr id="56" name="Google Shape;56;p13"/>
          <p:cNvSpPr txBox="1"/>
          <p:nvPr/>
        </p:nvSpPr>
        <p:spPr>
          <a:xfrm>
            <a:off x="7483289" y="3757775"/>
            <a:ext cx="635400" cy="92400"/>
          </a:xfrm>
          <a:prstGeom prst="rect">
            <a:avLst/>
          </a:prstGeom>
          <a:solidFill>
            <a:schemeClr val="lt1"/>
          </a:solidFill>
          <a:ln>
            <a:noFill/>
          </a:ln>
        </p:spPr>
        <p:txBody>
          <a:bodyPr anchorCtr="0" anchor="t" bIns="0" lIns="0" spcFirstLastPara="1" rIns="0" wrap="square" tIns="0">
            <a:spAutoFit/>
          </a:bodyPr>
          <a:lstStyle/>
          <a:p>
            <a:pPr indent="0" lvl="0" marL="0" rtl="0" algn="l">
              <a:spcBef>
                <a:spcPts val="0"/>
              </a:spcBef>
              <a:spcAft>
                <a:spcPts val="0"/>
              </a:spcAft>
              <a:buNone/>
            </a:pPr>
            <a:r>
              <a:rPr b="1" lang="es-419" sz="600">
                <a:solidFill>
                  <a:schemeClr val="dk2"/>
                </a:solidFill>
                <a:highlight>
                  <a:schemeClr val="lt1"/>
                </a:highlight>
              </a:rPr>
              <a:t>Fracción celular</a:t>
            </a:r>
            <a:endParaRPr b="1" sz="600">
              <a:solidFill>
                <a:schemeClr val="dk2"/>
              </a:solidFill>
              <a:highlight>
                <a:schemeClr val="lt1"/>
              </a:highlight>
            </a:endParaRPr>
          </a:p>
        </p:txBody>
      </p:sp>
      <p:sp>
        <p:nvSpPr>
          <p:cNvPr id="57" name="Google Shape;57;p13"/>
          <p:cNvSpPr txBox="1"/>
          <p:nvPr/>
        </p:nvSpPr>
        <p:spPr>
          <a:xfrm>
            <a:off x="216950" y="4109200"/>
            <a:ext cx="83814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100">
                <a:solidFill>
                  <a:schemeClr val="dk1"/>
                </a:solidFill>
              </a:rPr>
              <a:t>Fig. M1. Esquema general del pipeline experimental.</a:t>
            </a:r>
            <a:r>
              <a:rPr lang="es-419" sz="1100">
                <a:solidFill>
                  <a:schemeClr val="dk1"/>
                </a:solidFill>
              </a:rPr>
              <a:t> La </a:t>
            </a:r>
            <a:r>
              <a:rPr i="1" lang="es-419" sz="1100">
                <a:solidFill>
                  <a:schemeClr val="dk1"/>
                </a:solidFill>
              </a:rPr>
              <a:t>library</a:t>
            </a:r>
            <a:r>
              <a:rPr lang="es-419" sz="1100">
                <a:solidFill>
                  <a:schemeClr val="dk1"/>
                </a:solidFill>
              </a:rPr>
              <a:t> de promotores se clonó río arriba de EGFP y se integró en células HEK293T mediante RMCE. Las células se separaron por citometría en siete fracciones según fluorescencia, y la abundancia de cada promotor en cada fracción se cuantificó por Amplicon-seq, permitiendo reconstruir su distribución de expresión y estimar media y ruido </a:t>
            </a:r>
            <a:r>
              <a:rPr lang="es-419" sz="1100">
                <a:solidFill>
                  <a:schemeClr val="dk1"/>
                </a:solidFill>
              </a:rPr>
              <a:t>transcripcional</a:t>
            </a:r>
            <a:r>
              <a:rPr lang="es-419" sz="1100">
                <a:solidFill>
                  <a:schemeClr val="dk1"/>
                </a:solidFill>
              </a:rPr>
              <a:t>. </a:t>
            </a:r>
            <a:endParaRPr sz="1800">
              <a:solidFill>
                <a:schemeClr val="dk2"/>
              </a:solidFill>
            </a:endParaRPr>
          </a:p>
        </p:txBody>
      </p:sp>
      <p:sp>
        <p:nvSpPr>
          <p:cNvPr id="58" name="Google Shape;58;p13"/>
          <p:cNvSpPr/>
          <p:nvPr/>
        </p:nvSpPr>
        <p:spPr>
          <a:xfrm>
            <a:off x="4120311" y="2213979"/>
            <a:ext cx="232200" cy="519900"/>
          </a:xfrm>
          <a:prstGeom prst="rect">
            <a:avLst/>
          </a:prstGeom>
          <a:solidFill>
            <a:schemeClr val="lt1"/>
          </a:solidFill>
          <a:ln cap="flat" cmpd="sng" w="4675">
            <a:solidFill>
              <a:schemeClr val="lt1"/>
            </a:solidFill>
            <a:prstDash val="solid"/>
            <a:round/>
            <a:headEnd len="sm" w="sm" type="none"/>
            <a:tailEnd len="sm" w="sm" type="none"/>
          </a:ln>
        </p:spPr>
        <p:txBody>
          <a:bodyPr anchorCtr="0" anchor="ctr" bIns="45050" lIns="45050" spcFirstLastPara="1" rIns="45050" wrap="square" tIns="45050">
            <a:noAutofit/>
          </a:bodyPr>
          <a:lstStyle/>
          <a:p>
            <a:pPr indent="0" lvl="0" marL="0" rtl="0" algn="ctr">
              <a:spcBef>
                <a:spcPts val="0"/>
              </a:spcBef>
              <a:spcAft>
                <a:spcPts val="0"/>
              </a:spcAft>
              <a:buNone/>
            </a:pPr>
            <a:r>
              <a:t/>
            </a:r>
            <a:endParaRPr sz="690">
              <a:solidFill>
                <a:srgbClr val="FFFFFF"/>
              </a:solidFill>
              <a:highlight>
                <a:schemeClr val="lt1"/>
              </a:highlight>
            </a:endParaRPr>
          </a:p>
        </p:txBody>
      </p:sp>
      <p:sp>
        <p:nvSpPr>
          <p:cNvPr id="59" name="Google Shape;59;p13"/>
          <p:cNvSpPr/>
          <p:nvPr/>
        </p:nvSpPr>
        <p:spPr>
          <a:xfrm>
            <a:off x="3891800" y="988725"/>
            <a:ext cx="2355000" cy="12252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60" name="Google Shape;60;p13"/>
          <p:cNvGrpSpPr/>
          <p:nvPr/>
        </p:nvGrpSpPr>
        <p:grpSpPr>
          <a:xfrm>
            <a:off x="4295011" y="932225"/>
            <a:ext cx="1732451" cy="1303650"/>
            <a:chOff x="3690303" y="1648551"/>
            <a:chExt cx="3784297" cy="2847019"/>
          </a:xfrm>
        </p:grpSpPr>
        <p:pic>
          <p:nvPicPr>
            <p:cNvPr id="61" name="Google Shape;61;p13"/>
            <p:cNvPicPr preferRelativeResize="0"/>
            <p:nvPr/>
          </p:nvPicPr>
          <p:blipFill rotWithShape="1">
            <a:blip r:embed="rId5">
              <a:alphaModFix/>
            </a:blip>
            <a:srcRect b="10385" l="7083" r="36614" t="1001"/>
            <a:stretch/>
          </p:blipFill>
          <p:spPr>
            <a:xfrm>
              <a:off x="3690303" y="1648551"/>
              <a:ext cx="3022881" cy="2847019"/>
            </a:xfrm>
            <a:prstGeom prst="rect">
              <a:avLst/>
            </a:prstGeom>
            <a:noFill/>
            <a:ln>
              <a:noFill/>
            </a:ln>
          </p:spPr>
        </p:pic>
        <p:pic>
          <p:nvPicPr>
            <p:cNvPr id="62" name="Google Shape;62;p13"/>
            <p:cNvPicPr preferRelativeResize="0"/>
            <p:nvPr/>
          </p:nvPicPr>
          <p:blipFill rotWithShape="1">
            <a:blip r:embed="rId5">
              <a:alphaModFix/>
            </a:blip>
            <a:srcRect b="10385" l="75216" r="9076" t="1001"/>
            <a:stretch/>
          </p:blipFill>
          <p:spPr>
            <a:xfrm>
              <a:off x="6631219" y="1648552"/>
              <a:ext cx="843381" cy="2847019"/>
            </a:xfrm>
            <a:prstGeom prst="rect">
              <a:avLst/>
            </a:prstGeom>
            <a:noFill/>
            <a:ln>
              <a:noFill/>
            </a:ln>
          </p:spPr>
        </p:pic>
      </p:grpSp>
      <p:pic>
        <p:nvPicPr>
          <p:cNvPr id="63" name="Google Shape;63;p13"/>
          <p:cNvPicPr preferRelativeResize="0"/>
          <p:nvPr/>
        </p:nvPicPr>
        <p:blipFill rotWithShape="1">
          <a:blip r:embed="rId5">
            <a:alphaModFix/>
          </a:blip>
          <a:srcRect b="38424" l="615" r="95941" t="30972"/>
          <a:stretch/>
        </p:blipFill>
        <p:spPr>
          <a:xfrm>
            <a:off x="4189324" y="1298175"/>
            <a:ext cx="97725" cy="519900"/>
          </a:xfrm>
          <a:prstGeom prst="rect">
            <a:avLst/>
          </a:prstGeom>
          <a:noFill/>
          <a:ln>
            <a:noFill/>
          </a:ln>
        </p:spPr>
      </p:pic>
      <p:pic>
        <p:nvPicPr>
          <p:cNvPr id="64" name="Google Shape;64;p13"/>
          <p:cNvPicPr preferRelativeResize="0"/>
          <p:nvPr/>
        </p:nvPicPr>
        <p:blipFill rotWithShape="1">
          <a:blip r:embed="rId5">
            <a:alphaModFix/>
          </a:blip>
          <a:srcRect b="29266" l="77745" r="9667" t="25114"/>
          <a:stretch/>
        </p:blipFill>
        <p:spPr>
          <a:xfrm>
            <a:off x="5697425" y="1173025"/>
            <a:ext cx="397401" cy="861900"/>
          </a:xfrm>
          <a:prstGeom prst="rect">
            <a:avLst/>
          </a:prstGeom>
          <a:noFill/>
          <a:ln>
            <a:noFill/>
          </a:ln>
        </p:spPr>
      </p:pic>
      <p:pic>
        <p:nvPicPr>
          <p:cNvPr id="65" name="Google Shape;65;p13"/>
          <p:cNvPicPr preferRelativeResize="0"/>
          <p:nvPr/>
        </p:nvPicPr>
        <p:blipFill rotWithShape="1">
          <a:blip r:embed="rId6">
            <a:alphaModFix/>
          </a:blip>
          <a:srcRect b="0" l="367" r="81635" t="0"/>
          <a:stretch/>
        </p:blipFill>
        <p:spPr>
          <a:xfrm>
            <a:off x="4160115" y="2620875"/>
            <a:ext cx="286475" cy="902375"/>
          </a:xfrm>
          <a:prstGeom prst="rect">
            <a:avLst/>
          </a:prstGeom>
          <a:noFill/>
          <a:ln>
            <a:noFill/>
          </a:ln>
        </p:spPr>
      </p:pic>
      <p:sp>
        <p:nvSpPr>
          <p:cNvPr id="66" name="Google Shape;66;p13"/>
          <p:cNvSpPr/>
          <p:nvPr/>
        </p:nvSpPr>
        <p:spPr>
          <a:xfrm>
            <a:off x="5863600" y="1445687"/>
            <a:ext cx="330600" cy="479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descr="podes hacer que los colores de los circulos sean en esta escala, en orden:  &quot;#97e196&quot; &quot;#6cc08b&quot; &quot;#4c9b82&quot; &quot;#217a79&quot; &quot;#105965&quot; &quot;#074050&quot;" id="67" name="Google Shape;67;p13"/>
          <p:cNvPicPr preferRelativeResize="0"/>
          <p:nvPr/>
        </p:nvPicPr>
        <p:blipFill>
          <a:blip r:embed="rId7">
            <a:alphaModFix/>
          </a:blip>
          <a:stretch>
            <a:fillRect/>
          </a:stretch>
        </p:blipFill>
        <p:spPr>
          <a:xfrm>
            <a:off x="4441098" y="2624331"/>
            <a:ext cx="1593144" cy="902375"/>
          </a:xfrm>
          <a:prstGeom prst="rect">
            <a:avLst/>
          </a:prstGeom>
          <a:noFill/>
          <a:ln>
            <a:noFill/>
          </a:ln>
        </p:spPr>
      </p:pic>
      <p:cxnSp>
        <p:nvCxnSpPr>
          <p:cNvPr id="68" name="Google Shape;68;p13"/>
          <p:cNvCxnSpPr/>
          <p:nvPr/>
        </p:nvCxnSpPr>
        <p:spPr>
          <a:xfrm>
            <a:off x="4370975" y="2685700"/>
            <a:ext cx="724500" cy="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pic>
        <p:nvPicPr>
          <p:cNvPr id="73" name="Google Shape;73;p14" title="CMV-STRONG_0002_zoverlay.jpg"/>
          <p:cNvPicPr preferRelativeResize="0"/>
          <p:nvPr/>
        </p:nvPicPr>
        <p:blipFill>
          <a:blip r:embed="rId3">
            <a:alphaModFix/>
          </a:blip>
          <a:stretch>
            <a:fillRect/>
          </a:stretch>
        </p:blipFill>
        <p:spPr>
          <a:xfrm>
            <a:off x="4314775" y="2316364"/>
            <a:ext cx="2016824" cy="1686924"/>
          </a:xfrm>
          <a:prstGeom prst="rect">
            <a:avLst/>
          </a:prstGeom>
          <a:noFill/>
          <a:ln>
            <a:noFill/>
          </a:ln>
        </p:spPr>
      </p:pic>
      <p:pic>
        <p:nvPicPr>
          <p:cNvPr id="74" name="Google Shape;74;p14" title="CMV-wt_0001_zoverlay.jpg"/>
          <p:cNvPicPr preferRelativeResize="0"/>
          <p:nvPr/>
        </p:nvPicPr>
        <p:blipFill>
          <a:blip r:embed="rId4">
            <a:alphaModFix/>
          </a:blip>
          <a:stretch>
            <a:fillRect/>
          </a:stretch>
        </p:blipFill>
        <p:spPr>
          <a:xfrm>
            <a:off x="4314775" y="585506"/>
            <a:ext cx="2016824" cy="1686932"/>
          </a:xfrm>
          <a:prstGeom prst="rect">
            <a:avLst/>
          </a:prstGeom>
          <a:noFill/>
          <a:ln>
            <a:noFill/>
          </a:ln>
        </p:spPr>
      </p:pic>
      <p:pic>
        <p:nvPicPr>
          <p:cNvPr id="75" name="Google Shape;75;p14" title="Screenshot 2026-03-06 174954.png"/>
          <p:cNvPicPr preferRelativeResize="0"/>
          <p:nvPr/>
        </p:nvPicPr>
        <p:blipFill>
          <a:blip r:embed="rId5">
            <a:alphaModFix/>
          </a:blip>
          <a:stretch>
            <a:fillRect/>
          </a:stretch>
        </p:blipFill>
        <p:spPr>
          <a:xfrm>
            <a:off x="495375" y="546977"/>
            <a:ext cx="3772275" cy="3485200"/>
          </a:xfrm>
          <a:prstGeom prst="rect">
            <a:avLst/>
          </a:prstGeom>
          <a:noFill/>
          <a:ln>
            <a:noFill/>
          </a:ln>
        </p:spPr>
      </p:pic>
      <p:sp>
        <p:nvSpPr>
          <p:cNvPr id="76" name="Google Shape;76;p14"/>
          <p:cNvSpPr txBox="1"/>
          <p:nvPr/>
        </p:nvSpPr>
        <p:spPr>
          <a:xfrm>
            <a:off x="487125" y="530471"/>
            <a:ext cx="351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800">
                <a:solidFill>
                  <a:schemeClr val="dk2"/>
                </a:solidFill>
              </a:rPr>
              <a:t>A</a:t>
            </a:r>
            <a:endParaRPr sz="1800">
              <a:solidFill>
                <a:schemeClr val="dk2"/>
              </a:solidFill>
            </a:endParaRPr>
          </a:p>
        </p:txBody>
      </p:sp>
      <p:sp>
        <p:nvSpPr>
          <p:cNvPr id="77" name="Google Shape;77;p14"/>
          <p:cNvSpPr txBox="1"/>
          <p:nvPr/>
        </p:nvSpPr>
        <p:spPr>
          <a:xfrm>
            <a:off x="3838893" y="528063"/>
            <a:ext cx="351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800">
                <a:solidFill>
                  <a:schemeClr val="dk2"/>
                </a:solidFill>
              </a:rPr>
              <a:t>B</a:t>
            </a:r>
            <a:endParaRPr sz="1800">
              <a:solidFill>
                <a:schemeClr val="dk2"/>
              </a:solidFill>
            </a:endParaRPr>
          </a:p>
        </p:txBody>
      </p:sp>
      <p:cxnSp>
        <p:nvCxnSpPr>
          <p:cNvPr id="78" name="Google Shape;78;p14"/>
          <p:cNvCxnSpPr/>
          <p:nvPr/>
        </p:nvCxnSpPr>
        <p:spPr>
          <a:xfrm>
            <a:off x="3707150" y="2470750"/>
            <a:ext cx="371400" cy="62100"/>
          </a:xfrm>
          <a:prstGeom prst="straightConnector1">
            <a:avLst/>
          </a:prstGeom>
          <a:noFill/>
          <a:ln cap="flat" cmpd="sng" w="9525">
            <a:solidFill>
              <a:schemeClr val="dk2"/>
            </a:solidFill>
            <a:prstDash val="solid"/>
            <a:round/>
            <a:headEnd len="med" w="med" type="none"/>
            <a:tailEnd len="med" w="med" type="none"/>
          </a:ln>
        </p:spPr>
      </p:cxnSp>
      <p:sp>
        <p:nvSpPr>
          <p:cNvPr id="79" name="Google Shape;79;p14"/>
          <p:cNvSpPr txBox="1"/>
          <p:nvPr/>
        </p:nvSpPr>
        <p:spPr>
          <a:xfrm>
            <a:off x="223475" y="4280475"/>
            <a:ext cx="8920500" cy="95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000">
                <a:solidFill>
                  <a:schemeClr val="dk2"/>
                </a:solidFill>
              </a:rPr>
              <a:t>Diseño y construcción del vector reportero.</a:t>
            </a:r>
            <a:r>
              <a:rPr lang="es-419" sz="1000">
                <a:solidFill>
                  <a:schemeClr val="dk2"/>
                </a:solidFill>
              </a:rPr>
              <a:t> </a:t>
            </a:r>
            <a:endParaRPr sz="1000">
              <a:solidFill>
                <a:schemeClr val="dk2"/>
              </a:solidFill>
            </a:endParaRPr>
          </a:p>
          <a:p>
            <a:pPr indent="0" lvl="0" marL="0" rtl="0" algn="l">
              <a:spcBef>
                <a:spcPts val="0"/>
              </a:spcBef>
              <a:spcAft>
                <a:spcPts val="0"/>
              </a:spcAft>
              <a:buNone/>
            </a:pPr>
            <a:r>
              <a:rPr lang="es-419" sz="1000">
                <a:solidFill>
                  <a:schemeClr val="dk2"/>
                </a:solidFill>
              </a:rPr>
              <a:t>A- Esquema del plásmido </a:t>
            </a:r>
            <a:r>
              <a:rPr i="1" lang="es-419" sz="1000">
                <a:solidFill>
                  <a:schemeClr val="dk2"/>
                </a:solidFill>
              </a:rPr>
              <a:t>backbone</a:t>
            </a:r>
            <a:r>
              <a:rPr lang="es-419" sz="1000">
                <a:solidFill>
                  <a:schemeClr val="dk2"/>
                </a:solidFill>
              </a:rPr>
              <a:t> utilizado. El sitio ocupado por el promotor CMV es aquel donde se clonó la librería. AmpR=Gen de resistencia a ampicilina. PuroR= Gen de resistencia a puromicina. HSV TK=Gen de la timidina quinasa del virus del herpes simple/ganciclovir. </a:t>
            </a:r>
            <a:endParaRPr sz="1000">
              <a:solidFill>
                <a:schemeClr val="dk2"/>
              </a:solidFill>
            </a:endParaRPr>
          </a:p>
          <a:p>
            <a:pPr indent="0" lvl="0" marL="0" rtl="0" algn="l">
              <a:spcBef>
                <a:spcPts val="0"/>
              </a:spcBef>
              <a:spcAft>
                <a:spcPts val="0"/>
              </a:spcAft>
              <a:buNone/>
            </a:pPr>
            <a:r>
              <a:rPr lang="es-419" sz="1000">
                <a:solidFill>
                  <a:schemeClr val="dk2"/>
                </a:solidFill>
              </a:rPr>
              <a:t>B- Imagen de microscopía de fluorescencia, de líneas HEK293TA2 estables con la versión original del plásmido backbone (superior) o la versión con el sitio de splicing 3´ mutado (inferior) que fue utilizado en los ensayos de esta tesis.</a:t>
            </a:r>
            <a:endParaRPr sz="10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5" title="PCR_GA_all_prom_cloning_control.png"/>
          <p:cNvPicPr preferRelativeResize="0"/>
          <p:nvPr/>
        </p:nvPicPr>
        <p:blipFill rotWithShape="1">
          <a:blip r:embed="rId3">
            <a:alphaModFix/>
          </a:blip>
          <a:srcRect b="0" l="81723" r="0" t="15846"/>
          <a:stretch/>
        </p:blipFill>
        <p:spPr>
          <a:xfrm>
            <a:off x="1540237" y="670638"/>
            <a:ext cx="457324" cy="1901124"/>
          </a:xfrm>
          <a:prstGeom prst="rect">
            <a:avLst/>
          </a:prstGeom>
          <a:noFill/>
          <a:ln>
            <a:noFill/>
          </a:ln>
        </p:spPr>
      </p:pic>
      <p:pic>
        <p:nvPicPr>
          <p:cNvPr id="85" name="Google Shape;85;p15" title="PCR_GA_all_prom_cloning_control.png"/>
          <p:cNvPicPr preferRelativeResize="0"/>
          <p:nvPr/>
        </p:nvPicPr>
        <p:blipFill rotWithShape="1">
          <a:blip r:embed="rId3">
            <a:alphaModFix/>
          </a:blip>
          <a:srcRect b="0" l="0" r="84270" t="15846"/>
          <a:stretch/>
        </p:blipFill>
        <p:spPr>
          <a:xfrm>
            <a:off x="775106" y="670650"/>
            <a:ext cx="393601" cy="1901100"/>
          </a:xfrm>
          <a:prstGeom prst="rect">
            <a:avLst/>
          </a:prstGeom>
          <a:noFill/>
          <a:ln>
            <a:noFill/>
          </a:ln>
        </p:spPr>
      </p:pic>
      <p:pic>
        <p:nvPicPr>
          <p:cNvPr id="86" name="Google Shape;86;p15" title="PCR_GA_all_prom_cloning_control.png"/>
          <p:cNvPicPr preferRelativeResize="0"/>
          <p:nvPr/>
        </p:nvPicPr>
        <p:blipFill rotWithShape="1">
          <a:blip r:embed="rId3">
            <a:alphaModFix/>
          </a:blip>
          <a:srcRect b="0" l="41399" r="44577" t="15846"/>
          <a:stretch/>
        </p:blipFill>
        <p:spPr>
          <a:xfrm>
            <a:off x="1179021" y="670638"/>
            <a:ext cx="350900" cy="1901124"/>
          </a:xfrm>
          <a:prstGeom prst="rect">
            <a:avLst/>
          </a:prstGeom>
          <a:noFill/>
          <a:ln>
            <a:noFill/>
          </a:ln>
        </p:spPr>
      </p:pic>
      <p:sp>
        <p:nvSpPr>
          <p:cNvPr id="87" name="Google Shape;87;p15"/>
          <p:cNvSpPr txBox="1"/>
          <p:nvPr/>
        </p:nvSpPr>
        <p:spPr>
          <a:xfrm>
            <a:off x="724920" y="429722"/>
            <a:ext cx="5559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100">
                <a:solidFill>
                  <a:schemeClr val="dk2"/>
                </a:solidFill>
              </a:rPr>
              <a:t>CMV</a:t>
            </a:r>
            <a:endParaRPr sz="1100">
              <a:solidFill>
                <a:schemeClr val="dk2"/>
              </a:solidFill>
            </a:endParaRPr>
          </a:p>
        </p:txBody>
      </p:sp>
      <p:sp>
        <p:nvSpPr>
          <p:cNvPr id="88" name="Google Shape;88;p15"/>
          <p:cNvSpPr txBox="1"/>
          <p:nvPr/>
        </p:nvSpPr>
        <p:spPr>
          <a:xfrm>
            <a:off x="1166295" y="427314"/>
            <a:ext cx="5559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100">
                <a:solidFill>
                  <a:schemeClr val="dk2"/>
                </a:solidFill>
              </a:rPr>
              <a:t>Lib</a:t>
            </a:r>
            <a:endParaRPr sz="1100">
              <a:solidFill>
                <a:schemeClr val="dk2"/>
              </a:solidFill>
            </a:endParaRPr>
          </a:p>
        </p:txBody>
      </p:sp>
      <p:sp>
        <p:nvSpPr>
          <p:cNvPr id="89" name="Google Shape;89;p15"/>
          <p:cNvSpPr txBox="1"/>
          <p:nvPr/>
        </p:nvSpPr>
        <p:spPr>
          <a:xfrm>
            <a:off x="1463181" y="424900"/>
            <a:ext cx="6861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100">
                <a:solidFill>
                  <a:schemeClr val="dk2"/>
                </a:solidFill>
              </a:rPr>
              <a:t>Ladder</a:t>
            </a:r>
            <a:endParaRPr sz="1100">
              <a:solidFill>
                <a:schemeClr val="dk2"/>
              </a:solidFill>
            </a:endParaRPr>
          </a:p>
        </p:txBody>
      </p:sp>
      <p:sp>
        <p:nvSpPr>
          <p:cNvPr id="90" name="Google Shape;90;p15"/>
          <p:cNvSpPr txBox="1"/>
          <p:nvPr/>
        </p:nvSpPr>
        <p:spPr>
          <a:xfrm>
            <a:off x="724925" y="2676825"/>
            <a:ext cx="30000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000">
                <a:solidFill>
                  <a:schemeClr val="dk2"/>
                </a:solidFill>
              </a:rPr>
              <a:t>Control de incorporación de librería al plásmido</a:t>
            </a:r>
            <a:endParaRPr b="1" sz="1000">
              <a:solidFill>
                <a:schemeClr val="dk2"/>
              </a:solidFill>
            </a:endParaRPr>
          </a:p>
          <a:p>
            <a:pPr indent="0" lvl="0" marL="0" rtl="0" algn="l">
              <a:spcBef>
                <a:spcPts val="0"/>
              </a:spcBef>
              <a:spcAft>
                <a:spcPts val="0"/>
              </a:spcAft>
              <a:buNone/>
            </a:pPr>
            <a:r>
              <a:rPr lang="es-419" sz="1000">
                <a:solidFill>
                  <a:schemeClr val="dk2"/>
                </a:solidFill>
              </a:rPr>
              <a:t>PCR de punto final para visualizar la correcta incorporación de la librería (~300pb) en el plásmido backbone y la ausencia del original promotor CMV. (~700pb)  </a:t>
            </a:r>
            <a:endParaRPr sz="10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potencia</a:t>
            </a:r>
            <a:endParaRPr/>
          </a:p>
        </p:txBody>
      </p:sp>
      <p:sp>
        <p:nvSpPr>
          <p:cNvPr id="96" name="Google Shape;96;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pic>
        <p:nvPicPr>
          <p:cNvPr id="101" name="Google Shape;101;p17"/>
          <p:cNvPicPr preferRelativeResize="0"/>
          <p:nvPr/>
        </p:nvPicPr>
        <p:blipFill rotWithShape="1">
          <a:blip r:embed="rId3">
            <a:alphaModFix/>
          </a:blip>
          <a:srcRect b="0" l="498" r="0" t="0"/>
          <a:stretch/>
        </p:blipFill>
        <p:spPr>
          <a:xfrm>
            <a:off x="0" y="1322525"/>
            <a:ext cx="3775501" cy="3820975"/>
          </a:xfrm>
          <a:prstGeom prst="rect">
            <a:avLst/>
          </a:prstGeom>
          <a:noFill/>
          <a:ln>
            <a:noFill/>
          </a:ln>
        </p:spPr>
      </p:pic>
      <p:pic>
        <p:nvPicPr>
          <p:cNvPr id="102" name="Google Shape;102;p17"/>
          <p:cNvPicPr preferRelativeResize="0"/>
          <p:nvPr/>
        </p:nvPicPr>
        <p:blipFill rotWithShape="1">
          <a:blip r:embed="rId4">
            <a:alphaModFix/>
          </a:blip>
          <a:srcRect b="0" l="616" r="0" t="1000"/>
          <a:stretch/>
        </p:blipFill>
        <p:spPr>
          <a:xfrm>
            <a:off x="3775500" y="1354788"/>
            <a:ext cx="6302301" cy="3756450"/>
          </a:xfrm>
          <a:prstGeom prst="rect">
            <a:avLst/>
          </a:prstGeom>
          <a:noFill/>
          <a:ln>
            <a:noFill/>
          </a:ln>
        </p:spPr>
      </p:pic>
      <p:sp>
        <p:nvSpPr>
          <p:cNvPr id="103" name="Google Shape;103;p17"/>
          <p:cNvSpPr txBox="1"/>
          <p:nvPr/>
        </p:nvSpPr>
        <p:spPr>
          <a:xfrm>
            <a:off x="0" y="0"/>
            <a:ext cx="9144000" cy="103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100">
                <a:solidFill>
                  <a:schemeClr val="dk1"/>
                </a:solidFill>
              </a:rPr>
              <a:t>Figura M4. Estrategia de gating de la biblioteca de promotores según fluorescencia de EGFP.</a:t>
            </a:r>
            <a:r>
              <a:rPr lang="es-419" sz="1100">
                <a:solidFill>
                  <a:schemeClr val="dk1"/>
                </a:solidFill>
              </a:rPr>
              <a:t> Densidad de fluorescencia EGFP (log10) en células HEK293T-A2 transfectadas con la </a:t>
            </a:r>
            <a:r>
              <a:rPr i="1" lang="es-419" sz="1100">
                <a:solidFill>
                  <a:schemeClr val="dk1"/>
                </a:solidFill>
              </a:rPr>
              <a:t>library </a:t>
            </a:r>
            <a:r>
              <a:rPr lang="es-419" sz="1100">
                <a:solidFill>
                  <a:schemeClr val="dk1"/>
                </a:solidFill>
              </a:rPr>
              <a:t>de promotores. </a:t>
            </a:r>
            <a:r>
              <a:rPr b="1" lang="es-419" sz="1100">
                <a:solidFill>
                  <a:schemeClr val="dk1"/>
                </a:solidFill>
              </a:rPr>
              <a:t>(A)</a:t>
            </a:r>
            <a:r>
              <a:rPr lang="es-419" sz="1100">
                <a:solidFill>
                  <a:schemeClr val="dk1"/>
                </a:solidFill>
              </a:rPr>
              <a:t> Definición del umbral inferior: el límite inferior se fijó a partir del pico de fluorescencia del control negativo (no transfectado, línea punteada) y el de las </a:t>
            </a:r>
            <a:r>
              <a:rPr lang="es-419" sz="1100">
                <a:solidFill>
                  <a:schemeClr val="dk1"/>
                </a:solidFill>
              </a:rPr>
              <a:t>células</a:t>
            </a:r>
            <a:r>
              <a:rPr lang="es-419" sz="1100">
                <a:solidFill>
                  <a:schemeClr val="dk1"/>
                </a:solidFill>
              </a:rPr>
              <a:t> transfectadas. </a:t>
            </a:r>
            <a:r>
              <a:rPr b="1" lang="es-419" sz="1100">
                <a:solidFill>
                  <a:schemeClr val="dk1"/>
                </a:solidFill>
              </a:rPr>
              <a:t>(B)</a:t>
            </a:r>
            <a:r>
              <a:rPr lang="es-419" sz="1100">
                <a:solidFill>
                  <a:schemeClr val="dk1"/>
                </a:solidFill>
              </a:rPr>
              <a:t> Discretización final en una fracción de células no clasificadas y seis gates (0–6) de ancho constante en escala logarítmica, con el porcentaje de la población total correspondiente a cada uno. El gate 6 no posee límite superior y fue definido de antemano para recolectar las células del 1% de mayor fluorescencia. </a:t>
            </a:r>
            <a:endParaRPr/>
          </a:p>
        </p:txBody>
      </p:sp>
      <p:sp>
        <p:nvSpPr>
          <p:cNvPr id="104" name="Google Shape;104;p17"/>
          <p:cNvSpPr txBox="1"/>
          <p:nvPr/>
        </p:nvSpPr>
        <p:spPr>
          <a:xfrm>
            <a:off x="111620" y="1043356"/>
            <a:ext cx="351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800">
                <a:solidFill>
                  <a:schemeClr val="dk2"/>
                </a:solidFill>
              </a:rPr>
              <a:t>A</a:t>
            </a:r>
            <a:endParaRPr sz="1800">
              <a:solidFill>
                <a:schemeClr val="dk2"/>
              </a:solidFill>
            </a:endParaRPr>
          </a:p>
        </p:txBody>
      </p:sp>
      <p:sp>
        <p:nvSpPr>
          <p:cNvPr id="105" name="Google Shape;105;p17"/>
          <p:cNvSpPr txBox="1"/>
          <p:nvPr/>
        </p:nvSpPr>
        <p:spPr>
          <a:xfrm>
            <a:off x="3802259" y="1040948"/>
            <a:ext cx="351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800">
                <a:solidFill>
                  <a:schemeClr val="dk2"/>
                </a:solidFill>
              </a:rPr>
              <a:t>B</a:t>
            </a:r>
            <a:endParaRPr sz="18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8"/>
          <p:cNvSpPr txBox="1"/>
          <p:nvPr/>
        </p:nvSpPr>
        <p:spPr>
          <a:xfrm>
            <a:off x="156050" y="3394325"/>
            <a:ext cx="8166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000">
                <a:solidFill>
                  <a:schemeClr val="dk2"/>
                </a:solidFill>
              </a:rPr>
              <a:t>Control de ADNg sin el vector integrado en cada fracción celular.</a:t>
            </a:r>
            <a:r>
              <a:rPr lang="es-419" sz="1000">
                <a:solidFill>
                  <a:schemeClr val="dk2"/>
                </a:solidFill>
              </a:rPr>
              <a:t> PCR punto final sobre el ADNg de cada fracción de células (Fracciones 1 a 6) y un control negativo de celulas HEK293T-A2 no </a:t>
            </a:r>
            <a:r>
              <a:rPr lang="es-419" sz="1000">
                <a:solidFill>
                  <a:schemeClr val="dk2"/>
                </a:solidFill>
              </a:rPr>
              <a:t>transfectadas</a:t>
            </a:r>
            <a:r>
              <a:rPr lang="es-419" sz="1000">
                <a:solidFill>
                  <a:schemeClr val="dk2"/>
                </a:solidFill>
              </a:rPr>
              <a:t>, utilizando primers que aparean en los sitios Lox.  </a:t>
            </a:r>
            <a:endParaRPr sz="1000">
              <a:solidFill>
                <a:schemeClr val="dk2"/>
              </a:solidFill>
            </a:endParaRPr>
          </a:p>
        </p:txBody>
      </p:sp>
      <p:pic>
        <p:nvPicPr>
          <p:cNvPr id="111" name="Google Shape;111;p18" title="Texto.png"/>
          <p:cNvPicPr preferRelativeResize="0"/>
          <p:nvPr/>
        </p:nvPicPr>
        <p:blipFill>
          <a:blip r:embed="rId3">
            <a:alphaModFix/>
          </a:blip>
          <a:stretch>
            <a:fillRect/>
          </a:stretch>
        </p:blipFill>
        <p:spPr>
          <a:xfrm>
            <a:off x="156050" y="601175"/>
            <a:ext cx="8001000" cy="26098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processing pipeline</a:t>
            </a:r>
            <a:endParaRPr/>
          </a:p>
        </p:txBody>
      </p:sp>
      <p:pic>
        <p:nvPicPr>
          <p:cNvPr id="117" name="Google Shape;117;p19" title="pipeline_bioinformatico_inicio.png"/>
          <p:cNvPicPr preferRelativeResize="0"/>
          <p:nvPr/>
        </p:nvPicPr>
        <p:blipFill>
          <a:blip r:embed="rId3">
            <a:alphaModFix/>
          </a:blip>
          <a:stretch>
            <a:fillRect/>
          </a:stretch>
        </p:blipFill>
        <p:spPr>
          <a:xfrm>
            <a:off x="152400" y="1170125"/>
            <a:ext cx="4903107" cy="3820976"/>
          </a:xfrm>
          <a:prstGeom prst="rect">
            <a:avLst/>
          </a:prstGeom>
          <a:noFill/>
          <a:ln>
            <a:noFill/>
          </a:ln>
        </p:spPr>
      </p:pic>
      <p:pic>
        <p:nvPicPr>
          <p:cNvPr id="118" name="Google Shape;118;p19" title="pipeline_bioinformatico.png"/>
          <p:cNvPicPr preferRelativeResize="0"/>
          <p:nvPr/>
        </p:nvPicPr>
        <p:blipFill>
          <a:blip r:embed="rId4">
            <a:alphaModFix/>
          </a:blip>
          <a:stretch>
            <a:fillRect/>
          </a:stretch>
        </p:blipFill>
        <p:spPr>
          <a:xfrm>
            <a:off x="6542196" y="556250"/>
            <a:ext cx="1515776" cy="2228500"/>
          </a:xfrm>
          <a:prstGeom prst="rect">
            <a:avLst/>
          </a:prstGeom>
          <a:noFill/>
          <a:ln>
            <a:noFill/>
          </a:ln>
        </p:spPr>
      </p:pic>
      <p:sp>
        <p:nvSpPr>
          <p:cNvPr id="119" name="Google Shape;119;p19"/>
          <p:cNvSpPr txBox="1"/>
          <p:nvPr/>
        </p:nvSpPr>
        <p:spPr>
          <a:xfrm>
            <a:off x="6326575" y="96700"/>
            <a:ext cx="29931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800">
                <a:solidFill>
                  <a:schemeClr val="dk2"/>
                </a:solidFill>
              </a:rPr>
              <a:t>plan B: un pipeline con todo</a:t>
            </a:r>
            <a:endParaRPr sz="18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20" title="mean_var_bimodal_page-0001.jpg"/>
          <p:cNvPicPr preferRelativeResize="0"/>
          <p:nvPr/>
        </p:nvPicPr>
        <p:blipFill>
          <a:blip r:embed="rId4">
            <a:alphaModFix/>
          </a:blip>
          <a:stretch>
            <a:fillRect/>
          </a:stretch>
        </p:blipFill>
        <p:spPr>
          <a:xfrm>
            <a:off x="4113175" y="389125"/>
            <a:ext cx="4522798" cy="3392099"/>
          </a:xfrm>
          <a:prstGeom prst="rect">
            <a:avLst/>
          </a:prstGeom>
          <a:noFill/>
          <a:ln>
            <a:noFill/>
          </a:ln>
        </p:spPr>
      </p:pic>
      <p:pic>
        <p:nvPicPr>
          <p:cNvPr id="125" name="Google Shape;125;p20" title="sample_effort_page-0001.jpg"/>
          <p:cNvPicPr preferRelativeResize="0"/>
          <p:nvPr/>
        </p:nvPicPr>
        <p:blipFill>
          <a:blip r:embed="rId5">
            <a:alphaModFix/>
          </a:blip>
          <a:stretch>
            <a:fillRect/>
          </a:stretch>
        </p:blipFill>
        <p:spPr>
          <a:xfrm>
            <a:off x="701575" y="502452"/>
            <a:ext cx="3411599" cy="3435650"/>
          </a:xfrm>
          <a:prstGeom prst="rect">
            <a:avLst/>
          </a:prstGeom>
          <a:noFill/>
          <a:ln>
            <a:noFill/>
          </a:ln>
        </p:spPr>
      </p:pic>
      <p:sp>
        <p:nvSpPr>
          <p:cNvPr id="126" name="Google Shape;126;p20"/>
          <p:cNvSpPr txBox="1"/>
          <p:nvPr/>
        </p:nvSpPr>
        <p:spPr>
          <a:xfrm>
            <a:off x="237300" y="3941927"/>
            <a:ext cx="8906700" cy="1635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s-419" sz="1100">
                <a:solidFill>
                  <a:schemeClr val="dk1"/>
                </a:solidFill>
              </a:rPr>
              <a:t>Ajuste por sesgo de muestreo diferencial y criterios de exclusión de promotores bimodales. </a:t>
            </a:r>
            <a:endParaRPr b="1" sz="1100">
              <a:solidFill>
                <a:schemeClr val="dk1"/>
              </a:solidFill>
            </a:endParaRPr>
          </a:p>
          <a:p>
            <a:pPr indent="0" lvl="0" marL="0" rtl="0" algn="l">
              <a:lnSpc>
                <a:spcPct val="115000"/>
              </a:lnSpc>
              <a:spcBef>
                <a:spcPts val="1200"/>
              </a:spcBef>
              <a:spcAft>
                <a:spcPts val="0"/>
              </a:spcAft>
              <a:buNone/>
            </a:pPr>
            <a:r>
              <a:rPr b="1" lang="es-419" sz="1100">
                <a:solidFill>
                  <a:schemeClr val="dk1"/>
                </a:solidFill>
              </a:rPr>
              <a:t>A. </a:t>
            </a:r>
            <a:r>
              <a:rPr lang="es-419" sz="1100">
                <a:solidFill>
                  <a:schemeClr val="dk1"/>
                </a:solidFill>
              </a:rPr>
              <a:t>Gráfico de barras que muestra los factores de corrección dados por el esfuerzo de muestreo diferencial para cada </a:t>
            </a:r>
            <a:r>
              <a:rPr i="1" lang="es-419" sz="1100">
                <a:solidFill>
                  <a:schemeClr val="dk1"/>
                </a:solidFill>
              </a:rPr>
              <a:t>bin</a:t>
            </a:r>
            <a:r>
              <a:rPr lang="es-419" sz="1100">
                <a:solidFill>
                  <a:schemeClr val="dk1"/>
                </a:solidFill>
              </a:rPr>
              <a:t> de expresión de </a:t>
            </a:r>
            <a:r>
              <a:rPr i="1" lang="es-419" sz="1100">
                <a:solidFill>
                  <a:schemeClr val="dk1"/>
                </a:solidFill>
              </a:rPr>
              <a:t>EGFP</a:t>
            </a:r>
            <a:r>
              <a:rPr lang="es-419" sz="1100">
                <a:solidFill>
                  <a:schemeClr val="dk1"/>
                </a:solidFill>
              </a:rPr>
              <a:t>, los cuales son proporcionales a la abundancia celular relativa dentro de cada población. Este factor se utilizó para compensar las variaciones en el número de células entre los diferentes niveles de expresión.</a:t>
            </a:r>
            <a:endParaRPr sz="1100">
              <a:solidFill>
                <a:schemeClr val="dk1"/>
              </a:solidFill>
            </a:endParaRPr>
          </a:p>
          <a:p>
            <a:pPr indent="0" lvl="0" marL="0" rtl="0" algn="l">
              <a:lnSpc>
                <a:spcPct val="115000"/>
              </a:lnSpc>
              <a:spcBef>
                <a:spcPts val="1200"/>
              </a:spcBef>
              <a:spcAft>
                <a:spcPts val="1200"/>
              </a:spcAft>
              <a:buNone/>
            </a:pPr>
            <a:r>
              <a:rPr b="1" lang="es-419" sz="1100">
                <a:solidFill>
                  <a:schemeClr val="dk1"/>
                </a:solidFill>
              </a:rPr>
              <a:t>B- </a:t>
            </a:r>
            <a:r>
              <a:rPr lang="es-419" sz="1100">
                <a:solidFill>
                  <a:schemeClr val="dk1"/>
                </a:solidFill>
              </a:rPr>
              <a:t>Gráfico de dispersión que representa la relación entre la media y la varianza derivadas del ensayo de cuantificación masiva en paralelo para cada promotor. Los puntos en cian representan promotores altamente bimodales, los cuales fueron excluidos del análisis.</a:t>
            </a:r>
            <a:endParaRPr sz="18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cxnSp>
        <p:nvCxnSpPr>
          <p:cNvPr id="131" name="Google Shape;131;p21"/>
          <p:cNvCxnSpPr/>
          <p:nvPr/>
        </p:nvCxnSpPr>
        <p:spPr>
          <a:xfrm>
            <a:off x="1576363" y="667625"/>
            <a:ext cx="3766200" cy="0"/>
          </a:xfrm>
          <a:prstGeom prst="straightConnector1">
            <a:avLst/>
          </a:prstGeom>
          <a:noFill/>
          <a:ln cap="flat" cmpd="sng" w="9525">
            <a:solidFill>
              <a:schemeClr val="dk2"/>
            </a:solidFill>
            <a:prstDash val="solid"/>
            <a:round/>
            <a:headEnd len="med" w="med" type="none"/>
            <a:tailEnd len="med" w="med" type="none"/>
          </a:ln>
        </p:spPr>
      </p:cxnSp>
      <p:sp>
        <p:nvSpPr>
          <p:cNvPr id="132" name="Google Shape;132;p21"/>
          <p:cNvSpPr/>
          <p:nvPr/>
        </p:nvSpPr>
        <p:spPr>
          <a:xfrm>
            <a:off x="1971263" y="561725"/>
            <a:ext cx="2952000" cy="163800"/>
          </a:xfrm>
          <a:prstGeom prst="roundRect">
            <a:avLst>
              <a:gd fmla="val 16667" name="adj"/>
            </a:avLst>
          </a:prstGeom>
          <a:solidFill>
            <a:srgbClr val="A8D7C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33" name="Google Shape;133;p21"/>
          <p:cNvCxnSpPr/>
          <p:nvPr/>
        </p:nvCxnSpPr>
        <p:spPr>
          <a:xfrm>
            <a:off x="4398549" y="388350"/>
            <a:ext cx="0" cy="183000"/>
          </a:xfrm>
          <a:prstGeom prst="straightConnector1">
            <a:avLst/>
          </a:prstGeom>
          <a:noFill/>
          <a:ln cap="flat" cmpd="sng" w="9525">
            <a:solidFill>
              <a:schemeClr val="dk2"/>
            </a:solidFill>
            <a:prstDash val="solid"/>
            <a:round/>
            <a:headEnd len="med" w="med" type="none"/>
            <a:tailEnd len="med" w="med" type="none"/>
          </a:ln>
        </p:spPr>
      </p:cxnSp>
      <p:cxnSp>
        <p:nvCxnSpPr>
          <p:cNvPr id="134" name="Google Shape;134;p21"/>
          <p:cNvCxnSpPr/>
          <p:nvPr/>
        </p:nvCxnSpPr>
        <p:spPr>
          <a:xfrm>
            <a:off x="4398527" y="388343"/>
            <a:ext cx="154200" cy="0"/>
          </a:xfrm>
          <a:prstGeom prst="straightConnector1">
            <a:avLst/>
          </a:prstGeom>
          <a:noFill/>
          <a:ln cap="flat" cmpd="sng" w="9525">
            <a:solidFill>
              <a:schemeClr val="dk2"/>
            </a:solidFill>
            <a:prstDash val="solid"/>
            <a:round/>
            <a:headEnd len="med" w="med" type="none"/>
            <a:tailEnd len="med" w="med" type="triangle"/>
          </a:ln>
        </p:spPr>
      </p:cxnSp>
      <p:cxnSp>
        <p:nvCxnSpPr>
          <p:cNvPr id="135" name="Google Shape;135;p21"/>
          <p:cNvCxnSpPr/>
          <p:nvPr/>
        </p:nvCxnSpPr>
        <p:spPr>
          <a:xfrm>
            <a:off x="4398549" y="542450"/>
            <a:ext cx="0" cy="192600"/>
          </a:xfrm>
          <a:prstGeom prst="straightConnector1">
            <a:avLst/>
          </a:prstGeom>
          <a:noFill/>
          <a:ln cap="flat" cmpd="sng" w="9525">
            <a:solidFill>
              <a:schemeClr val="dk2"/>
            </a:solidFill>
            <a:prstDash val="dash"/>
            <a:round/>
            <a:headEnd len="med" w="med" type="none"/>
            <a:tailEnd len="med" w="med" type="none"/>
          </a:ln>
        </p:spPr>
      </p:cxnSp>
      <p:sp>
        <p:nvSpPr>
          <p:cNvPr id="136" name="Google Shape;136;p21"/>
          <p:cNvSpPr txBox="1"/>
          <p:nvPr/>
        </p:nvSpPr>
        <p:spPr>
          <a:xfrm>
            <a:off x="4427420" y="638716"/>
            <a:ext cx="5298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900">
                <a:solidFill>
                  <a:schemeClr val="dk2"/>
                </a:solidFill>
              </a:rPr>
              <a:t>16pb</a:t>
            </a:r>
            <a:endParaRPr sz="900">
              <a:solidFill>
                <a:schemeClr val="dk2"/>
              </a:solidFill>
            </a:endParaRPr>
          </a:p>
        </p:txBody>
      </p:sp>
      <p:sp>
        <p:nvSpPr>
          <p:cNvPr id="137" name="Google Shape;137;p21"/>
          <p:cNvSpPr txBox="1"/>
          <p:nvPr/>
        </p:nvSpPr>
        <p:spPr>
          <a:xfrm>
            <a:off x="3250600" y="638828"/>
            <a:ext cx="5298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900">
                <a:solidFill>
                  <a:schemeClr val="dk2"/>
                </a:solidFill>
              </a:rPr>
              <a:t>235</a:t>
            </a:r>
            <a:r>
              <a:rPr lang="es-419" sz="900">
                <a:solidFill>
                  <a:schemeClr val="dk2"/>
                </a:solidFill>
              </a:rPr>
              <a:t>pb</a:t>
            </a:r>
            <a:endParaRPr sz="900">
              <a:solidFill>
                <a:schemeClr val="dk2"/>
              </a:solidFill>
            </a:endParaRPr>
          </a:p>
        </p:txBody>
      </p:sp>
      <p:sp>
        <p:nvSpPr>
          <p:cNvPr id="138" name="Google Shape;138;p21"/>
          <p:cNvSpPr txBox="1"/>
          <p:nvPr/>
        </p:nvSpPr>
        <p:spPr>
          <a:xfrm>
            <a:off x="1624513" y="725475"/>
            <a:ext cx="722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139" name="Google Shape;139;p21"/>
          <p:cNvSpPr txBox="1"/>
          <p:nvPr/>
        </p:nvSpPr>
        <p:spPr>
          <a:xfrm>
            <a:off x="1537822" y="600199"/>
            <a:ext cx="5298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900">
                <a:solidFill>
                  <a:schemeClr val="dk2"/>
                </a:solidFill>
              </a:rPr>
              <a:t>24pb</a:t>
            </a:r>
            <a:endParaRPr sz="900">
              <a:solidFill>
                <a:schemeClr val="dk2"/>
              </a:solidFill>
            </a:endParaRPr>
          </a:p>
        </p:txBody>
      </p:sp>
      <p:sp>
        <p:nvSpPr>
          <p:cNvPr id="140" name="Google Shape;140;p21"/>
          <p:cNvSpPr txBox="1"/>
          <p:nvPr/>
        </p:nvSpPr>
        <p:spPr>
          <a:xfrm>
            <a:off x="4915218" y="609831"/>
            <a:ext cx="5298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900">
                <a:solidFill>
                  <a:schemeClr val="dk2"/>
                </a:solidFill>
              </a:rPr>
              <a:t>24pb</a:t>
            </a:r>
            <a:endParaRPr sz="900">
              <a:solidFill>
                <a:schemeClr val="dk2"/>
              </a:solidFill>
            </a:endParaRPr>
          </a:p>
        </p:txBody>
      </p:sp>
      <p:cxnSp>
        <p:nvCxnSpPr>
          <p:cNvPr id="141" name="Google Shape;141;p21"/>
          <p:cNvCxnSpPr/>
          <p:nvPr/>
        </p:nvCxnSpPr>
        <p:spPr>
          <a:xfrm>
            <a:off x="1605270" y="1455742"/>
            <a:ext cx="3766200" cy="0"/>
          </a:xfrm>
          <a:prstGeom prst="straightConnector1">
            <a:avLst/>
          </a:prstGeom>
          <a:noFill/>
          <a:ln cap="flat" cmpd="sng" w="9525">
            <a:solidFill>
              <a:schemeClr val="dk2"/>
            </a:solidFill>
            <a:prstDash val="solid"/>
            <a:round/>
            <a:headEnd len="med" w="med" type="none"/>
            <a:tailEnd len="med" w="med" type="none"/>
          </a:ln>
        </p:spPr>
      </p:cxnSp>
      <p:sp>
        <p:nvSpPr>
          <p:cNvPr id="142" name="Google Shape;142;p21"/>
          <p:cNvSpPr/>
          <p:nvPr/>
        </p:nvSpPr>
        <p:spPr>
          <a:xfrm>
            <a:off x="2000170" y="1349842"/>
            <a:ext cx="2952000" cy="163800"/>
          </a:xfrm>
          <a:prstGeom prst="roundRect">
            <a:avLst>
              <a:gd fmla="val 16667" name="adj"/>
            </a:avLst>
          </a:prstGeom>
          <a:solidFill>
            <a:srgbClr val="A8D7C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43" name="Google Shape;143;p21"/>
          <p:cNvCxnSpPr/>
          <p:nvPr/>
        </p:nvCxnSpPr>
        <p:spPr>
          <a:xfrm>
            <a:off x="4427457" y="1176467"/>
            <a:ext cx="0" cy="183000"/>
          </a:xfrm>
          <a:prstGeom prst="straightConnector1">
            <a:avLst/>
          </a:prstGeom>
          <a:noFill/>
          <a:ln cap="flat" cmpd="sng" w="9525">
            <a:solidFill>
              <a:schemeClr val="dk2"/>
            </a:solidFill>
            <a:prstDash val="solid"/>
            <a:round/>
            <a:headEnd len="med" w="med" type="none"/>
            <a:tailEnd len="med" w="med" type="none"/>
          </a:ln>
        </p:spPr>
      </p:cxnSp>
      <p:cxnSp>
        <p:nvCxnSpPr>
          <p:cNvPr id="144" name="Google Shape;144;p21"/>
          <p:cNvCxnSpPr/>
          <p:nvPr/>
        </p:nvCxnSpPr>
        <p:spPr>
          <a:xfrm>
            <a:off x="4427435" y="1176460"/>
            <a:ext cx="154200" cy="0"/>
          </a:xfrm>
          <a:prstGeom prst="straightConnector1">
            <a:avLst/>
          </a:prstGeom>
          <a:noFill/>
          <a:ln cap="flat" cmpd="sng" w="9525">
            <a:solidFill>
              <a:schemeClr val="dk2"/>
            </a:solidFill>
            <a:prstDash val="solid"/>
            <a:round/>
            <a:headEnd len="med" w="med" type="none"/>
            <a:tailEnd len="med" w="med" type="triangle"/>
          </a:ln>
        </p:spPr>
      </p:cxnSp>
      <p:cxnSp>
        <p:nvCxnSpPr>
          <p:cNvPr id="145" name="Google Shape;145;p21"/>
          <p:cNvCxnSpPr/>
          <p:nvPr/>
        </p:nvCxnSpPr>
        <p:spPr>
          <a:xfrm>
            <a:off x="4427457" y="1330567"/>
            <a:ext cx="0" cy="192600"/>
          </a:xfrm>
          <a:prstGeom prst="straightConnector1">
            <a:avLst/>
          </a:prstGeom>
          <a:noFill/>
          <a:ln cap="flat" cmpd="sng" w="9525">
            <a:solidFill>
              <a:schemeClr val="dk2"/>
            </a:solidFill>
            <a:prstDash val="dash"/>
            <a:round/>
            <a:headEnd len="med" w="med" type="none"/>
            <a:tailEnd len="med" w="med" type="none"/>
          </a:ln>
        </p:spPr>
      </p:cxnSp>
      <p:sp>
        <p:nvSpPr>
          <p:cNvPr id="146" name="Google Shape;146;p21"/>
          <p:cNvSpPr txBox="1"/>
          <p:nvPr/>
        </p:nvSpPr>
        <p:spPr>
          <a:xfrm>
            <a:off x="4128839" y="1426833"/>
            <a:ext cx="5298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900">
                <a:solidFill>
                  <a:schemeClr val="dk2"/>
                </a:solidFill>
              </a:rPr>
              <a:t>100pb</a:t>
            </a:r>
            <a:endParaRPr sz="900">
              <a:solidFill>
                <a:schemeClr val="dk2"/>
              </a:solidFill>
            </a:endParaRPr>
          </a:p>
        </p:txBody>
      </p:sp>
      <p:sp>
        <p:nvSpPr>
          <p:cNvPr id="147" name="Google Shape;147;p21"/>
          <p:cNvSpPr txBox="1"/>
          <p:nvPr/>
        </p:nvSpPr>
        <p:spPr>
          <a:xfrm>
            <a:off x="2557106" y="1426945"/>
            <a:ext cx="5298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900">
                <a:solidFill>
                  <a:schemeClr val="dk2"/>
                </a:solidFill>
              </a:rPr>
              <a:t>152</a:t>
            </a:r>
            <a:r>
              <a:rPr lang="es-419" sz="900">
                <a:solidFill>
                  <a:schemeClr val="dk2"/>
                </a:solidFill>
              </a:rPr>
              <a:t>pb</a:t>
            </a:r>
            <a:endParaRPr sz="900">
              <a:solidFill>
                <a:schemeClr val="dk2"/>
              </a:solidFill>
            </a:endParaRPr>
          </a:p>
        </p:txBody>
      </p:sp>
      <p:sp>
        <p:nvSpPr>
          <p:cNvPr id="148" name="Google Shape;148;p21"/>
          <p:cNvSpPr txBox="1"/>
          <p:nvPr/>
        </p:nvSpPr>
        <p:spPr>
          <a:xfrm>
            <a:off x="1653420" y="1513592"/>
            <a:ext cx="722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149" name="Google Shape;149;p21"/>
          <p:cNvSpPr txBox="1"/>
          <p:nvPr/>
        </p:nvSpPr>
        <p:spPr>
          <a:xfrm>
            <a:off x="1566730" y="1388317"/>
            <a:ext cx="5298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900">
                <a:solidFill>
                  <a:schemeClr val="dk2"/>
                </a:solidFill>
              </a:rPr>
              <a:t>24pb</a:t>
            </a:r>
            <a:endParaRPr sz="900">
              <a:solidFill>
                <a:schemeClr val="dk2"/>
              </a:solidFill>
            </a:endParaRPr>
          </a:p>
        </p:txBody>
      </p:sp>
      <p:sp>
        <p:nvSpPr>
          <p:cNvPr id="150" name="Google Shape;150;p21"/>
          <p:cNvSpPr txBox="1"/>
          <p:nvPr/>
        </p:nvSpPr>
        <p:spPr>
          <a:xfrm>
            <a:off x="4944126" y="1397949"/>
            <a:ext cx="5298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900">
                <a:solidFill>
                  <a:schemeClr val="dk2"/>
                </a:solidFill>
              </a:rPr>
              <a:t>24pb</a:t>
            </a:r>
            <a:endParaRPr sz="900">
              <a:solidFill>
                <a:schemeClr val="dk2"/>
              </a:solidFill>
            </a:endParaRPr>
          </a:p>
        </p:txBody>
      </p:sp>
      <p:sp>
        <p:nvSpPr>
          <p:cNvPr id="151" name="Google Shape;151;p21"/>
          <p:cNvSpPr/>
          <p:nvPr/>
        </p:nvSpPr>
        <p:spPr>
          <a:xfrm>
            <a:off x="3656863" y="1351557"/>
            <a:ext cx="1300500" cy="163800"/>
          </a:xfrm>
          <a:prstGeom prst="roundRect">
            <a:avLst>
              <a:gd fmla="val 16667" name="adj"/>
            </a:avLst>
          </a:prstGeom>
          <a:solidFill>
            <a:srgbClr val="358AA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666666"/>
              </a:highlight>
            </a:endParaRPr>
          </a:p>
        </p:txBody>
      </p:sp>
      <p:sp>
        <p:nvSpPr>
          <p:cNvPr id="152" name="Google Shape;152;p21"/>
          <p:cNvSpPr txBox="1"/>
          <p:nvPr/>
        </p:nvSpPr>
        <p:spPr>
          <a:xfrm>
            <a:off x="5517591" y="509102"/>
            <a:ext cx="19182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200">
                <a:solidFill>
                  <a:schemeClr val="dk2"/>
                </a:solidFill>
              </a:rPr>
              <a:t>Promotor EPD (n=20851)</a:t>
            </a:r>
            <a:endParaRPr sz="1200">
              <a:solidFill>
                <a:schemeClr val="dk2"/>
              </a:solidFill>
            </a:endParaRPr>
          </a:p>
        </p:txBody>
      </p:sp>
      <p:sp>
        <p:nvSpPr>
          <p:cNvPr id="153" name="Google Shape;153;p21"/>
          <p:cNvSpPr txBox="1"/>
          <p:nvPr/>
        </p:nvSpPr>
        <p:spPr>
          <a:xfrm>
            <a:off x="5517591" y="1259827"/>
            <a:ext cx="19182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200">
                <a:solidFill>
                  <a:schemeClr val="dk2"/>
                </a:solidFill>
              </a:rPr>
              <a:t>Enhancer</a:t>
            </a:r>
            <a:r>
              <a:rPr lang="es-419" sz="1200">
                <a:solidFill>
                  <a:schemeClr val="dk2"/>
                </a:solidFill>
              </a:rPr>
              <a:t> (n=3000)</a:t>
            </a:r>
            <a:endParaRPr sz="1200">
              <a:solidFill>
                <a:schemeClr val="dk2"/>
              </a:solidFill>
            </a:endParaRPr>
          </a:p>
        </p:txBody>
      </p:sp>
      <p:sp>
        <p:nvSpPr>
          <p:cNvPr id="154" name="Google Shape;154;p21"/>
          <p:cNvSpPr txBox="1"/>
          <p:nvPr/>
        </p:nvSpPr>
        <p:spPr>
          <a:xfrm>
            <a:off x="2467326" y="1608888"/>
            <a:ext cx="1261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000">
                <a:solidFill>
                  <a:schemeClr val="dk2"/>
                </a:solidFill>
              </a:rPr>
              <a:t>Enhancer</a:t>
            </a:r>
            <a:endParaRPr sz="1000">
              <a:solidFill>
                <a:schemeClr val="dk2"/>
              </a:solidFill>
            </a:endParaRPr>
          </a:p>
        </p:txBody>
      </p:sp>
      <p:sp>
        <p:nvSpPr>
          <p:cNvPr id="155" name="Google Shape;155;p21"/>
          <p:cNvSpPr txBox="1"/>
          <p:nvPr/>
        </p:nvSpPr>
        <p:spPr>
          <a:xfrm>
            <a:off x="3873626" y="1609864"/>
            <a:ext cx="1261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000">
                <a:solidFill>
                  <a:schemeClr val="dk2"/>
                </a:solidFill>
              </a:rPr>
              <a:t>FN1 promoter</a:t>
            </a:r>
            <a:endParaRPr sz="1000">
              <a:solidFill>
                <a:schemeClr val="dk2"/>
              </a:solidFill>
            </a:endParaRPr>
          </a:p>
        </p:txBody>
      </p:sp>
      <p:sp>
        <p:nvSpPr>
          <p:cNvPr id="156" name="Google Shape;156;p21"/>
          <p:cNvSpPr txBox="1"/>
          <p:nvPr/>
        </p:nvSpPr>
        <p:spPr>
          <a:xfrm>
            <a:off x="1406475" y="1607700"/>
            <a:ext cx="8619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000">
                <a:solidFill>
                  <a:schemeClr val="dk2"/>
                </a:solidFill>
              </a:rPr>
              <a:t>Adaptador</a:t>
            </a:r>
            <a:endParaRPr sz="1000">
              <a:solidFill>
                <a:schemeClr val="dk2"/>
              </a:solidFill>
            </a:endParaRPr>
          </a:p>
        </p:txBody>
      </p:sp>
      <p:sp>
        <p:nvSpPr>
          <p:cNvPr id="157" name="Google Shape;157;p21"/>
          <p:cNvSpPr txBox="1"/>
          <p:nvPr/>
        </p:nvSpPr>
        <p:spPr>
          <a:xfrm>
            <a:off x="4893660" y="1609875"/>
            <a:ext cx="8619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000">
                <a:solidFill>
                  <a:schemeClr val="dk2"/>
                </a:solidFill>
              </a:rPr>
              <a:t>Adaptador</a:t>
            </a:r>
            <a:endParaRPr sz="1000">
              <a:solidFill>
                <a:schemeClr val="dk2"/>
              </a:solidFill>
            </a:endParaRPr>
          </a:p>
        </p:txBody>
      </p:sp>
      <p:pic>
        <p:nvPicPr>
          <p:cNvPr id="158" name="Google Shape;158;p21" title="tss_relpos_zoom.jpg"/>
          <p:cNvPicPr preferRelativeResize="0"/>
          <p:nvPr/>
        </p:nvPicPr>
        <p:blipFill>
          <a:blip r:embed="rId4">
            <a:alphaModFix/>
          </a:blip>
          <a:stretch>
            <a:fillRect/>
          </a:stretch>
        </p:blipFill>
        <p:spPr>
          <a:xfrm>
            <a:off x="4793085" y="2026427"/>
            <a:ext cx="4126915" cy="3095186"/>
          </a:xfrm>
          <a:prstGeom prst="rect">
            <a:avLst/>
          </a:prstGeom>
          <a:noFill/>
          <a:ln>
            <a:noFill/>
          </a:ln>
        </p:spPr>
      </p:pic>
      <p:sp>
        <p:nvSpPr>
          <p:cNvPr id="159" name="Google Shape;159;p21"/>
          <p:cNvSpPr txBox="1"/>
          <p:nvPr/>
        </p:nvSpPr>
        <p:spPr>
          <a:xfrm>
            <a:off x="7962700" y="2671625"/>
            <a:ext cx="3477600" cy="218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000">
                <a:solidFill>
                  <a:schemeClr val="dk2"/>
                </a:solidFill>
              </a:rPr>
              <a:t>Diseño experimental de la library y corroboración de los sitios de inicio de la transcripción (TSS).</a:t>
            </a:r>
            <a:endParaRPr b="1" sz="1000">
              <a:solidFill>
                <a:schemeClr val="dk2"/>
              </a:solidFill>
            </a:endParaRPr>
          </a:p>
          <a:p>
            <a:pPr indent="0" lvl="0" marL="0" rtl="0" algn="l">
              <a:spcBef>
                <a:spcPts val="0"/>
              </a:spcBef>
              <a:spcAft>
                <a:spcPts val="0"/>
              </a:spcAft>
              <a:buNone/>
            </a:pPr>
            <a:r>
              <a:rPr lang="es-419" sz="1000">
                <a:solidFill>
                  <a:schemeClr val="dk2"/>
                </a:solidFill>
              </a:rPr>
              <a:t>A- Esquema representativo de la estructura de las secuencias promotoras y enhancers presentes en la </a:t>
            </a:r>
            <a:r>
              <a:rPr lang="es-419" sz="1000">
                <a:solidFill>
                  <a:schemeClr val="dk2"/>
                </a:solidFill>
              </a:rPr>
              <a:t>librería</a:t>
            </a:r>
            <a:r>
              <a:rPr lang="es-419" sz="1000">
                <a:solidFill>
                  <a:schemeClr val="dk2"/>
                </a:solidFill>
              </a:rPr>
              <a:t>. Con flecha se indica el TSS anotado, y se incluyen las 24pb de los adaptadores ligados a cada extremo de la secuencia. </a:t>
            </a:r>
            <a:endParaRPr sz="1000">
              <a:solidFill>
                <a:schemeClr val="dk2"/>
              </a:solidFill>
            </a:endParaRPr>
          </a:p>
          <a:p>
            <a:pPr indent="0" lvl="0" marL="0" rtl="0" algn="l">
              <a:spcBef>
                <a:spcPts val="0"/>
              </a:spcBef>
              <a:spcAft>
                <a:spcPts val="0"/>
              </a:spcAft>
              <a:buNone/>
            </a:pPr>
            <a:r>
              <a:rPr lang="es-419" sz="1000">
                <a:solidFill>
                  <a:schemeClr val="dk2"/>
                </a:solidFill>
              </a:rPr>
              <a:t>B- Cantidades que cada tipo de secuencias presentes en la </a:t>
            </a:r>
            <a:r>
              <a:rPr lang="es-419" sz="1000">
                <a:solidFill>
                  <a:schemeClr val="dk2"/>
                </a:solidFill>
              </a:rPr>
              <a:t>librería</a:t>
            </a:r>
            <a:r>
              <a:rPr lang="es-419" sz="1000">
                <a:solidFill>
                  <a:schemeClr val="dk2"/>
                </a:solidFill>
              </a:rPr>
              <a:t>. </a:t>
            </a:r>
            <a:endParaRPr sz="1000">
              <a:solidFill>
                <a:schemeClr val="dk2"/>
              </a:solidFill>
            </a:endParaRPr>
          </a:p>
          <a:p>
            <a:pPr indent="0" lvl="0" marL="0" rtl="0" algn="l">
              <a:spcBef>
                <a:spcPts val="0"/>
              </a:spcBef>
              <a:spcAft>
                <a:spcPts val="0"/>
              </a:spcAft>
              <a:buNone/>
            </a:pPr>
            <a:r>
              <a:rPr lang="es-419" sz="1000">
                <a:solidFill>
                  <a:schemeClr val="dk2"/>
                </a:solidFill>
              </a:rPr>
              <a:t>C- Mapa de calor indicando, para cada promotor, la frecuencia relativa con que se utiliza como TSS cada base, con su posición relativa al TSS anotado, en muestras de CAGE de cultivos primarios humanos.. </a:t>
            </a:r>
            <a:endParaRPr sz="1000">
              <a:solidFill>
                <a:schemeClr val="dk2"/>
              </a:solidFill>
            </a:endParaRPr>
          </a:p>
        </p:txBody>
      </p:sp>
      <p:pic>
        <p:nvPicPr>
          <p:cNvPr id="160" name="Google Shape;160;p21"/>
          <p:cNvPicPr preferRelativeResize="0"/>
          <p:nvPr/>
        </p:nvPicPr>
        <p:blipFill>
          <a:blip r:embed="rId5">
            <a:alphaModFix/>
          </a:blip>
          <a:stretch>
            <a:fillRect/>
          </a:stretch>
        </p:blipFill>
        <p:spPr>
          <a:xfrm>
            <a:off x="152400" y="2127692"/>
            <a:ext cx="3801279" cy="286340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2"/>
          <p:cNvSpPr txBox="1"/>
          <p:nvPr/>
        </p:nvSpPr>
        <p:spPr>
          <a:xfrm>
            <a:off x="6183650" y="622125"/>
            <a:ext cx="38220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000">
                <a:solidFill>
                  <a:schemeClr val="dk2"/>
                </a:solidFill>
              </a:rPr>
              <a:t>Frecuencia de elementos de secuencia típicos de promotores en la </a:t>
            </a:r>
            <a:r>
              <a:rPr b="1" i="1" lang="es-419" sz="1000">
                <a:solidFill>
                  <a:schemeClr val="dk2"/>
                </a:solidFill>
              </a:rPr>
              <a:t>library.</a:t>
            </a:r>
            <a:endParaRPr b="1" i="1" sz="1000">
              <a:solidFill>
                <a:schemeClr val="dk2"/>
              </a:solidFill>
            </a:endParaRPr>
          </a:p>
          <a:p>
            <a:pPr indent="0" lvl="0" marL="0" rtl="0" algn="l">
              <a:spcBef>
                <a:spcPts val="0"/>
              </a:spcBef>
              <a:spcAft>
                <a:spcPts val="0"/>
              </a:spcAft>
              <a:buNone/>
            </a:pPr>
            <a:r>
              <a:rPr b="1" lang="es-419" sz="1000">
                <a:solidFill>
                  <a:schemeClr val="dk2"/>
                </a:solidFill>
              </a:rPr>
              <a:t>A,B,D- Frecuencia, respecto</a:t>
            </a:r>
            <a:r>
              <a:rPr lang="es-419" sz="1000">
                <a:solidFill>
                  <a:schemeClr val="dk2"/>
                </a:solidFill>
              </a:rPr>
              <a:t> a los 20851 promotores en la librería, de los promotores conteniendo cada uno de los motivos presentes en la base EPD (A), conteniendo </a:t>
            </a:r>
            <a:r>
              <a:rPr lang="es-419" sz="1000">
                <a:solidFill>
                  <a:schemeClr val="dk2"/>
                </a:solidFill>
              </a:rPr>
              <a:t>superposición</a:t>
            </a:r>
            <a:r>
              <a:rPr lang="es-419" sz="1000">
                <a:solidFill>
                  <a:schemeClr val="dk2"/>
                </a:solidFill>
              </a:rPr>
              <a:t> con islas CpG (B) o con cada patrón de secuencias alrededor del sitio TSS (D).</a:t>
            </a:r>
            <a:endParaRPr sz="1000">
              <a:solidFill>
                <a:schemeClr val="dk2"/>
              </a:solidFill>
            </a:endParaRPr>
          </a:p>
          <a:p>
            <a:pPr indent="0" lvl="0" marL="0" rtl="0" algn="l">
              <a:spcBef>
                <a:spcPts val="0"/>
              </a:spcBef>
              <a:spcAft>
                <a:spcPts val="0"/>
              </a:spcAft>
              <a:buNone/>
            </a:pPr>
            <a:r>
              <a:rPr lang="es-419" sz="1000">
                <a:solidFill>
                  <a:schemeClr val="dk2"/>
                </a:solidFill>
              </a:rPr>
              <a:t>C- Densidad de la distribución del contenido de G y C a lo largo de los 20851 promotores. </a:t>
            </a:r>
            <a:endParaRPr sz="1000">
              <a:solidFill>
                <a:schemeClr val="dk2"/>
              </a:solidFill>
            </a:endParaRPr>
          </a:p>
        </p:txBody>
      </p:sp>
      <p:pic>
        <p:nvPicPr>
          <p:cNvPr id="166" name="Google Shape;166;p22" title="composicion_secuencia_library.jpg"/>
          <p:cNvPicPr preferRelativeResize="0"/>
          <p:nvPr/>
        </p:nvPicPr>
        <p:blipFill>
          <a:blip r:embed="rId3">
            <a:alphaModFix/>
          </a:blip>
          <a:stretch>
            <a:fillRect/>
          </a:stretch>
        </p:blipFill>
        <p:spPr>
          <a:xfrm>
            <a:off x="152400" y="152400"/>
            <a:ext cx="5646531" cy="483870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23" title="panel_d_perfil_nucleotidos.jpg"/>
          <p:cNvPicPr preferRelativeResize="0"/>
          <p:nvPr/>
        </p:nvPicPr>
        <p:blipFill>
          <a:blip r:embed="rId4">
            <a:alphaModFix/>
          </a:blip>
          <a:stretch>
            <a:fillRect/>
          </a:stretch>
        </p:blipFill>
        <p:spPr>
          <a:xfrm>
            <a:off x="1133725" y="152400"/>
            <a:ext cx="4544425" cy="3246324"/>
          </a:xfrm>
          <a:prstGeom prst="rect">
            <a:avLst/>
          </a:prstGeom>
          <a:noFill/>
          <a:ln>
            <a:noFill/>
          </a:ln>
        </p:spPr>
      </p:pic>
      <p:sp>
        <p:nvSpPr>
          <p:cNvPr id="172" name="Google Shape;172;p23"/>
          <p:cNvSpPr txBox="1"/>
          <p:nvPr/>
        </p:nvSpPr>
        <p:spPr>
          <a:xfrm>
            <a:off x="6144000" y="2342100"/>
            <a:ext cx="3000000" cy="280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000">
                <a:solidFill>
                  <a:schemeClr val="dk1"/>
                </a:solidFill>
              </a:rPr>
              <a:t>Fig. M12 – Perfil de frecuencias nucleotídicas de los promotores de la </a:t>
            </a:r>
            <a:r>
              <a:rPr b="1" i="1" lang="es-419" sz="1000">
                <a:solidFill>
                  <a:schemeClr val="dk1"/>
                </a:solidFill>
              </a:rPr>
              <a:t>library</a:t>
            </a:r>
            <a:r>
              <a:rPr b="1" lang="es-419" sz="1000">
                <a:solidFill>
                  <a:schemeClr val="dk1"/>
                </a:solidFill>
              </a:rPr>
              <a:t>.</a:t>
            </a:r>
            <a:r>
              <a:rPr lang="es-419" sz="1000">
                <a:solidFill>
                  <a:schemeClr val="dk1"/>
                </a:solidFill>
              </a:rPr>
              <a:t> Frecuencia de cada nucleótido (A, C, G, T) en cada posición respecto del TSS anotado en EPD (posición 0), calculada sobre todos los promotores de la </a:t>
            </a:r>
            <a:r>
              <a:rPr i="1" lang="es-419" sz="1000">
                <a:solidFill>
                  <a:schemeClr val="dk1"/>
                </a:solidFill>
              </a:rPr>
              <a:t>library</a:t>
            </a:r>
            <a:r>
              <a:rPr lang="es-419" sz="1000">
                <a:solidFill>
                  <a:schemeClr val="dk1"/>
                </a:solidFill>
              </a:rPr>
              <a:t> y, por separado, sobre los promotores con y sin isla CpG. La fila superior muestra el perfil a lo largo de todo el fragmento (−236 a +15 pb) y la fila central, una ampliación de la región comprendida entre −50 y +15 pb. La fila inferior muestra la frecuencia observada del dinucleótido CpG en cada posición (línea continua) y la esperada según la frecuencia de C en esa posición y de G en la siguiente (línea punteada). En todos los paneles, la línea vertical punteada marca el TSS y la banda gris indica la ventana canónica de la TATA-box (−31 a −26 pb). </a:t>
            </a:r>
            <a:endParaRPr sz="10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pic>
        <p:nvPicPr>
          <p:cNvPr id="177" name="Google Shape;177;p24" title="conservacion_func_barplot.jpg"/>
          <p:cNvPicPr preferRelativeResize="0"/>
          <p:nvPr/>
        </p:nvPicPr>
        <p:blipFill>
          <a:blip r:embed="rId3">
            <a:alphaModFix/>
          </a:blip>
          <a:stretch>
            <a:fillRect/>
          </a:stretch>
        </p:blipFill>
        <p:spPr>
          <a:xfrm>
            <a:off x="4411600" y="79498"/>
            <a:ext cx="4579999" cy="3434999"/>
          </a:xfrm>
          <a:prstGeom prst="rect">
            <a:avLst/>
          </a:prstGeom>
          <a:noFill/>
          <a:ln>
            <a:noFill/>
          </a:ln>
        </p:spPr>
      </p:pic>
      <p:sp>
        <p:nvSpPr>
          <p:cNvPr id="178" name="Google Shape;178;p24"/>
          <p:cNvSpPr txBox="1"/>
          <p:nvPr/>
        </p:nvSpPr>
        <p:spPr>
          <a:xfrm>
            <a:off x="360025" y="3440773"/>
            <a:ext cx="5891400" cy="207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200">
                <a:solidFill>
                  <a:schemeClr val="dk2"/>
                </a:solidFill>
              </a:rPr>
              <a:t>Niveles de conservación de secuencia en el metapromotor y evolución funcional de la actividad regulatoria</a:t>
            </a:r>
            <a:r>
              <a:rPr lang="es-419" sz="1200">
                <a:solidFill>
                  <a:schemeClr val="dk2"/>
                </a:solidFill>
              </a:rPr>
              <a:t>. </a:t>
            </a:r>
            <a:r>
              <a:rPr b="1" lang="es-419" sz="1100">
                <a:solidFill>
                  <a:schemeClr val="dk1"/>
                </a:solidFill>
              </a:rPr>
              <a:t>(A)</a:t>
            </a:r>
            <a:r>
              <a:rPr lang="es-419" sz="1100">
                <a:solidFill>
                  <a:schemeClr val="dk1"/>
                </a:solidFill>
              </a:rPr>
              <a:t> Perfil de conservación nucleotídica del metapromotor basado en el </a:t>
            </a:r>
            <a:r>
              <a:rPr i="1" lang="es-419" sz="1100">
                <a:solidFill>
                  <a:schemeClr val="dk1"/>
                </a:solidFill>
              </a:rPr>
              <a:t>PhyloP score</a:t>
            </a:r>
            <a:r>
              <a:rPr lang="es-419" sz="1100">
                <a:solidFill>
                  <a:schemeClr val="dk1"/>
                </a:solidFill>
              </a:rPr>
              <a:t> (comparación de 100 especies de mamíferos). Se observan </a:t>
            </a:r>
            <a:r>
              <a:rPr i="1" lang="es-419" sz="1100">
                <a:solidFill>
                  <a:schemeClr val="dk1"/>
                </a:solidFill>
              </a:rPr>
              <a:t>picos</a:t>
            </a:r>
            <a:r>
              <a:rPr lang="es-419" sz="1100">
                <a:solidFill>
                  <a:schemeClr val="dk1"/>
                </a:solidFill>
              </a:rPr>
              <a:t> de alta conservación en la región proximal al </a:t>
            </a:r>
            <a:r>
              <a:rPr i="1" lang="es-419" sz="1100">
                <a:solidFill>
                  <a:schemeClr val="dk1"/>
                </a:solidFill>
              </a:rPr>
              <a:t>TSS</a:t>
            </a:r>
            <a:r>
              <a:rPr lang="es-419" sz="1100">
                <a:solidFill>
                  <a:schemeClr val="dk1"/>
                </a:solidFill>
              </a:rPr>
              <a:t> y en la zona del </a:t>
            </a:r>
            <a:r>
              <a:rPr i="1" lang="es-419" sz="1100">
                <a:solidFill>
                  <a:schemeClr val="dk1"/>
                </a:solidFill>
              </a:rPr>
              <a:t>TATA-box</a:t>
            </a:r>
            <a:r>
              <a:rPr lang="es-419" sz="1100">
                <a:solidFill>
                  <a:schemeClr val="dk1"/>
                </a:solidFill>
              </a:rPr>
              <a:t> (~-30 pb), con un descenso hacia niveles de evolución neutra en las regiones distales</a:t>
            </a:r>
            <a:r>
              <a:rPr lang="es-419" sz="1100">
                <a:solidFill>
                  <a:schemeClr val="dk1"/>
                </a:solidFill>
              </a:rPr>
              <a:t>.En línea punteada se indican los límites de las regiones en las que se subdividieron a los promotores para evaluar su conservación nucleotídica: Proximal, Intermedio y Distal, respecto al TSS.</a:t>
            </a:r>
            <a:r>
              <a:rPr lang="es-419" sz="1100">
                <a:solidFill>
                  <a:schemeClr val="dk1"/>
                </a:solidFill>
              </a:rPr>
              <a:t> </a:t>
            </a:r>
            <a:r>
              <a:rPr b="1" lang="es-419" sz="1100">
                <a:solidFill>
                  <a:schemeClr val="dk1"/>
                </a:solidFill>
              </a:rPr>
              <a:t>(B)</a:t>
            </a:r>
            <a:r>
              <a:rPr lang="es-419" sz="1100">
                <a:solidFill>
                  <a:schemeClr val="dk1"/>
                </a:solidFill>
              </a:rPr>
              <a:t> Clasificación de los promotores según Young et al (2015) por su historia evolutiva funcional entre humano y ratón. Las categorías indican si la actividad promotora es compartida entre ambas especies o si fue adquirida o perdida en alguno de los linajes en secuencias homólogas. </a:t>
            </a:r>
            <a:endParaRPr sz="1200">
              <a:solidFill>
                <a:schemeClr val="dk2"/>
              </a:solidFill>
            </a:endParaRPr>
          </a:p>
        </p:txBody>
      </p:sp>
      <p:pic>
        <p:nvPicPr>
          <p:cNvPr id="179" name="Google Shape;179;p24" title="phylop_con_rangos.jpg"/>
          <p:cNvPicPr preferRelativeResize="0"/>
          <p:nvPr/>
        </p:nvPicPr>
        <p:blipFill>
          <a:blip r:embed="rId4">
            <a:alphaModFix/>
          </a:blip>
          <a:stretch>
            <a:fillRect/>
          </a:stretch>
        </p:blipFill>
        <p:spPr>
          <a:xfrm>
            <a:off x="152400" y="256546"/>
            <a:ext cx="4106798" cy="3080099"/>
          </a:xfrm>
          <a:prstGeom prst="rect">
            <a:avLst/>
          </a:prstGeom>
          <a:noFill/>
          <a:ln>
            <a:noFill/>
          </a:ln>
        </p:spPr>
      </p:pic>
      <p:sp>
        <p:nvSpPr>
          <p:cNvPr id="180" name="Google Shape;180;p24"/>
          <p:cNvSpPr/>
          <p:nvPr/>
        </p:nvSpPr>
        <p:spPr>
          <a:xfrm>
            <a:off x="1009150" y="170871"/>
            <a:ext cx="697800" cy="246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18000" spcFirstLastPara="1" rIns="18000" wrap="square" tIns="91425">
            <a:noAutofit/>
          </a:bodyPr>
          <a:lstStyle/>
          <a:p>
            <a:pPr indent="0" lvl="0" marL="0" rtl="0" algn="ctr">
              <a:spcBef>
                <a:spcPts val="0"/>
              </a:spcBef>
              <a:spcAft>
                <a:spcPts val="0"/>
              </a:spcAft>
              <a:buNone/>
            </a:pPr>
            <a:r>
              <a:rPr lang="es-419" sz="1000">
                <a:latin typeface="Courier New"/>
                <a:ea typeface="Courier New"/>
                <a:cs typeface="Courier New"/>
                <a:sym typeface="Courier New"/>
              </a:rPr>
              <a:t>Distal</a:t>
            </a:r>
            <a:endParaRPr sz="1000">
              <a:latin typeface="Courier New"/>
              <a:ea typeface="Courier New"/>
              <a:cs typeface="Courier New"/>
              <a:sym typeface="Courier New"/>
            </a:endParaRPr>
          </a:p>
        </p:txBody>
      </p:sp>
      <p:sp>
        <p:nvSpPr>
          <p:cNvPr id="181" name="Google Shape;181;p24"/>
          <p:cNvSpPr/>
          <p:nvPr/>
        </p:nvSpPr>
        <p:spPr>
          <a:xfrm>
            <a:off x="2201863" y="170871"/>
            <a:ext cx="635400" cy="246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18000" spcFirstLastPara="1" rIns="18000" wrap="square" tIns="91425">
            <a:noAutofit/>
          </a:bodyPr>
          <a:lstStyle/>
          <a:p>
            <a:pPr indent="0" lvl="0" marL="0" rtl="0" algn="ctr">
              <a:spcBef>
                <a:spcPts val="0"/>
              </a:spcBef>
              <a:spcAft>
                <a:spcPts val="0"/>
              </a:spcAft>
              <a:buNone/>
            </a:pPr>
            <a:r>
              <a:rPr lang="es-419" sz="1000">
                <a:latin typeface="Courier New"/>
                <a:ea typeface="Courier New"/>
                <a:cs typeface="Courier New"/>
                <a:sym typeface="Courier New"/>
              </a:rPr>
              <a:t>Central</a:t>
            </a:r>
            <a:endParaRPr sz="1000">
              <a:latin typeface="Courier New"/>
              <a:ea typeface="Courier New"/>
              <a:cs typeface="Courier New"/>
              <a:sym typeface="Courier New"/>
            </a:endParaRPr>
          </a:p>
        </p:txBody>
      </p:sp>
      <p:sp>
        <p:nvSpPr>
          <p:cNvPr id="182" name="Google Shape;182;p24"/>
          <p:cNvSpPr/>
          <p:nvPr/>
        </p:nvSpPr>
        <p:spPr>
          <a:xfrm>
            <a:off x="3332200" y="170871"/>
            <a:ext cx="781200" cy="246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18000" spcFirstLastPara="1" rIns="18000" wrap="square" tIns="91425">
            <a:noAutofit/>
          </a:bodyPr>
          <a:lstStyle/>
          <a:p>
            <a:pPr indent="0" lvl="0" marL="0" rtl="0" algn="ctr">
              <a:spcBef>
                <a:spcPts val="0"/>
              </a:spcBef>
              <a:spcAft>
                <a:spcPts val="0"/>
              </a:spcAft>
              <a:buNone/>
            </a:pPr>
            <a:r>
              <a:rPr lang="es-419" sz="1000">
                <a:latin typeface="Courier New"/>
                <a:ea typeface="Courier New"/>
                <a:cs typeface="Courier New"/>
                <a:sym typeface="Courier New"/>
              </a:rPr>
              <a:t>Proximal</a:t>
            </a:r>
            <a:endParaRPr sz="1000">
              <a:latin typeface="Courier New"/>
              <a:ea typeface="Courier New"/>
              <a:cs typeface="Courier New"/>
              <a:sym typeface="Courier New"/>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pic>
        <p:nvPicPr>
          <p:cNvPr id="187" name="Google Shape;187;p25" title="shape_especificidad_tisular.jpg"/>
          <p:cNvPicPr preferRelativeResize="0"/>
          <p:nvPr/>
        </p:nvPicPr>
        <p:blipFill>
          <a:blip r:embed="rId3">
            <a:alphaModFix/>
          </a:blip>
          <a:stretch>
            <a:fillRect/>
          </a:stretch>
        </p:blipFill>
        <p:spPr>
          <a:xfrm>
            <a:off x="271600" y="113528"/>
            <a:ext cx="8739174" cy="3746597"/>
          </a:xfrm>
          <a:prstGeom prst="rect">
            <a:avLst/>
          </a:prstGeom>
          <a:noFill/>
          <a:ln>
            <a:noFill/>
          </a:ln>
        </p:spPr>
      </p:pic>
      <p:sp>
        <p:nvSpPr>
          <p:cNvPr id="188" name="Google Shape;188;p25"/>
          <p:cNvSpPr txBox="1"/>
          <p:nvPr/>
        </p:nvSpPr>
        <p:spPr>
          <a:xfrm>
            <a:off x="463225" y="4345400"/>
            <a:ext cx="57753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800">
                <a:solidFill>
                  <a:schemeClr val="dk2"/>
                </a:solidFill>
              </a:rPr>
              <a:t>eventualmente podria agregar un diagrama para mostrar mas claro que es shape. o un heatmap de los ontology con algunos promotores </a:t>
            </a:r>
            <a:r>
              <a:rPr lang="es-419" sz="1800">
                <a:solidFill>
                  <a:schemeClr val="dk2"/>
                </a:solidFill>
              </a:rPr>
              <a:t>para</a:t>
            </a:r>
            <a:r>
              <a:rPr lang="es-419" sz="1800">
                <a:solidFill>
                  <a:schemeClr val="dk2"/>
                </a:solidFill>
              </a:rPr>
              <a:t> mostrar tissue specificity</a:t>
            </a:r>
            <a:endParaRPr sz="1800">
              <a:solidFill>
                <a:schemeClr val="dk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6"/>
          <p:cNvSpPr txBox="1"/>
          <p:nvPr/>
        </p:nvSpPr>
        <p:spPr>
          <a:xfrm>
            <a:off x="6144000" y="0"/>
            <a:ext cx="3000000" cy="340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100">
                <a:solidFill>
                  <a:schemeClr val="dk1"/>
                </a:solidFill>
              </a:rPr>
              <a:t>Figura M14. Orientación transcripcional del promotor, a partir de PRO-cap en HEK293.</a:t>
            </a:r>
            <a:endParaRPr b="1" sz="1100">
              <a:solidFill>
                <a:schemeClr val="dk1"/>
              </a:solidFill>
            </a:endParaRPr>
          </a:p>
          <a:p>
            <a:pPr indent="0" lvl="0" marL="0" rtl="0" algn="l">
              <a:spcBef>
                <a:spcPts val="0"/>
              </a:spcBef>
              <a:spcAft>
                <a:spcPts val="0"/>
              </a:spcAft>
              <a:buNone/>
            </a:pPr>
            <a:r>
              <a:rPr lang="es-419" sz="1100">
                <a:solidFill>
                  <a:schemeClr val="dk1"/>
                </a:solidFill>
              </a:rPr>
              <a:t>Se calculó el Orientation Index para cada uno de los 20.851 promotores de la library. </a:t>
            </a:r>
            <a:r>
              <a:rPr b="1" lang="es-419" sz="1100">
                <a:solidFill>
                  <a:schemeClr val="dk1"/>
                </a:solidFill>
              </a:rPr>
              <a:t>A.</a:t>
            </a:r>
            <a:r>
              <a:rPr lang="es-419" sz="1100">
                <a:solidFill>
                  <a:schemeClr val="dk1"/>
                </a:solidFill>
              </a:rPr>
              <a:t> Histograma de la señal </a:t>
            </a:r>
            <a:r>
              <a:rPr i="1" lang="es-419" sz="1100">
                <a:solidFill>
                  <a:schemeClr val="dk1"/>
                </a:solidFill>
              </a:rPr>
              <a:t>sense</a:t>
            </a:r>
            <a:r>
              <a:rPr lang="es-419" sz="1100">
                <a:solidFill>
                  <a:schemeClr val="dk1"/>
                </a:solidFill>
              </a:rPr>
              <a:t>, usado para justificar el umbral de señal mínima por debajo del cual un promotor no se clasifica. </a:t>
            </a:r>
            <a:r>
              <a:rPr b="1" lang="es-419" sz="1100">
                <a:solidFill>
                  <a:schemeClr val="dk1"/>
                </a:solidFill>
              </a:rPr>
              <a:t>B.</a:t>
            </a:r>
            <a:r>
              <a:rPr lang="es-419" sz="1100">
                <a:solidFill>
                  <a:schemeClr val="dk1"/>
                </a:solidFill>
              </a:rPr>
              <a:t> Histograma del OI para los promotores con señal suficiente, con el umbral (OI≥0,9) usado para clasificarlos como unidireccionales. </a:t>
            </a:r>
            <a:r>
              <a:rPr b="1" lang="es-419" sz="1100">
                <a:solidFill>
                  <a:schemeClr val="dk1"/>
                </a:solidFill>
              </a:rPr>
              <a:t>C.</a:t>
            </a:r>
            <a:r>
              <a:rPr lang="es-419" sz="1100">
                <a:solidFill>
                  <a:schemeClr val="dk1"/>
                </a:solidFill>
              </a:rPr>
              <a:t> Proporción de promotores en cada clase de orientación. </a:t>
            </a:r>
            <a:r>
              <a:rPr b="1" lang="es-419" sz="1100">
                <a:solidFill>
                  <a:schemeClr val="dk1"/>
                </a:solidFill>
              </a:rPr>
              <a:t>D.</a:t>
            </a:r>
            <a:r>
              <a:rPr lang="es-419" sz="1100">
                <a:solidFill>
                  <a:schemeClr val="dk1"/>
                </a:solidFill>
              </a:rPr>
              <a:t> Metaplot de señal media de PRO-cap (sentido/antisentido) alrededor del TSS, separado en paneles por clase de orientación — la validación de que la clasificación por OI efectivamente captura una diferencia real en el perfil de señal. </a:t>
            </a:r>
            <a:endParaRPr/>
          </a:p>
        </p:txBody>
      </p:sp>
      <p:pic>
        <p:nvPicPr>
          <p:cNvPr id="194" name="Google Shape;194;p26"/>
          <p:cNvPicPr preferRelativeResize="0"/>
          <p:nvPr/>
        </p:nvPicPr>
        <p:blipFill>
          <a:blip r:embed="rId3">
            <a:alphaModFix/>
          </a:blip>
          <a:stretch>
            <a:fillRect/>
          </a:stretch>
        </p:blipFill>
        <p:spPr>
          <a:xfrm>
            <a:off x="152400" y="152400"/>
            <a:ext cx="5839201" cy="375499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pic>
        <p:nvPicPr>
          <p:cNvPr id="199" name="Google Shape;199;p27"/>
          <p:cNvPicPr preferRelativeResize="0"/>
          <p:nvPr/>
        </p:nvPicPr>
        <p:blipFill>
          <a:blip r:embed="rId3">
            <a:alphaModFix/>
          </a:blip>
          <a:stretch>
            <a:fillRect/>
          </a:stretch>
        </p:blipFill>
        <p:spPr>
          <a:xfrm>
            <a:off x="5668093" y="1848800"/>
            <a:ext cx="3965501" cy="2974126"/>
          </a:xfrm>
          <a:prstGeom prst="rect">
            <a:avLst/>
          </a:prstGeom>
          <a:noFill/>
          <a:ln>
            <a:noFill/>
          </a:ln>
        </p:spPr>
      </p:pic>
      <p:pic>
        <p:nvPicPr>
          <p:cNvPr id="200" name="Google Shape;200;p27"/>
          <p:cNvPicPr preferRelativeResize="0"/>
          <p:nvPr/>
        </p:nvPicPr>
        <p:blipFill rotWithShape="1">
          <a:blip r:embed="rId4">
            <a:alphaModFix/>
          </a:blip>
          <a:srcRect b="0" l="7072" r="0" t="0"/>
          <a:stretch/>
        </p:blipFill>
        <p:spPr>
          <a:xfrm>
            <a:off x="2447750" y="1848800"/>
            <a:ext cx="3965501" cy="3200402"/>
          </a:xfrm>
          <a:prstGeom prst="rect">
            <a:avLst/>
          </a:prstGeom>
          <a:noFill/>
          <a:ln>
            <a:noFill/>
          </a:ln>
        </p:spPr>
      </p:pic>
      <p:pic>
        <p:nvPicPr>
          <p:cNvPr id="201" name="Google Shape;201;p27"/>
          <p:cNvPicPr preferRelativeResize="0"/>
          <p:nvPr/>
        </p:nvPicPr>
        <p:blipFill>
          <a:blip r:embed="rId5">
            <a:alphaModFix/>
          </a:blip>
          <a:stretch>
            <a:fillRect/>
          </a:stretch>
        </p:blipFill>
        <p:spPr>
          <a:xfrm>
            <a:off x="0" y="1848801"/>
            <a:ext cx="2384673" cy="3200399"/>
          </a:xfrm>
          <a:prstGeom prst="rect">
            <a:avLst/>
          </a:prstGeom>
          <a:noFill/>
          <a:ln>
            <a:noFill/>
          </a:ln>
        </p:spPr>
      </p:pic>
      <p:sp>
        <p:nvSpPr>
          <p:cNvPr id="202" name="Google Shape;202;p27"/>
          <p:cNvSpPr txBox="1"/>
          <p:nvPr/>
        </p:nvSpPr>
        <p:spPr>
          <a:xfrm>
            <a:off x="4572000" y="-706375"/>
            <a:ext cx="3000000" cy="1877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100">
                <a:solidFill>
                  <a:schemeClr val="dk1"/>
                </a:solidFill>
              </a:rPr>
              <a:t>Co-ocurrencia entre las características de los promotores basales.</a:t>
            </a:r>
            <a:r>
              <a:rPr lang="es-419" sz="1100">
                <a:solidFill>
                  <a:schemeClr val="dk1"/>
                </a:solidFill>
              </a:rPr>
              <a:t> </a:t>
            </a:r>
            <a:r>
              <a:rPr b="1" lang="es-419" sz="1100">
                <a:solidFill>
                  <a:schemeClr val="dk1"/>
                </a:solidFill>
              </a:rPr>
              <a:t>(A)</a:t>
            </a:r>
            <a:r>
              <a:rPr lang="es-419" sz="1100">
                <a:solidFill>
                  <a:schemeClr val="dk1"/>
                </a:solidFill>
              </a:rPr>
              <a:t> Frecuencia de cada característica (barra oscura) sobre su propio universo no-NA (barra clara). </a:t>
            </a:r>
            <a:r>
              <a:rPr b="1" lang="es-419" sz="1100">
                <a:solidFill>
                  <a:schemeClr val="dk1"/>
                </a:solidFill>
              </a:rPr>
              <a:t>(B)</a:t>
            </a:r>
            <a:r>
              <a:rPr lang="es-419" sz="1100">
                <a:solidFill>
                  <a:schemeClr val="dk1"/>
                </a:solidFill>
              </a:rPr>
              <a:t> Coeficiente phi entre cada par de características. </a:t>
            </a:r>
            <a:r>
              <a:rPr b="1" lang="es-419" sz="1100">
                <a:solidFill>
                  <a:schemeClr val="dk1"/>
                </a:solidFill>
              </a:rPr>
              <a:t>(C)</a:t>
            </a:r>
            <a:r>
              <a:rPr lang="es-419" sz="1100">
                <a:solidFill>
                  <a:schemeClr val="dk1"/>
                </a:solidFill>
              </a:rPr>
              <a:t> log2(enriquecimiento) entre cada par. En B y C, gris = par sin información suficiente para calcular la métrica; el orden de filas/columnas surge de un agrupamiento jerárquico.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cxnSp>
        <p:nvCxnSpPr>
          <p:cNvPr id="207" name="Google Shape;207;p28"/>
          <p:cNvCxnSpPr/>
          <p:nvPr/>
        </p:nvCxnSpPr>
        <p:spPr>
          <a:xfrm>
            <a:off x="3413975" y="1789875"/>
            <a:ext cx="3153600" cy="0"/>
          </a:xfrm>
          <a:prstGeom prst="straightConnector1">
            <a:avLst/>
          </a:prstGeom>
          <a:noFill/>
          <a:ln cap="flat" cmpd="sng" w="19050">
            <a:solidFill>
              <a:schemeClr val="dk2"/>
            </a:solidFill>
            <a:prstDash val="solid"/>
            <a:round/>
            <a:headEnd len="med" w="med" type="none"/>
            <a:tailEnd len="med" w="med" type="none"/>
          </a:ln>
        </p:spPr>
      </p:cxnSp>
      <p:sp>
        <p:nvSpPr>
          <p:cNvPr id="208" name="Google Shape;208;p28"/>
          <p:cNvSpPr/>
          <p:nvPr/>
        </p:nvSpPr>
        <p:spPr>
          <a:xfrm>
            <a:off x="4079976" y="1683975"/>
            <a:ext cx="2068200" cy="163800"/>
          </a:xfrm>
          <a:prstGeom prst="roundRect">
            <a:avLst>
              <a:gd fmla="val 16667" name="adj"/>
            </a:avLst>
          </a:prstGeom>
          <a:solidFill>
            <a:srgbClr val="DFEDF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09" name="Google Shape;209;p28"/>
          <p:cNvCxnSpPr/>
          <p:nvPr/>
        </p:nvCxnSpPr>
        <p:spPr>
          <a:xfrm>
            <a:off x="5623649" y="1510600"/>
            <a:ext cx="0" cy="183000"/>
          </a:xfrm>
          <a:prstGeom prst="straightConnector1">
            <a:avLst/>
          </a:prstGeom>
          <a:noFill/>
          <a:ln cap="flat" cmpd="sng" w="9525">
            <a:solidFill>
              <a:schemeClr val="dk2"/>
            </a:solidFill>
            <a:prstDash val="solid"/>
            <a:round/>
            <a:headEnd len="med" w="med" type="none"/>
            <a:tailEnd len="med" w="med" type="none"/>
          </a:ln>
        </p:spPr>
      </p:cxnSp>
      <p:cxnSp>
        <p:nvCxnSpPr>
          <p:cNvPr id="210" name="Google Shape;210;p28"/>
          <p:cNvCxnSpPr/>
          <p:nvPr/>
        </p:nvCxnSpPr>
        <p:spPr>
          <a:xfrm>
            <a:off x="5623627" y="1510593"/>
            <a:ext cx="154200" cy="0"/>
          </a:xfrm>
          <a:prstGeom prst="straightConnector1">
            <a:avLst/>
          </a:prstGeom>
          <a:noFill/>
          <a:ln cap="flat" cmpd="sng" w="9525">
            <a:solidFill>
              <a:schemeClr val="dk2"/>
            </a:solidFill>
            <a:prstDash val="solid"/>
            <a:round/>
            <a:headEnd len="med" w="med" type="none"/>
            <a:tailEnd len="med" w="med" type="triangle"/>
          </a:ln>
        </p:spPr>
      </p:cxnSp>
      <p:cxnSp>
        <p:nvCxnSpPr>
          <p:cNvPr id="211" name="Google Shape;211;p28"/>
          <p:cNvCxnSpPr/>
          <p:nvPr/>
        </p:nvCxnSpPr>
        <p:spPr>
          <a:xfrm>
            <a:off x="5623649" y="1664700"/>
            <a:ext cx="0" cy="192600"/>
          </a:xfrm>
          <a:prstGeom prst="straightConnector1">
            <a:avLst/>
          </a:prstGeom>
          <a:noFill/>
          <a:ln cap="flat" cmpd="sng" w="9525">
            <a:solidFill>
              <a:schemeClr val="dk2"/>
            </a:solidFill>
            <a:prstDash val="dash"/>
            <a:round/>
            <a:headEnd len="med" w="med" type="none"/>
            <a:tailEnd len="med" w="med" type="none"/>
          </a:ln>
        </p:spPr>
      </p:cxnSp>
      <p:sp>
        <p:nvSpPr>
          <p:cNvPr id="212" name="Google Shape;212;p28"/>
          <p:cNvSpPr txBox="1"/>
          <p:nvPr/>
        </p:nvSpPr>
        <p:spPr>
          <a:xfrm>
            <a:off x="4640486" y="1789875"/>
            <a:ext cx="8535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200">
                <a:solidFill>
                  <a:schemeClr val="dk2"/>
                </a:solidFill>
              </a:rPr>
              <a:t>Promotor</a:t>
            </a:r>
            <a:endParaRPr sz="1200">
              <a:solidFill>
                <a:schemeClr val="dk2"/>
              </a:solidFill>
            </a:endParaRPr>
          </a:p>
        </p:txBody>
      </p:sp>
      <p:sp>
        <p:nvSpPr>
          <p:cNvPr id="213" name="Google Shape;213;p28"/>
          <p:cNvSpPr/>
          <p:nvPr/>
        </p:nvSpPr>
        <p:spPr>
          <a:xfrm>
            <a:off x="6567671" y="1679100"/>
            <a:ext cx="1991100" cy="163800"/>
          </a:xfrm>
          <a:prstGeom prst="roundRect">
            <a:avLst>
              <a:gd fmla="val 16667" name="adj"/>
            </a:avLst>
          </a:prstGeom>
          <a:solidFill>
            <a:srgbClr val="97E19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14" name="Google Shape;214;p28"/>
          <p:cNvCxnSpPr/>
          <p:nvPr/>
        </p:nvCxnSpPr>
        <p:spPr>
          <a:xfrm>
            <a:off x="1205877" y="1789875"/>
            <a:ext cx="2151000" cy="0"/>
          </a:xfrm>
          <a:prstGeom prst="straightConnector1">
            <a:avLst/>
          </a:prstGeom>
          <a:noFill/>
          <a:ln cap="flat" cmpd="sng" w="19050">
            <a:solidFill>
              <a:srgbClr val="E06666"/>
            </a:solidFill>
            <a:prstDash val="solid"/>
            <a:round/>
            <a:headEnd len="med" w="med" type="none"/>
            <a:tailEnd len="med" w="med" type="none"/>
          </a:ln>
        </p:spPr>
      </p:cxnSp>
      <p:sp>
        <p:nvSpPr>
          <p:cNvPr id="215" name="Google Shape;215;p28"/>
          <p:cNvSpPr/>
          <p:nvPr/>
        </p:nvSpPr>
        <p:spPr>
          <a:xfrm>
            <a:off x="3270832" y="1707975"/>
            <a:ext cx="388200" cy="163800"/>
          </a:xfrm>
          <a:prstGeom prst="roundRect">
            <a:avLst>
              <a:gd fmla="val 16667" name="adj"/>
            </a:avLst>
          </a:prstGeom>
          <a:solidFill>
            <a:srgbClr val="97E19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6" name="Google Shape;216;p28"/>
          <p:cNvSpPr txBox="1"/>
          <p:nvPr/>
        </p:nvSpPr>
        <p:spPr>
          <a:xfrm>
            <a:off x="7258525" y="1789875"/>
            <a:ext cx="8535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200">
                <a:solidFill>
                  <a:schemeClr val="dk2"/>
                </a:solidFill>
              </a:rPr>
              <a:t>EGFP</a:t>
            </a:r>
            <a:endParaRPr sz="1200">
              <a:solidFill>
                <a:schemeClr val="dk2"/>
              </a:solidFill>
            </a:endParaRPr>
          </a:p>
        </p:txBody>
      </p:sp>
      <p:sp>
        <p:nvSpPr>
          <p:cNvPr id="217" name="Google Shape;217;p28"/>
          <p:cNvSpPr txBox="1"/>
          <p:nvPr/>
        </p:nvSpPr>
        <p:spPr>
          <a:xfrm>
            <a:off x="3535103" y="1417450"/>
            <a:ext cx="6804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200">
                <a:solidFill>
                  <a:schemeClr val="dk2"/>
                </a:solidFill>
              </a:rPr>
              <a:t>Primer</a:t>
            </a:r>
            <a:endParaRPr sz="1200">
              <a:solidFill>
                <a:schemeClr val="dk2"/>
              </a:solidFill>
            </a:endParaRPr>
          </a:p>
        </p:txBody>
      </p:sp>
      <p:sp>
        <p:nvSpPr>
          <p:cNvPr id="218" name="Google Shape;218;p28"/>
          <p:cNvSpPr txBox="1"/>
          <p:nvPr/>
        </p:nvSpPr>
        <p:spPr>
          <a:xfrm>
            <a:off x="6038977" y="1417450"/>
            <a:ext cx="6804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200">
                <a:solidFill>
                  <a:schemeClr val="dk2"/>
                </a:solidFill>
              </a:rPr>
              <a:t>Primer</a:t>
            </a:r>
            <a:endParaRPr sz="1200">
              <a:solidFill>
                <a:schemeClr val="dk2"/>
              </a:solidFill>
            </a:endParaRPr>
          </a:p>
        </p:txBody>
      </p:sp>
      <p:sp>
        <p:nvSpPr>
          <p:cNvPr id="219" name="Google Shape;219;p28"/>
          <p:cNvSpPr txBox="1"/>
          <p:nvPr/>
        </p:nvSpPr>
        <p:spPr>
          <a:xfrm>
            <a:off x="1579951" y="1725530"/>
            <a:ext cx="15618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419" sz="1200">
                <a:solidFill>
                  <a:schemeClr val="dk2"/>
                </a:solidFill>
              </a:rPr>
              <a:t>Secuencia aleatoria </a:t>
            </a:r>
            <a:endParaRPr sz="1200">
              <a:solidFill>
                <a:schemeClr val="dk2"/>
              </a:solidFill>
            </a:endParaRPr>
          </a:p>
          <a:p>
            <a:pPr indent="0" lvl="0" marL="0" rtl="0" algn="ctr">
              <a:spcBef>
                <a:spcPts val="0"/>
              </a:spcBef>
              <a:spcAft>
                <a:spcPts val="0"/>
              </a:spcAft>
              <a:buNone/>
            </a:pPr>
            <a:r>
              <a:rPr lang="es-419" sz="1200">
                <a:solidFill>
                  <a:schemeClr val="dk2"/>
                </a:solidFill>
              </a:rPr>
              <a:t>(x20 réplicas)</a:t>
            </a:r>
            <a:endParaRPr sz="1200">
              <a:solidFill>
                <a:schemeClr val="dk2"/>
              </a:solidFill>
            </a:endParaRPr>
          </a:p>
        </p:txBody>
      </p:sp>
      <p:sp>
        <p:nvSpPr>
          <p:cNvPr id="220" name="Google Shape;220;p28"/>
          <p:cNvSpPr txBox="1"/>
          <p:nvPr/>
        </p:nvSpPr>
        <p:spPr>
          <a:xfrm>
            <a:off x="5120912" y="1091659"/>
            <a:ext cx="10287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419" sz="900">
                <a:solidFill>
                  <a:schemeClr val="dk2"/>
                </a:solidFill>
              </a:rPr>
              <a:t>posición</a:t>
            </a:r>
            <a:endParaRPr sz="900">
              <a:solidFill>
                <a:schemeClr val="dk2"/>
              </a:solidFill>
            </a:endParaRPr>
          </a:p>
          <a:p>
            <a:pPr indent="0" lvl="0" marL="0" rtl="0" algn="ctr">
              <a:spcBef>
                <a:spcPts val="0"/>
              </a:spcBef>
              <a:spcAft>
                <a:spcPts val="0"/>
              </a:spcAft>
              <a:buNone/>
            </a:pPr>
            <a:r>
              <a:rPr lang="es-419" sz="900">
                <a:solidFill>
                  <a:schemeClr val="dk2"/>
                </a:solidFill>
              </a:rPr>
              <a:t>0</a:t>
            </a:r>
            <a:endParaRPr sz="900">
              <a:solidFill>
                <a:schemeClr val="dk2"/>
              </a:solidFill>
            </a:endParaRPr>
          </a:p>
        </p:txBody>
      </p:sp>
      <p:sp>
        <p:nvSpPr>
          <p:cNvPr id="221" name="Google Shape;221;p28"/>
          <p:cNvSpPr txBox="1"/>
          <p:nvPr/>
        </p:nvSpPr>
        <p:spPr>
          <a:xfrm>
            <a:off x="0" y="0"/>
            <a:ext cx="93363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100">
                <a:solidFill>
                  <a:schemeClr val="dk1"/>
                </a:solidFill>
              </a:rPr>
              <a:t>Esquema de la estrategia de predicción con Puffin.</a:t>
            </a:r>
            <a:r>
              <a:rPr lang="es-419" sz="1100">
                <a:solidFill>
                  <a:schemeClr val="dk1"/>
                </a:solidFill>
              </a:rPr>
              <a:t> Cada promotor (252 pb) se extendió a 650 pb con secuencia real conocida (</a:t>
            </a:r>
            <a:r>
              <a:rPr i="1" lang="es-419" sz="1100">
                <a:solidFill>
                  <a:schemeClr val="dk1"/>
                </a:solidFill>
              </a:rPr>
              <a:t>primers</a:t>
            </a:r>
            <a:r>
              <a:rPr lang="es-419" sz="1100">
                <a:solidFill>
                  <a:schemeClr val="dk1"/>
                </a:solidFill>
              </a:rPr>
              <a:t>/EGFP) de un lado y relleno aleatorio del otro, en la región donde se desconoce la secuencia. La predicción se promedió entre 20 variantes de relleno, tomando el </a:t>
            </a:r>
            <a:r>
              <a:rPr i="1" lang="es-419" sz="1100">
                <a:solidFill>
                  <a:schemeClr val="dk1"/>
                </a:solidFill>
              </a:rPr>
              <a:t>score</a:t>
            </a:r>
            <a:r>
              <a:rPr lang="es-419" sz="1100">
                <a:solidFill>
                  <a:schemeClr val="dk1"/>
                </a:solidFill>
              </a:rPr>
              <a:t> en la posición 0 (TSS) como estimador de actividad predicha. </a:t>
            </a:r>
            <a:endParaRPr/>
          </a:p>
        </p:txBody>
      </p:sp>
      <p:sp>
        <p:nvSpPr>
          <p:cNvPr id="222" name="Google Shape;222;p28"/>
          <p:cNvSpPr txBox="1"/>
          <p:nvPr/>
        </p:nvSpPr>
        <p:spPr>
          <a:xfrm>
            <a:off x="4578992" y="2453700"/>
            <a:ext cx="6804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300">
                <a:solidFill>
                  <a:schemeClr val="dk2"/>
                </a:solidFill>
              </a:rPr>
              <a:t>650pb</a:t>
            </a:r>
            <a:endParaRPr sz="1300">
              <a:solidFill>
                <a:schemeClr val="dk2"/>
              </a:solidFill>
            </a:endParaRPr>
          </a:p>
        </p:txBody>
      </p:sp>
      <p:sp>
        <p:nvSpPr>
          <p:cNvPr id="223" name="Google Shape;223;p28"/>
          <p:cNvSpPr/>
          <p:nvPr/>
        </p:nvSpPr>
        <p:spPr>
          <a:xfrm rot="5400000">
            <a:off x="4761375" y="-1280925"/>
            <a:ext cx="225300" cy="7346400"/>
          </a:xfrm>
          <a:prstGeom prst="righ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