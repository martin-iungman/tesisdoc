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Ignacio Schor"/>
  <p:cmAuthor clrIdx="1" id="1"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18:10:02.713">
    <p:pos x="136" y="2588"/>
    <p:text>Los plots fueron generados con la asistencia de BioRender...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2" dt="2026-03-09T20:27:41.679">
    <p:pos x="441" y="316"/>
    <p:text>cambiar de color...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h2f3664efa2367f3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h2f3664efa2367f3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6.jpg"/><Relationship Id="rId4" Type="http://schemas.openxmlformats.org/officeDocument/2006/relationships/image" Target="../media/image17.jp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3.xml"/><Relationship Id="rId4" Type="http://schemas.openxmlformats.org/officeDocument/2006/relationships/image" Target="../media/image15.jpg"/><Relationship Id="rId5" Type="http://schemas.openxmlformats.org/officeDocument/2006/relationships/image" Target="../media/image1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4.xml"/><Relationship Id="rId4" Type="http://schemas.openxmlformats.org/officeDocument/2006/relationships/image" Target="../media/image22.jpg"/><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5.jpg"/><Relationship Id="rId4" Type="http://schemas.openxmlformats.org/officeDocument/2006/relationships/image" Target="../media/image23.jpg"/><Relationship Id="rId5" Type="http://schemas.openxmlformats.org/officeDocument/2006/relationships/image" Target="../media/image13.jpg"/><Relationship Id="rId6"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7.jpg"/><Relationship Id="rId4"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4">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a:t>
            </a:r>
            <a:r>
              <a:rPr lang="es-419" sz="1100">
                <a:solidFill>
                  <a:schemeClr val="dk1"/>
                </a:solidFill>
              </a:rPr>
              <a:t>transcripcional</a:t>
            </a:r>
            <a:r>
              <a:rPr lang="es-419" sz="1100">
                <a:solidFill>
                  <a:schemeClr val="dk1"/>
                </a:solidFill>
              </a:rPr>
              <a:t>.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5">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5">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5">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5">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6">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7">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03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a:t>
            </a:r>
            <a:r>
              <a:rPr i="1" lang="es-419" sz="1100">
                <a:solidFill>
                  <a:schemeClr val="dk1"/>
                </a:solidFill>
              </a:rPr>
              <a:t>library </a:t>
            </a:r>
            <a:r>
              <a:rPr lang="es-419" sz="1100">
                <a:solidFill>
                  <a:schemeClr val="dk1"/>
                </a:solidFill>
              </a:rPr>
              <a:t>de promotores.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62700" y="267162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6183650" y="6221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48597"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1234349"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3772347"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86598"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6"/>
          <p:cNvSpPr txBox="1"/>
          <p:nvPr/>
        </p:nvSpPr>
        <p:spPr>
          <a:xfrm>
            <a:off x="6144000" y="0"/>
            <a:ext cx="30000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M14. Orientación transcripcional del promotor, a partir de PRO-cap en HEK293.</a:t>
            </a:r>
            <a:endParaRPr b="1" sz="1100">
              <a:solidFill>
                <a:schemeClr val="dk1"/>
              </a:solidFill>
            </a:endParaRPr>
          </a:p>
          <a:p>
            <a:pPr indent="0" lvl="0" marL="0" rtl="0" algn="l">
              <a:spcBef>
                <a:spcPts val="0"/>
              </a:spcBef>
              <a:spcAft>
                <a:spcPts val="0"/>
              </a:spcAft>
              <a:buNone/>
            </a:pPr>
            <a:r>
              <a:rPr lang="es-419" sz="1100">
                <a:solidFill>
                  <a:schemeClr val="dk1"/>
                </a:solidFill>
              </a:rPr>
              <a:t>Se calculó el Orientation Index para cada uno de los 20.851 promotores de la library. </a:t>
            </a:r>
            <a:r>
              <a:rPr b="1" lang="es-419" sz="1100">
                <a:solidFill>
                  <a:schemeClr val="dk1"/>
                </a:solidFill>
              </a:rPr>
              <a:t>A.</a:t>
            </a:r>
            <a:r>
              <a:rPr lang="es-419" sz="1100">
                <a:solidFill>
                  <a:schemeClr val="dk1"/>
                </a:solidFill>
              </a:rPr>
              <a:t> Histograma de la señal </a:t>
            </a:r>
            <a:r>
              <a:rPr i="1" lang="es-419" sz="1100">
                <a:solidFill>
                  <a:schemeClr val="dk1"/>
                </a:solidFill>
              </a:rPr>
              <a:t>sense</a:t>
            </a:r>
            <a:r>
              <a:rPr lang="es-419" sz="1100">
                <a:solidFill>
                  <a:schemeClr val="dk1"/>
                </a:solidFill>
              </a:rPr>
              <a:t>, usado para justificar el umbral de señal mínima por debajo del cual un promotor no se clasifica. </a:t>
            </a:r>
            <a:r>
              <a:rPr b="1" lang="es-419" sz="1100">
                <a:solidFill>
                  <a:schemeClr val="dk1"/>
                </a:solidFill>
              </a:rPr>
              <a:t>B.</a:t>
            </a:r>
            <a:r>
              <a:rPr lang="es-419" sz="1100">
                <a:solidFill>
                  <a:schemeClr val="dk1"/>
                </a:solidFill>
              </a:rPr>
              <a:t> Histograma del OI para los promotores con señal suficiente, con el umbral (OI≥0,9) usado para clasificarlos como unidireccionales. </a:t>
            </a:r>
            <a:r>
              <a:rPr b="1" lang="es-419" sz="1100">
                <a:solidFill>
                  <a:schemeClr val="dk1"/>
                </a:solidFill>
              </a:rPr>
              <a:t>C.</a:t>
            </a:r>
            <a:r>
              <a:rPr lang="es-419" sz="1100">
                <a:solidFill>
                  <a:schemeClr val="dk1"/>
                </a:solidFill>
              </a:rPr>
              <a:t> Proporción de promotores en cada clase de orientación. </a:t>
            </a:r>
            <a:r>
              <a:rPr b="1" lang="es-419" sz="1100">
                <a:solidFill>
                  <a:schemeClr val="dk1"/>
                </a:solidFill>
              </a:rPr>
              <a:t>D.</a:t>
            </a:r>
            <a:r>
              <a:rPr lang="es-419" sz="1100">
                <a:solidFill>
                  <a:schemeClr val="dk1"/>
                </a:solidFill>
              </a:rPr>
              <a:t> Metaplot de señal media de PRO-cap (sentido/antisentido) alrededor del TSS, separado en paneles por clase de orientación — la validación de que la clasificación por OI efectivamente captura una diferencia real en el perfil de señal. </a:t>
            </a:r>
            <a:endParaRPr/>
          </a:p>
        </p:txBody>
      </p:sp>
      <p:pic>
        <p:nvPicPr>
          <p:cNvPr id="197" name="Google Shape;197;p26"/>
          <p:cNvPicPr preferRelativeResize="0"/>
          <p:nvPr/>
        </p:nvPicPr>
        <p:blipFill>
          <a:blip r:embed="rId3">
            <a:alphaModFix/>
          </a:blip>
          <a:stretch>
            <a:fillRect/>
          </a:stretch>
        </p:blipFill>
        <p:spPr>
          <a:xfrm>
            <a:off x="152400" y="152400"/>
            <a:ext cx="5839201" cy="37549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pic>
        <p:nvPicPr>
          <p:cNvPr id="202" name="Google Shape;202;p27"/>
          <p:cNvPicPr preferRelativeResize="0"/>
          <p:nvPr/>
        </p:nvPicPr>
        <p:blipFill>
          <a:blip r:embed="rId3">
            <a:alphaModFix/>
          </a:blip>
          <a:stretch>
            <a:fillRect/>
          </a:stretch>
        </p:blipFill>
        <p:spPr>
          <a:xfrm>
            <a:off x="5668093" y="1848800"/>
            <a:ext cx="3965501" cy="2974126"/>
          </a:xfrm>
          <a:prstGeom prst="rect">
            <a:avLst/>
          </a:prstGeom>
          <a:noFill/>
          <a:ln>
            <a:noFill/>
          </a:ln>
        </p:spPr>
      </p:pic>
      <p:pic>
        <p:nvPicPr>
          <p:cNvPr id="203" name="Google Shape;203;p27"/>
          <p:cNvPicPr preferRelativeResize="0"/>
          <p:nvPr/>
        </p:nvPicPr>
        <p:blipFill rotWithShape="1">
          <a:blip r:embed="rId4">
            <a:alphaModFix/>
          </a:blip>
          <a:srcRect b="0" l="7072" r="0" t="0"/>
          <a:stretch/>
        </p:blipFill>
        <p:spPr>
          <a:xfrm>
            <a:off x="2447750" y="1848800"/>
            <a:ext cx="3965501" cy="3200402"/>
          </a:xfrm>
          <a:prstGeom prst="rect">
            <a:avLst/>
          </a:prstGeom>
          <a:noFill/>
          <a:ln>
            <a:noFill/>
          </a:ln>
        </p:spPr>
      </p:pic>
      <p:pic>
        <p:nvPicPr>
          <p:cNvPr id="204" name="Google Shape;204;p27"/>
          <p:cNvPicPr preferRelativeResize="0"/>
          <p:nvPr/>
        </p:nvPicPr>
        <p:blipFill>
          <a:blip r:embed="rId5">
            <a:alphaModFix/>
          </a:blip>
          <a:stretch>
            <a:fillRect/>
          </a:stretch>
        </p:blipFill>
        <p:spPr>
          <a:xfrm>
            <a:off x="0" y="1848801"/>
            <a:ext cx="2384673" cy="3200399"/>
          </a:xfrm>
          <a:prstGeom prst="rect">
            <a:avLst/>
          </a:prstGeom>
          <a:noFill/>
          <a:ln>
            <a:noFill/>
          </a:ln>
        </p:spPr>
      </p:pic>
      <p:sp>
        <p:nvSpPr>
          <p:cNvPr id="205" name="Google Shape;205;p27"/>
          <p:cNvSpPr txBox="1"/>
          <p:nvPr/>
        </p:nvSpPr>
        <p:spPr>
          <a:xfrm>
            <a:off x="4572000" y="-706375"/>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Co-ocurrencia entre las características de los promotores basales.</a:t>
            </a:r>
            <a:r>
              <a:rPr lang="es-419" sz="1100">
                <a:solidFill>
                  <a:schemeClr val="dk1"/>
                </a:solidFill>
              </a:rPr>
              <a:t> </a:t>
            </a:r>
            <a:r>
              <a:rPr b="1" lang="es-419" sz="1100">
                <a:solidFill>
                  <a:schemeClr val="dk1"/>
                </a:solidFill>
              </a:rPr>
              <a:t>(A)</a:t>
            </a:r>
            <a:r>
              <a:rPr lang="es-419" sz="1100">
                <a:solidFill>
                  <a:schemeClr val="dk1"/>
                </a:solidFill>
              </a:rPr>
              <a:t> Frecuencia de cada característica (barra oscura) sobre su propio universo no-NA (barra clara). </a:t>
            </a:r>
            <a:r>
              <a:rPr b="1" lang="es-419" sz="1100">
                <a:solidFill>
                  <a:schemeClr val="dk1"/>
                </a:solidFill>
              </a:rPr>
              <a:t>(B)</a:t>
            </a:r>
            <a:r>
              <a:rPr lang="es-419" sz="1100">
                <a:solidFill>
                  <a:schemeClr val="dk1"/>
                </a:solidFill>
              </a:rPr>
              <a:t> Coeficiente phi entre cada par de características. </a:t>
            </a:r>
            <a:r>
              <a:rPr b="1" lang="es-419" sz="1100">
                <a:solidFill>
                  <a:schemeClr val="dk1"/>
                </a:solidFill>
              </a:rPr>
              <a:t>(C)</a:t>
            </a:r>
            <a:r>
              <a:rPr lang="es-419" sz="1100">
                <a:solidFill>
                  <a:schemeClr val="dk1"/>
                </a:solidFill>
              </a:rPr>
              <a:t> log2(enriquecimiento) entre cada par. En B y C, gris = par sin información suficiente para calcular la métrica; el orden de filas/columnas surge de un agrupamiento jerárquico.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cxnSp>
        <p:nvCxnSpPr>
          <p:cNvPr id="210" name="Google Shape;210;p28"/>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11" name="Google Shape;211;p28"/>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2" name="Google Shape;212;p28"/>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13" name="Google Shape;213;p28"/>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14" name="Google Shape;214;p28"/>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15" name="Google Shape;215;p28"/>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16" name="Google Shape;216;p28"/>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7" name="Google Shape;217;p28"/>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8" name="Google Shape;218;p28"/>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9" name="Google Shape;219;p28"/>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20" name="Google Shape;220;p28"/>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1" name="Google Shape;221;p28"/>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2" name="Google Shape;222;p28"/>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23" name="Google Shape;223;p28"/>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24" name="Google Shape;224;p28"/>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25" name="Google Shape;225;p28"/>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26" name="Google Shape;226;p28"/>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