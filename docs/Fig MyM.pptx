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5.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Ignacio Schor"/>
  <p:cmAuthor clrIdx="1" id="1" initials="" lastIdx="4"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18:10:02.713">
    <p:pos x="136" y="2588"/>
    <p:text>Los plots fueron generados con la asistencia de BioRender...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2" dt="2026-03-09T20:27:41.679">
    <p:pos x="441" y="316"/>
    <p:text>cambiar de color...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3-20T16:29:37.389">
    <p:pos x="3019" y="1276"/>
    <p:text>agrandar texto</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4" dt="2026-10-13T19:36:37.538">
    <p:pos x="714" y="96"/>
    <p:text>eliminar una de las leyendas de Base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h583038cfc21dc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h583038cfc21dc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1.jpg"/><Relationship Id="rId4" Type="http://schemas.openxmlformats.org/officeDocument/2006/relationships/image" Target="../media/image14.jp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3.xml"/><Relationship Id="rId4" Type="http://schemas.openxmlformats.org/officeDocument/2006/relationships/image" Target="../media/image19.jpg"/><Relationship Id="rId5"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4.xml"/><Relationship Id="rId4" Type="http://schemas.openxmlformats.org/officeDocument/2006/relationships/image" Target="../media/image21.jp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omments" Target="../comments/comment5.xml"/><Relationship Id="rId4"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3.jpg"/><Relationship Id="rId4" Type="http://schemas.openxmlformats.org/officeDocument/2006/relationships/image" Target="../media/image2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4">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a:t>
            </a:r>
            <a:r>
              <a:rPr lang="es-419" sz="1100">
                <a:solidFill>
                  <a:schemeClr val="dk1"/>
                </a:solidFill>
              </a:rPr>
              <a:t>transcripcional</a:t>
            </a:r>
            <a:r>
              <a:rPr lang="es-419" sz="1100">
                <a:solidFill>
                  <a:schemeClr val="dk1"/>
                </a:solidFill>
              </a:rPr>
              <a:t>.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5">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5">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5">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5">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6">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7">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03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a:t>
            </a:r>
            <a:r>
              <a:rPr i="1" lang="es-419" sz="1100">
                <a:solidFill>
                  <a:schemeClr val="dk1"/>
                </a:solidFill>
              </a:rPr>
              <a:t>library </a:t>
            </a:r>
            <a:r>
              <a:rPr lang="es-419" sz="1100">
                <a:solidFill>
                  <a:schemeClr val="dk1"/>
                </a:solidFill>
              </a:rPr>
              <a:t>de promotores.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62700" y="267162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6183650" y="6221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composicion_secuencia_library.jpg"/>
          <p:cNvPicPr preferRelativeResize="0"/>
          <p:nvPr/>
        </p:nvPicPr>
        <p:blipFill>
          <a:blip r:embed="rId3">
            <a:alphaModFix/>
          </a:blip>
          <a:stretch>
            <a:fillRect/>
          </a:stretch>
        </p:blipFill>
        <p:spPr>
          <a:xfrm>
            <a:off x="152400" y="152400"/>
            <a:ext cx="5646531" cy="483870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24" title="panel_d_perfil_nucleotidos.jpg"/>
          <p:cNvPicPr preferRelativeResize="0"/>
          <p:nvPr/>
        </p:nvPicPr>
        <p:blipFill>
          <a:blip r:embed="rId4">
            <a:alphaModFix/>
          </a:blip>
          <a:stretch>
            <a:fillRect/>
          </a:stretch>
        </p:blipFill>
        <p:spPr>
          <a:xfrm>
            <a:off x="1133725" y="152400"/>
            <a:ext cx="4544425" cy="3246324"/>
          </a:xfrm>
          <a:prstGeom prst="rect">
            <a:avLst/>
          </a:prstGeom>
          <a:noFill/>
          <a:ln>
            <a:noFill/>
          </a:ln>
        </p:spPr>
      </p:pic>
      <p:sp>
        <p:nvSpPr>
          <p:cNvPr id="178" name="Google Shape;178;p24"/>
          <p:cNvSpPr txBox="1"/>
          <p:nvPr/>
        </p:nvSpPr>
        <p:spPr>
          <a:xfrm>
            <a:off x="6144000" y="2342100"/>
            <a:ext cx="30000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Fig. M12 – Perfil de frecuencias nucleotídicas de los promotores de la </a:t>
            </a:r>
            <a:r>
              <a:rPr b="1" i="1" lang="es-419" sz="1000">
                <a:solidFill>
                  <a:schemeClr val="dk1"/>
                </a:solidFill>
              </a:rPr>
              <a:t>library</a:t>
            </a:r>
            <a:r>
              <a:rPr b="1" lang="es-419" sz="1000">
                <a:solidFill>
                  <a:schemeClr val="dk1"/>
                </a:solidFill>
              </a:rPr>
              <a:t>.</a:t>
            </a:r>
            <a:r>
              <a:rPr lang="es-419" sz="1000">
                <a:solidFill>
                  <a:schemeClr val="dk1"/>
                </a:solidFill>
              </a:rPr>
              <a:t> Frecuencia de cada nucleótido (A, C, G, T) en cada posición respecto del TSS anotado en EPD (posición 0), calculada sobre todos los promotores de la </a:t>
            </a:r>
            <a:r>
              <a:rPr i="1" lang="es-419" sz="1000">
                <a:solidFill>
                  <a:schemeClr val="dk1"/>
                </a:solidFill>
              </a:rPr>
              <a:t>library</a:t>
            </a:r>
            <a:r>
              <a:rPr lang="es-419" sz="1000">
                <a:solidFill>
                  <a:schemeClr val="dk1"/>
                </a:solidFill>
              </a:rPr>
              <a:t> y, por separado, sobre los promotores con y sin isla CpG. La fila superior muestra el perfil a lo largo de todo el fragmento (−236 a +15 pb) y la fila central, una ampliación de la región comprendida entre −50 y +15 pb. La fila inferior muestra la frecuencia observada del dinucleótido CpG en cada posición (línea continua) y la esperada según la frecuencia de C en esa posición y de G en la siguiente (línea punteada). En todos los paneles, la línea vertical punteada marca el TSS y la banda gris indica la ventana canónica de la TATA-box (−31 a −26 pb). </a:t>
            </a:r>
            <a:endParaRPr sz="1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pic>
        <p:nvPicPr>
          <p:cNvPr id="183" name="Google Shape;183;p25"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4" name="Google Shape;184;p25"/>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5" name="Google Shape;185;p25"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6" name="Google Shape;186;p25"/>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7" name="Google Shape;187;p25"/>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8" name="Google Shape;188;p25"/>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pic>
        <p:nvPicPr>
          <p:cNvPr id="193" name="Google Shape;193;p26"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4" name="Google Shape;194;p26"/>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7"/>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200" name="Google Shape;200;p27"/>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pic>
        <p:nvPicPr>
          <p:cNvPr id="205" name="Google Shape;205;p28"/>
          <p:cNvPicPr preferRelativeResize="0"/>
          <p:nvPr/>
        </p:nvPicPr>
        <p:blipFill>
          <a:blip r:embed="rId3">
            <a:alphaModFix/>
          </a:blip>
          <a:stretch>
            <a:fillRect/>
          </a:stretch>
        </p:blipFill>
        <p:spPr>
          <a:xfrm>
            <a:off x="5668093" y="1848800"/>
            <a:ext cx="3965501" cy="2974126"/>
          </a:xfrm>
          <a:prstGeom prst="rect">
            <a:avLst/>
          </a:prstGeom>
          <a:noFill/>
          <a:ln>
            <a:noFill/>
          </a:ln>
        </p:spPr>
      </p:pic>
      <p:pic>
        <p:nvPicPr>
          <p:cNvPr id="206" name="Google Shape;206;p28"/>
          <p:cNvPicPr preferRelativeResize="0"/>
          <p:nvPr/>
        </p:nvPicPr>
        <p:blipFill rotWithShape="1">
          <a:blip r:embed="rId4">
            <a:alphaModFix/>
          </a:blip>
          <a:srcRect b="0" l="7072" r="0" t="0"/>
          <a:stretch/>
        </p:blipFill>
        <p:spPr>
          <a:xfrm>
            <a:off x="2447750" y="1848800"/>
            <a:ext cx="3965501" cy="3200402"/>
          </a:xfrm>
          <a:prstGeom prst="rect">
            <a:avLst/>
          </a:prstGeom>
          <a:noFill/>
          <a:ln>
            <a:noFill/>
          </a:ln>
        </p:spPr>
      </p:pic>
      <p:pic>
        <p:nvPicPr>
          <p:cNvPr id="207" name="Google Shape;207;p28"/>
          <p:cNvPicPr preferRelativeResize="0"/>
          <p:nvPr/>
        </p:nvPicPr>
        <p:blipFill>
          <a:blip r:embed="rId5">
            <a:alphaModFix/>
          </a:blip>
          <a:stretch>
            <a:fillRect/>
          </a:stretch>
        </p:blipFill>
        <p:spPr>
          <a:xfrm>
            <a:off x="0" y="1848801"/>
            <a:ext cx="2384673" cy="3200399"/>
          </a:xfrm>
          <a:prstGeom prst="rect">
            <a:avLst/>
          </a:prstGeom>
          <a:noFill/>
          <a:ln>
            <a:noFill/>
          </a:ln>
        </p:spPr>
      </p:pic>
      <p:sp>
        <p:nvSpPr>
          <p:cNvPr id="208" name="Google Shape;208;p28"/>
          <p:cNvSpPr txBox="1"/>
          <p:nvPr/>
        </p:nvSpPr>
        <p:spPr>
          <a:xfrm>
            <a:off x="4572000" y="-70637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cxnSp>
        <p:nvCxnSpPr>
          <p:cNvPr id="213" name="Google Shape;213;p29"/>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14" name="Google Shape;214;p29"/>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5" name="Google Shape;215;p29"/>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6" name="Google Shape;216;p29"/>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7" name="Google Shape;217;p29"/>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8" name="Google Shape;218;p29"/>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9" name="Google Shape;219;p29"/>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20" name="Google Shape;220;p29"/>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21" name="Google Shape;221;p29"/>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2" name="Google Shape;222;p29"/>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23" name="Google Shape;223;p29"/>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4" name="Google Shape;224;p29"/>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5" name="Google Shape;225;p29"/>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6" name="Google Shape;226;p29"/>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7" name="Google Shape;227;p29"/>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8" name="Google Shape;228;p29"/>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9" name="Google Shape;229;p29"/>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