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3"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5-07T15:37:51.925">
    <p:pos x="152" y="2799"/>
    <p:text>a diferencia de todas las otras leyendas, aca en el titulo pongo la conclusion de la igura, no la descripcion. aunque por otro lado es la unica de MyM que brinda un resultado que valga la pena mencionar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3-09T20:27:41.679">
    <p:pos x="441" y="316"/>
    <p:text>cambiar de color...</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3-20T16:29:37.389">
    <p:pos x="3019" y="1276"/>
    <p:text>agrandar texto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db3e813f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db3e813f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5.jpg"/><Relationship Id="rId4" Type="http://schemas.openxmlformats.org/officeDocument/2006/relationships/image" Target="../media/image18.jp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omments" Target="../comments/comment1.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2.xml"/><Relationship Id="rId4" Type="http://schemas.openxmlformats.org/officeDocument/2006/relationships/image" Target="../media/image17.jpg"/><Relationship Id="rId5" Type="http://schemas.openxmlformats.org/officeDocument/2006/relationships/image" Target="../media/image1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3.xml"/><Relationship Id="rId4" Type="http://schemas.openxmlformats.org/officeDocument/2006/relationships/image" Target="../media/image20.jpg"/><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2.jpg"/><Relationship Id="rId4" Type="http://schemas.openxmlformats.org/officeDocument/2006/relationships/image" Target="../media/image21.jpg"/><Relationship Id="rId5" Type="http://schemas.openxmlformats.org/officeDocument/2006/relationships/image" Target="../media/image10.jpg"/><Relationship Id="rId6" Type="http://schemas.openxmlformats.org/officeDocument/2006/relationships/image" Target="../media/image2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9.jpg"/><Relationship Id="rId4" Type="http://schemas.openxmlformats.org/officeDocument/2006/relationships/image" Target="../media/image2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6.jpg"/><Relationship Id="rId4"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3">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txBox="1"/>
          <p:nvPr/>
        </p:nvSpPr>
        <p:spPr>
          <a:xfrm>
            <a:off x="216950" y="4109200"/>
            <a:ext cx="83814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 Esquema general del pipeline experimental.</a:t>
            </a:r>
            <a:r>
              <a:rPr lang="es-419" sz="1100">
                <a:solidFill>
                  <a:schemeClr val="dk1"/>
                </a:solidFill>
              </a:rPr>
              <a:t> La </a:t>
            </a:r>
            <a:r>
              <a:rPr i="1" lang="es-419" sz="1100">
                <a:solidFill>
                  <a:schemeClr val="dk1"/>
                </a:solidFill>
              </a:rPr>
              <a:t>library</a:t>
            </a:r>
            <a:r>
              <a:rPr lang="es-419" sz="1100">
                <a:solidFill>
                  <a:schemeClr val="dk1"/>
                </a:solidFill>
              </a:rPr>
              <a:t> de promotores se clonó río arriba de EGFP y se integró en células HEK293T mediante RMCE. Las células se separaron por citometría en siete fracciones según fluorescencia, y la abundancia de cada promotor en cada fracción se cuantificó por Amplicon-seq, permitiendo reconstruir su distribución de expresión y estimar media y ruido transcripcional. </a:t>
            </a:r>
            <a:endParaRPr sz="1800">
              <a:solidFill>
                <a:schemeClr val="dk2"/>
              </a:solidFill>
            </a:endParaRPr>
          </a:p>
        </p:txBody>
      </p:sp>
      <p:sp>
        <p:nvSpPr>
          <p:cNvPr id="58" name="Google Shape;58;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9" name="Google Shape;59;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0" name="Google Shape;60;p13"/>
          <p:cNvGrpSpPr/>
          <p:nvPr/>
        </p:nvGrpSpPr>
        <p:grpSpPr>
          <a:xfrm>
            <a:off x="4295011" y="932225"/>
            <a:ext cx="1732451" cy="1303650"/>
            <a:chOff x="3690303" y="1648551"/>
            <a:chExt cx="3784297" cy="2847019"/>
          </a:xfrm>
        </p:grpSpPr>
        <p:pic>
          <p:nvPicPr>
            <p:cNvPr id="61" name="Google Shape;61;p13"/>
            <p:cNvPicPr preferRelativeResize="0"/>
            <p:nvPr/>
          </p:nvPicPr>
          <p:blipFill rotWithShape="1">
            <a:blip r:embed="rId4">
              <a:alphaModFix/>
            </a:blip>
            <a:srcRect b="10385" l="7083" r="36614" t="1001"/>
            <a:stretch/>
          </p:blipFill>
          <p:spPr>
            <a:xfrm>
              <a:off x="3690303" y="1648551"/>
              <a:ext cx="3022881" cy="2847019"/>
            </a:xfrm>
            <a:prstGeom prst="rect">
              <a:avLst/>
            </a:prstGeom>
            <a:noFill/>
            <a:ln>
              <a:noFill/>
            </a:ln>
          </p:spPr>
        </p:pic>
        <p:pic>
          <p:nvPicPr>
            <p:cNvPr id="62" name="Google Shape;62;p13"/>
            <p:cNvPicPr preferRelativeResize="0"/>
            <p:nvPr/>
          </p:nvPicPr>
          <p:blipFill rotWithShape="1">
            <a:blip r:embed="rId4">
              <a:alphaModFix/>
            </a:blip>
            <a:srcRect b="10385" l="75216" r="9076" t="1001"/>
            <a:stretch/>
          </p:blipFill>
          <p:spPr>
            <a:xfrm>
              <a:off x="6631219" y="1648552"/>
              <a:ext cx="843381" cy="2847019"/>
            </a:xfrm>
            <a:prstGeom prst="rect">
              <a:avLst/>
            </a:prstGeom>
            <a:noFill/>
            <a:ln>
              <a:noFill/>
            </a:ln>
          </p:spPr>
        </p:pic>
      </p:grpSp>
      <p:pic>
        <p:nvPicPr>
          <p:cNvPr id="63" name="Google Shape;63;p13"/>
          <p:cNvPicPr preferRelativeResize="0"/>
          <p:nvPr/>
        </p:nvPicPr>
        <p:blipFill rotWithShape="1">
          <a:blip r:embed="rId4">
            <a:alphaModFix/>
          </a:blip>
          <a:srcRect b="38424" l="615" r="95941" t="30972"/>
          <a:stretch/>
        </p:blipFill>
        <p:spPr>
          <a:xfrm>
            <a:off x="4189324" y="1298175"/>
            <a:ext cx="97725" cy="519900"/>
          </a:xfrm>
          <a:prstGeom prst="rect">
            <a:avLst/>
          </a:prstGeom>
          <a:noFill/>
          <a:ln>
            <a:noFill/>
          </a:ln>
        </p:spPr>
      </p:pic>
      <p:pic>
        <p:nvPicPr>
          <p:cNvPr id="64" name="Google Shape;64;p13"/>
          <p:cNvPicPr preferRelativeResize="0"/>
          <p:nvPr/>
        </p:nvPicPr>
        <p:blipFill rotWithShape="1">
          <a:blip r:embed="rId4">
            <a:alphaModFix/>
          </a:blip>
          <a:srcRect b="29266" l="77745" r="9667" t="25114"/>
          <a:stretch/>
        </p:blipFill>
        <p:spPr>
          <a:xfrm>
            <a:off x="5697425" y="1173025"/>
            <a:ext cx="397401" cy="861900"/>
          </a:xfrm>
          <a:prstGeom prst="rect">
            <a:avLst/>
          </a:prstGeom>
          <a:noFill/>
          <a:ln>
            <a:noFill/>
          </a:ln>
        </p:spPr>
      </p:pic>
      <p:pic>
        <p:nvPicPr>
          <p:cNvPr id="65" name="Google Shape;65;p13"/>
          <p:cNvPicPr preferRelativeResize="0"/>
          <p:nvPr/>
        </p:nvPicPr>
        <p:blipFill rotWithShape="1">
          <a:blip r:embed="rId5">
            <a:alphaModFix/>
          </a:blip>
          <a:srcRect b="0" l="367" r="81635" t="0"/>
          <a:stretch/>
        </p:blipFill>
        <p:spPr>
          <a:xfrm>
            <a:off x="4160115" y="2620875"/>
            <a:ext cx="286475" cy="902375"/>
          </a:xfrm>
          <a:prstGeom prst="rect">
            <a:avLst/>
          </a:prstGeom>
          <a:noFill/>
          <a:ln>
            <a:noFill/>
          </a:ln>
        </p:spPr>
      </p:pic>
      <p:sp>
        <p:nvSpPr>
          <p:cNvPr id="66" name="Google Shape;66;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7" name="Google Shape;67;p13"/>
          <p:cNvPicPr preferRelativeResize="0"/>
          <p:nvPr/>
        </p:nvPicPr>
        <p:blipFill>
          <a:blip r:embed="rId6">
            <a:alphaModFix/>
          </a:blip>
          <a:stretch>
            <a:fillRect/>
          </a:stretch>
        </p:blipFill>
        <p:spPr>
          <a:xfrm>
            <a:off x="4441098" y="2624331"/>
            <a:ext cx="1593144" cy="902375"/>
          </a:xfrm>
          <a:prstGeom prst="rect">
            <a:avLst/>
          </a:prstGeom>
          <a:noFill/>
          <a:ln>
            <a:noFill/>
          </a:ln>
        </p:spPr>
      </p:pic>
      <p:cxnSp>
        <p:nvCxnSpPr>
          <p:cNvPr id="68" name="Google Shape;68;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4" name="Google Shape;74;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5" name="Google Shape;75;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6" name="Google Shape;76;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7" name="Google Shape;77;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8" name="Google Shape;78;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79" name="Google Shape;79;p14"/>
          <p:cNvSpPr txBox="1"/>
          <p:nvPr/>
        </p:nvSpPr>
        <p:spPr>
          <a:xfrm>
            <a:off x="223475" y="4280475"/>
            <a:ext cx="89205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5" name="Google Shape;85;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6" name="Google Shape;86;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7" name="Google Shape;87;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8" name="Google Shape;88;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9" name="Google Shape;89;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
        <p:nvSpPr>
          <p:cNvPr id="90" name="Google Shape;90;p15"/>
          <p:cNvSpPr txBox="1"/>
          <p:nvPr/>
        </p:nvSpPr>
        <p:spPr>
          <a:xfrm>
            <a:off x="724925" y="2676825"/>
            <a:ext cx="3000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incorporación de librería al plásmido</a:t>
            </a:r>
            <a:endParaRPr b="1" sz="1000">
              <a:solidFill>
                <a:schemeClr val="dk2"/>
              </a:solidFill>
            </a:endParaRPr>
          </a:p>
          <a:p>
            <a:pPr indent="0" lvl="0" marL="0" rtl="0" algn="l">
              <a:spcBef>
                <a:spcPts val="0"/>
              </a:spcBef>
              <a:spcAft>
                <a:spcPts val="0"/>
              </a:spcAft>
              <a:buNone/>
            </a:pPr>
            <a:r>
              <a:rPr lang="es-419" sz="1000">
                <a:solidFill>
                  <a:schemeClr val="dk2"/>
                </a:solidFill>
              </a:rPr>
              <a:t>PCR de punto final para visualizar la correcta incorporación de la librería (~300pb) en el plásmido backbone y la ausencia del original promotor CMV. (~700pb)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96" name="Google Shape;9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102" name="Google Shape;102;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103" name="Google Shape;103;p17"/>
          <p:cNvSpPr txBox="1"/>
          <p:nvPr/>
        </p:nvSpPr>
        <p:spPr>
          <a:xfrm>
            <a:off x="0" y="0"/>
            <a:ext cx="9144000" cy="1200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library de promotores ("library 1").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104" name="Google Shape;104;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5" name="Google Shape;105;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8"/>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es-419" sz="1200">
                <a:solidFill>
                  <a:schemeClr val="dk2"/>
                </a:solidFill>
              </a:rPr>
              <a:t>Los niveles de ARN del reportero son consistentes con la fluorescencia de EGFP</a:t>
            </a:r>
            <a:r>
              <a:rPr lang="es-419" sz="1200">
                <a:solidFill>
                  <a:schemeClr val="dk2"/>
                </a:solidFill>
              </a:rPr>
              <a:t>. Cuantificación por RT-qPCR del ARNm de EGFP en cada réplica. Cada punto representa una réplica técnica de la qPCR. </a:t>
            </a:r>
            <a:endParaRPr sz="1800">
              <a:solidFill>
                <a:schemeClr val="dk2"/>
              </a:solidFill>
            </a:endParaRPr>
          </a:p>
          <a:p>
            <a:pPr indent="0" lvl="0" marL="0" rtl="0" algn="l">
              <a:spcBef>
                <a:spcPts val="1200"/>
              </a:spcBef>
              <a:spcAft>
                <a:spcPts val="0"/>
              </a:spcAft>
              <a:buNone/>
            </a:pPr>
            <a:r>
              <a:t/>
            </a:r>
            <a:endParaRPr sz="1800">
              <a:solidFill>
                <a:schemeClr val="dk2"/>
              </a:solidFill>
            </a:endParaRPr>
          </a:p>
        </p:txBody>
      </p:sp>
      <p:pic>
        <p:nvPicPr>
          <p:cNvPr id="111" name="Google Shape;111;p18"/>
          <p:cNvPicPr preferRelativeResize="0"/>
          <p:nvPr/>
        </p:nvPicPr>
        <p:blipFill>
          <a:blip r:embed="rId4">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9"/>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(Fracciones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pic>
        <p:nvPicPr>
          <p:cNvPr id="117" name="Google Shape;117;p19"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23" name="Google Shape;123;p20"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24" name="Google Shape;124;p20"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25" name="Google Shape;125;p20"/>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21"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31" name="Google Shape;131;p21"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32" name="Google Shape;132;p21"/>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cxnSp>
        <p:nvCxnSpPr>
          <p:cNvPr id="137" name="Google Shape;137;p22"/>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38" name="Google Shape;138;p22"/>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9" name="Google Shape;139;p22"/>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40" name="Google Shape;140;p22"/>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41" name="Google Shape;141;p22"/>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42" name="Google Shape;142;p22"/>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43" name="Google Shape;143;p22"/>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44" name="Google Shape;144;p22"/>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5" name="Google Shape;145;p22"/>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6" name="Google Shape;146;p22"/>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47" name="Google Shape;147;p22"/>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48" name="Google Shape;148;p22"/>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9" name="Google Shape;149;p22"/>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50" name="Google Shape;150;p22"/>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51" name="Google Shape;151;p22"/>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52" name="Google Shape;152;p22"/>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53" name="Google Shape;153;p22"/>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54" name="Google Shape;154;p22"/>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55" name="Google Shape;155;p22"/>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6" name="Google Shape;156;p22"/>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7" name="Google Shape;157;p22"/>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58" name="Google Shape;158;p22"/>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59" name="Google Shape;159;p22"/>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60" name="Google Shape;160;p22"/>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61" name="Google Shape;161;p22"/>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62" name="Google Shape;162;p22"/>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63" name="Google Shape;163;p22"/>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64" name="Google Shape;164;p22"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65" name="Google Shape;165;p22"/>
          <p:cNvSpPr txBox="1"/>
          <p:nvPr/>
        </p:nvSpPr>
        <p:spPr>
          <a:xfrm>
            <a:off x="7918675" y="21887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66" name="Google Shape;166;p22"/>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3"/>
          <p:cNvSpPr txBox="1"/>
          <p:nvPr/>
        </p:nvSpPr>
        <p:spPr>
          <a:xfrm>
            <a:off x="5338075" y="4180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72" name="Google Shape;172;p23" title="lib_gc.jpg"/>
          <p:cNvPicPr preferRelativeResize="0"/>
          <p:nvPr/>
        </p:nvPicPr>
        <p:blipFill>
          <a:blip r:embed="rId3">
            <a:alphaModFix/>
          </a:blip>
          <a:stretch>
            <a:fillRect/>
          </a:stretch>
        </p:blipFill>
        <p:spPr>
          <a:xfrm>
            <a:off x="0" y="2962643"/>
            <a:ext cx="2608799" cy="1956607"/>
          </a:xfrm>
          <a:prstGeom prst="rect">
            <a:avLst/>
          </a:prstGeom>
          <a:noFill/>
          <a:ln>
            <a:noFill/>
          </a:ln>
        </p:spPr>
      </p:pic>
      <p:pic>
        <p:nvPicPr>
          <p:cNvPr id="173" name="Google Shape;173;p23" title="lib_epd_motif.jpg"/>
          <p:cNvPicPr preferRelativeResize="0"/>
          <p:nvPr/>
        </p:nvPicPr>
        <p:blipFill>
          <a:blip r:embed="rId4">
            <a:alphaModFix/>
          </a:blip>
          <a:stretch>
            <a:fillRect/>
          </a:stretch>
        </p:blipFill>
        <p:spPr>
          <a:xfrm>
            <a:off x="2" y="812699"/>
            <a:ext cx="2608799" cy="1956599"/>
          </a:xfrm>
          <a:prstGeom prst="rect">
            <a:avLst/>
          </a:prstGeom>
          <a:noFill/>
          <a:ln>
            <a:noFill/>
          </a:ln>
        </p:spPr>
      </p:pic>
      <p:pic>
        <p:nvPicPr>
          <p:cNvPr id="174" name="Google Shape;174;p23" title="lib_cpg.jpg"/>
          <p:cNvPicPr preferRelativeResize="0"/>
          <p:nvPr/>
        </p:nvPicPr>
        <p:blipFill>
          <a:blip r:embed="rId5">
            <a:alphaModFix/>
          </a:blip>
          <a:stretch>
            <a:fillRect/>
          </a:stretch>
        </p:blipFill>
        <p:spPr>
          <a:xfrm>
            <a:off x="2538000" y="759600"/>
            <a:ext cx="893201" cy="2009701"/>
          </a:xfrm>
          <a:prstGeom prst="rect">
            <a:avLst/>
          </a:prstGeom>
          <a:noFill/>
          <a:ln>
            <a:noFill/>
          </a:ln>
        </p:spPr>
      </p:pic>
      <p:pic>
        <p:nvPicPr>
          <p:cNvPr id="175" name="Google Shape;175;p23" title="lib_tss_motif.jpg"/>
          <p:cNvPicPr preferRelativeResize="0"/>
          <p:nvPr/>
        </p:nvPicPr>
        <p:blipFill>
          <a:blip r:embed="rId6">
            <a:alphaModFix/>
          </a:blip>
          <a:stretch>
            <a:fillRect/>
          </a:stretch>
        </p:blipFill>
        <p:spPr>
          <a:xfrm>
            <a:off x="2538001" y="2769299"/>
            <a:ext cx="2866601" cy="214995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pic>
        <p:nvPicPr>
          <p:cNvPr id="180" name="Google Shape;180;p24"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81" name="Google Shape;181;p24"/>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82" name="Google Shape;182;p24"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83" name="Google Shape;183;p24"/>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84" name="Google Shape;184;p24"/>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85" name="Google Shape;185;p24"/>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id="190" name="Google Shape;190;p25" title="shape_especificidad_tisular.jpg"/>
          <p:cNvPicPr preferRelativeResize="0"/>
          <p:nvPr/>
        </p:nvPicPr>
        <p:blipFill>
          <a:blip r:embed="rId3">
            <a:alphaModFix/>
          </a:blip>
          <a:stretch>
            <a:fillRect/>
          </a:stretch>
        </p:blipFill>
        <p:spPr>
          <a:xfrm>
            <a:off x="271600" y="113528"/>
            <a:ext cx="8739174" cy="3746597"/>
          </a:xfrm>
          <a:prstGeom prst="rect">
            <a:avLst/>
          </a:prstGeom>
          <a:noFill/>
          <a:ln>
            <a:noFill/>
          </a:ln>
        </p:spPr>
      </p:pic>
      <p:sp>
        <p:nvSpPr>
          <p:cNvPr id="191" name="Google Shape;191;p25"/>
          <p:cNvSpPr txBox="1"/>
          <p:nvPr/>
        </p:nvSpPr>
        <p:spPr>
          <a:xfrm>
            <a:off x="463225" y="4345400"/>
            <a:ext cx="5775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eventualmente podria agregar un diagrama para mostrar mas claro que es shape. o un heatmap de los ontology con algunos promotores </a:t>
            </a:r>
            <a:r>
              <a:rPr lang="es-419" sz="1800">
                <a:solidFill>
                  <a:schemeClr val="dk2"/>
                </a:solidFill>
              </a:rPr>
              <a:t>para</a:t>
            </a:r>
            <a:r>
              <a:rPr lang="es-419" sz="1800">
                <a:solidFill>
                  <a:schemeClr val="dk2"/>
                </a:solidFill>
              </a:rPr>
              <a:t> mostrar tissue specificity</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pic>
        <p:nvPicPr>
          <p:cNvPr id="196" name="Google Shape;196;p26" title="cooccurrence_jaccard.jpg"/>
          <p:cNvPicPr preferRelativeResize="0"/>
          <p:nvPr/>
        </p:nvPicPr>
        <p:blipFill>
          <a:blip r:embed="rId3">
            <a:alphaModFix/>
          </a:blip>
          <a:stretch>
            <a:fillRect/>
          </a:stretch>
        </p:blipFill>
        <p:spPr>
          <a:xfrm>
            <a:off x="0" y="0"/>
            <a:ext cx="4216402" cy="3162301"/>
          </a:xfrm>
          <a:prstGeom prst="rect">
            <a:avLst/>
          </a:prstGeom>
          <a:noFill/>
          <a:ln>
            <a:noFill/>
          </a:ln>
        </p:spPr>
      </p:pic>
      <p:pic>
        <p:nvPicPr>
          <p:cNvPr id="197" name="Google Shape;197;p26" title="cooccurrence_phi_signif.jpg"/>
          <p:cNvPicPr preferRelativeResize="0"/>
          <p:nvPr/>
        </p:nvPicPr>
        <p:blipFill>
          <a:blip r:embed="rId4">
            <a:alphaModFix/>
          </a:blip>
          <a:stretch>
            <a:fillRect/>
          </a:stretch>
        </p:blipFill>
        <p:spPr>
          <a:xfrm>
            <a:off x="4216400" y="0"/>
            <a:ext cx="4128973" cy="3096726"/>
          </a:xfrm>
          <a:prstGeom prst="rect">
            <a:avLst/>
          </a:prstGeom>
          <a:noFill/>
          <a:ln>
            <a:noFill/>
          </a:ln>
        </p:spPr>
      </p:pic>
      <p:sp>
        <p:nvSpPr>
          <p:cNvPr id="198" name="Google Shape;198;p26"/>
          <p:cNvSpPr txBox="1"/>
          <p:nvPr/>
        </p:nvSpPr>
        <p:spPr>
          <a:xfrm>
            <a:off x="5240575" y="3190875"/>
            <a:ext cx="3918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creo que deberia elegir uno</a:t>
            </a:r>
            <a:endParaRPr sz="18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cxnSp>
        <p:nvCxnSpPr>
          <p:cNvPr id="203" name="Google Shape;203;p27"/>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04" name="Google Shape;204;p27"/>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05" name="Google Shape;205;p27"/>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06" name="Google Shape;206;p27"/>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07" name="Google Shape;207;p27"/>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08" name="Google Shape;208;p27"/>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09" name="Google Shape;209;p27"/>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0" name="Google Shape;210;p27"/>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11" name="Google Shape;211;p27"/>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2" name="Google Shape;212;p27"/>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13" name="Google Shape;213;p27"/>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4" name="Google Shape;214;p27"/>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5" name="Google Shape;215;p27"/>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16" name="Google Shape;216;p27"/>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17" name="Google Shape;217;p27"/>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M15. 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18" name="Google Shape;218;p27"/>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19" name="Google Shape;219;p27"/>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