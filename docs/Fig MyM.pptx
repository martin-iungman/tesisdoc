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4.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4"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3-09T20:27:41.679">
    <p:pos x="441" y="316"/>
    <p:text>cambiar de color...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20T16:29:37.389">
    <p:pos x="3019" y="1276"/>
    <p:text>agrandar texto</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20T17:42:51.512">
    <p:pos x="3064" y="351"/>
    <p:text>actualizar</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3T19:36:37.538">
    <p:pos x="714" y="96"/>
    <p:text>eliminar una de las leyendas de Base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 name="Google Shape;129;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h583038cfc21dcb3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h583038cfc21dcb3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h2f3664efa2367f3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h2f3664efa2367f3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8.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6.jpg"/><Relationship Id="rId4" Type="http://schemas.openxmlformats.org/officeDocument/2006/relationships/image" Target="../media/image9.jpg"/><Relationship Id="rId5"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omments" Target="../comments/comment1.xml"/><Relationship Id="rId4" Type="http://schemas.openxmlformats.org/officeDocument/2006/relationships/image" Target="../media/image24.jpg"/><Relationship Id="rId5"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17.jp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1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comments" Target="../comments/comment4.xml"/><Relationship Id="rId4" Type="http://schemas.openxmlformats.org/officeDocument/2006/relationships/image" Target="../media/image2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2.jpg"/><Relationship Id="rId4" Type="http://schemas.openxmlformats.org/officeDocument/2006/relationships/image" Target="../media/image2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a:t>
            </a:r>
            <a:r>
              <a:rPr lang="es-419" sz="1100">
                <a:solidFill>
                  <a:schemeClr val="dk1"/>
                </a:solidFill>
              </a:rPr>
              <a:t>transcripcional</a:t>
            </a:r>
            <a:r>
              <a:rPr lang="es-419" sz="1100">
                <a:solidFill>
                  <a:schemeClr val="dk1"/>
                </a:solidFill>
              </a:rPr>
              <a:t>. La figura fue generada con la asistencia de BioRender.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03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a:t>
            </a:r>
            <a:r>
              <a:rPr i="1" lang="es-419" sz="1100">
                <a:solidFill>
                  <a:schemeClr val="dk1"/>
                </a:solidFill>
              </a:rPr>
              <a:t>library </a:t>
            </a:r>
            <a:r>
              <a:rPr lang="es-419" sz="1100">
                <a:solidFill>
                  <a:schemeClr val="dk1"/>
                </a:solidFill>
              </a:rPr>
              <a:t>de promotores.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1" name="Google Shape;111;p18"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17" name="Google Shape;117;p19"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18" name="Google Shape;118;p19"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19" name="Google Shape;119;p19"/>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0"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25" name="Google Shape;125;p20"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26" name="Google Shape;126;p20"/>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cxnSp>
        <p:nvCxnSpPr>
          <p:cNvPr id="131" name="Google Shape;131;p21"/>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2" name="Google Shape;132;p21"/>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3" name="Google Shape;133;p21"/>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34" name="Google Shape;134;p21"/>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35" name="Google Shape;135;p21"/>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36" name="Google Shape;136;p21"/>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37" name="Google Shape;137;p21"/>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38" name="Google Shape;138;p21"/>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39" name="Google Shape;139;p21"/>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0" name="Google Shape;140;p21"/>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1" name="Google Shape;141;p21"/>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2" name="Google Shape;142;p21"/>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3" name="Google Shape;143;p21"/>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4" name="Google Shape;144;p21"/>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5" name="Google Shape;145;p21"/>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46" name="Google Shape;146;p21"/>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47" name="Google Shape;147;p21"/>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48" name="Google Shape;148;p21"/>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9" name="Google Shape;149;p21"/>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0" name="Google Shape;150;p21"/>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1" name="Google Shape;151;p21"/>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2" name="Google Shape;152;p21"/>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3" name="Google Shape;153;p21"/>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54" name="Google Shape;154;p21"/>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55" name="Google Shape;155;p21"/>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56" name="Google Shape;156;p21"/>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57" name="Google Shape;157;p21"/>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58" name="Google Shape;158;p21"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59" name="Google Shape;159;p21"/>
          <p:cNvSpPr txBox="1"/>
          <p:nvPr/>
        </p:nvSpPr>
        <p:spPr>
          <a:xfrm>
            <a:off x="7962700" y="267162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0" name="Google Shape;160;p21"/>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2"/>
          <p:cNvSpPr txBox="1"/>
          <p:nvPr/>
        </p:nvSpPr>
        <p:spPr>
          <a:xfrm>
            <a:off x="4865625" y="5578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66" name="Google Shape;166;p22" title="composicion_secuencia_library.jpg"/>
          <p:cNvPicPr preferRelativeResize="0"/>
          <p:nvPr/>
        </p:nvPicPr>
        <p:blipFill>
          <a:blip r:embed="rId4">
            <a:alphaModFix/>
          </a:blip>
          <a:stretch>
            <a:fillRect/>
          </a:stretch>
        </p:blipFill>
        <p:spPr>
          <a:xfrm>
            <a:off x="152400" y="152400"/>
            <a:ext cx="3763697" cy="4838702"/>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3" title="panel_d_perfil_nucleotidos.jpg"/>
          <p:cNvPicPr preferRelativeResize="0"/>
          <p:nvPr/>
        </p:nvPicPr>
        <p:blipFill>
          <a:blip r:embed="rId4">
            <a:alphaModFix/>
          </a:blip>
          <a:stretch>
            <a:fillRect/>
          </a:stretch>
        </p:blipFill>
        <p:spPr>
          <a:xfrm>
            <a:off x="1133725" y="152400"/>
            <a:ext cx="4544425" cy="3246324"/>
          </a:xfrm>
          <a:prstGeom prst="rect">
            <a:avLst/>
          </a:prstGeom>
          <a:noFill/>
          <a:ln>
            <a:noFill/>
          </a:ln>
        </p:spPr>
      </p:pic>
      <p:sp>
        <p:nvSpPr>
          <p:cNvPr id="172" name="Google Shape;172;p23"/>
          <p:cNvSpPr txBox="1"/>
          <p:nvPr/>
        </p:nvSpPr>
        <p:spPr>
          <a:xfrm>
            <a:off x="6144000" y="2342100"/>
            <a:ext cx="30000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1"/>
                </a:solidFill>
              </a:rPr>
              <a:t>Fig. M12 – Perfil de frecuencias nucleotídicas de los promotores de la </a:t>
            </a:r>
            <a:r>
              <a:rPr b="1" i="1" lang="es-419" sz="1000">
                <a:solidFill>
                  <a:schemeClr val="dk1"/>
                </a:solidFill>
              </a:rPr>
              <a:t>library</a:t>
            </a:r>
            <a:r>
              <a:rPr b="1" lang="es-419" sz="1000">
                <a:solidFill>
                  <a:schemeClr val="dk1"/>
                </a:solidFill>
              </a:rPr>
              <a:t>.</a:t>
            </a:r>
            <a:r>
              <a:rPr lang="es-419" sz="1000">
                <a:solidFill>
                  <a:schemeClr val="dk1"/>
                </a:solidFill>
              </a:rPr>
              <a:t> Frecuencia de cada nucleótido (A, C, G, T) en cada posición respecto del TSS anotado en EPD (posición 0), calculada sobre todos los promotores de la </a:t>
            </a:r>
            <a:r>
              <a:rPr i="1" lang="es-419" sz="1000">
                <a:solidFill>
                  <a:schemeClr val="dk1"/>
                </a:solidFill>
              </a:rPr>
              <a:t>library</a:t>
            </a:r>
            <a:r>
              <a:rPr lang="es-419" sz="1000">
                <a:solidFill>
                  <a:schemeClr val="dk1"/>
                </a:solidFill>
              </a:rPr>
              <a:t> y, por separado, sobre los promotores con y sin isla CpG. La fila superior muestra el perfil a lo largo de todo el fragmento (−236 a +15 pb) y la fila central, una ampliación de la región comprendida entre −50 y +15 pb. La fila inferior muestra la frecuencia observada del dinucleótido CpG en cada posición (línea continua) y la esperada según la frecuencia de C en esa posición y de G en la siguiente (línea punteada). En todos los paneles, la línea vertical punteada marca el TSS y la banda gris indica la ventana canónica de la TATA-box (−31 a −26 pb). </a:t>
            </a:r>
            <a:endParaRPr sz="10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pic>
        <p:nvPicPr>
          <p:cNvPr id="177" name="Google Shape;177;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78" name="Google Shape;178;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79" name="Google Shape;179;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0" name="Google Shape;180;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1" name="Google Shape;181;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2" name="Google Shape;182;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pic>
        <p:nvPicPr>
          <p:cNvPr id="187" name="Google Shape;187;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88" name="Google Shape;188;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6"/>
          <p:cNvSpPr txBox="1"/>
          <p:nvPr/>
        </p:nvSpPr>
        <p:spPr>
          <a:xfrm>
            <a:off x="6144000" y="0"/>
            <a:ext cx="30000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M14. Orientación transcripcional del promotor, a partir de PRO-cap en HEK293.</a:t>
            </a:r>
            <a:endParaRPr b="1" sz="1100">
              <a:solidFill>
                <a:schemeClr val="dk1"/>
              </a:solidFill>
            </a:endParaRPr>
          </a:p>
          <a:p>
            <a:pPr indent="0" lvl="0" marL="0" rtl="0" algn="l">
              <a:spcBef>
                <a:spcPts val="0"/>
              </a:spcBef>
              <a:spcAft>
                <a:spcPts val="0"/>
              </a:spcAft>
              <a:buNone/>
            </a:pPr>
            <a:r>
              <a:rPr lang="es-419" sz="1100">
                <a:solidFill>
                  <a:schemeClr val="dk1"/>
                </a:solidFill>
              </a:rPr>
              <a:t>Se calculó el Orientation Index para cada uno de los 20.851 promotores de la library. </a:t>
            </a:r>
            <a:r>
              <a:rPr b="1" lang="es-419" sz="1100">
                <a:solidFill>
                  <a:schemeClr val="dk1"/>
                </a:solidFill>
              </a:rPr>
              <a:t>A.</a:t>
            </a:r>
            <a:r>
              <a:rPr lang="es-419" sz="1100">
                <a:solidFill>
                  <a:schemeClr val="dk1"/>
                </a:solidFill>
              </a:rPr>
              <a:t> Histograma de la señal </a:t>
            </a:r>
            <a:r>
              <a:rPr i="1" lang="es-419" sz="1100">
                <a:solidFill>
                  <a:schemeClr val="dk1"/>
                </a:solidFill>
              </a:rPr>
              <a:t>sense</a:t>
            </a:r>
            <a:r>
              <a:rPr lang="es-419" sz="1100">
                <a:solidFill>
                  <a:schemeClr val="dk1"/>
                </a:solidFill>
              </a:rPr>
              <a:t>, usado para justificar el umbral de señal mínima por debajo del cual un promotor no se clasifica. </a:t>
            </a:r>
            <a:r>
              <a:rPr b="1" lang="es-419" sz="1100">
                <a:solidFill>
                  <a:schemeClr val="dk1"/>
                </a:solidFill>
              </a:rPr>
              <a:t>B.</a:t>
            </a:r>
            <a:r>
              <a:rPr lang="es-419" sz="1100">
                <a:solidFill>
                  <a:schemeClr val="dk1"/>
                </a:solidFill>
              </a:rPr>
              <a:t> Histograma del OI para los promotores con señal suficiente, con el umbral (OI≥0,9) usado para clasificarlos como unidireccionales. </a:t>
            </a:r>
            <a:r>
              <a:rPr b="1" lang="es-419" sz="1100">
                <a:solidFill>
                  <a:schemeClr val="dk1"/>
                </a:solidFill>
              </a:rPr>
              <a:t>C.</a:t>
            </a:r>
            <a:r>
              <a:rPr lang="es-419" sz="1100">
                <a:solidFill>
                  <a:schemeClr val="dk1"/>
                </a:solidFill>
              </a:rPr>
              <a:t> Proporción de promotores en cada clase de orientación. </a:t>
            </a:r>
            <a:r>
              <a:rPr b="1" lang="es-419" sz="1100">
                <a:solidFill>
                  <a:schemeClr val="dk1"/>
                </a:solidFill>
              </a:rPr>
              <a:t>D.</a:t>
            </a:r>
            <a:r>
              <a:rPr lang="es-419" sz="1100">
                <a:solidFill>
                  <a:schemeClr val="dk1"/>
                </a:solidFill>
              </a:rPr>
              <a:t> Metaplot de señal media de PRO-cap (sentido/antisentido) alrededor del TSS, separado en paneles por clase de orientación — la validación de que la clasificación por OI efectivamente captura una diferencia real en el perfil de señal. </a:t>
            </a:r>
            <a:endParaRPr/>
          </a:p>
        </p:txBody>
      </p:sp>
      <p:pic>
        <p:nvPicPr>
          <p:cNvPr id="194" name="Google Shape;194;p26"/>
          <p:cNvPicPr preferRelativeResize="0"/>
          <p:nvPr/>
        </p:nvPicPr>
        <p:blipFill>
          <a:blip r:embed="rId3">
            <a:alphaModFix/>
          </a:blip>
          <a:stretch>
            <a:fillRect/>
          </a:stretch>
        </p:blipFill>
        <p:spPr>
          <a:xfrm>
            <a:off x="152400" y="152400"/>
            <a:ext cx="5839201" cy="37549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pic>
        <p:nvPicPr>
          <p:cNvPr id="199" name="Google Shape;199;p27"/>
          <p:cNvPicPr preferRelativeResize="0"/>
          <p:nvPr/>
        </p:nvPicPr>
        <p:blipFill>
          <a:blip r:embed="rId3">
            <a:alphaModFix/>
          </a:blip>
          <a:stretch>
            <a:fillRect/>
          </a:stretch>
        </p:blipFill>
        <p:spPr>
          <a:xfrm>
            <a:off x="5668093" y="1848800"/>
            <a:ext cx="3965501" cy="2974126"/>
          </a:xfrm>
          <a:prstGeom prst="rect">
            <a:avLst/>
          </a:prstGeom>
          <a:noFill/>
          <a:ln>
            <a:noFill/>
          </a:ln>
        </p:spPr>
      </p:pic>
      <p:pic>
        <p:nvPicPr>
          <p:cNvPr id="200" name="Google Shape;200;p27"/>
          <p:cNvPicPr preferRelativeResize="0"/>
          <p:nvPr/>
        </p:nvPicPr>
        <p:blipFill rotWithShape="1">
          <a:blip r:embed="rId4">
            <a:alphaModFix/>
          </a:blip>
          <a:srcRect b="0" l="7072" r="0" t="0"/>
          <a:stretch/>
        </p:blipFill>
        <p:spPr>
          <a:xfrm>
            <a:off x="2447750" y="1848800"/>
            <a:ext cx="3965501" cy="3200402"/>
          </a:xfrm>
          <a:prstGeom prst="rect">
            <a:avLst/>
          </a:prstGeom>
          <a:noFill/>
          <a:ln>
            <a:noFill/>
          </a:ln>
        </p:spPr>
      </p:pic>
      <p:pic>
        <p:nvPicPr>
          <p:cNvPr id="201" name="Google Shape;201;p27"/>
          <p:cNvPicPr preferRelativeResize="0"/>
          <p:nvPr/>
        </p:nvPicPr>
        <p:blipFill>
          <a:blip r:embed="rId5">
            <a:alphaModFix/>
          </a:blip>
          <a:stretch>
            <a:fillRect/>
          </a:stretch>
        </p:blipFill>
        <p:spPr>
          <a:xfrm>
            <a:off x="0" y="1848801"/>
            <a:ext cx="2384673" cy="3200399"/>
          </a:xfrm>
          <a:prstGeom prst="rect">
            <a:avLst/>
          </a:prstGeom>
          <a:noFill/>
          <a:ln>
            <a:noFill/>
          </a:ln>
        </p:spPr>
      </p:pic>
      <p:sp>
        <p:nvSpPr>
          <p:cNvPr id="202" name="Google Shape;202;p27"/>
          <p:cNvSpPr txBox="1"/>
          <p:nvPr/>
        </p:nvSpPr>
        <p:spPr>
          <a:xfrm>
            <a:off x="4572000" y="-706375"/>
            <a:ext cx="3000000" cy="1877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Co-ocurrencia entre las características de los promotores basales.</a:t>
            </a:r>
            <a:r>
              <a:rPr lang="es-419" sz="1100">
                <a:solidFill>
                  <a:schemeClr val="dk1"/>
                </a:solidFill>
              </a:rPr>
              <a:t> </a:t>
            </a:r>
            <a:r>
              <a:rPr b="1" lang="es-419" sz="1100">
                <a:solidFill>
                  <a:schemeClr val="dk1"/>
                </a:solidFill>
              </a:rPr>
              <a:t>(A)</a:t>
            </a:r>
            <a:r>
              <a:rPr lang="es-419" sz="1100">
                <a:solidFill>
                  <a:schemeClr val="dk1"/>
                </a:solidFill>
              </a:rPr>
              <a:t> Frecuencia de cada característica (barra oscura) sobre su propio universo no-NA (barra clara). </a:t>
            </a:r>
            <a:r>
              <a:rPr b="1" lang="es-419" sz="1100">
                <a:solidFill>
                  <a:schemeClr val="dk1"/>
                </a:solidFill>
              </a:rPr>
              <a:t>(B)</a:t>
            </a:r>
            <a:r>
              <a:rPr lang="es-419" sz="1100">
                <a:solidFill>
                  <a:schemeClr val="dk1"/>
                </a:solidFill>
              </a:rPr>
              <a:t> Coeficiente phi entre cada par de características. </a:t>
            </a:r>
            <a:r>
              <a:rPr b="1" lang="es-419" sz="1100">
                <a:solidFill>
                  <a:schemeClr val="dk1"/>
                </a:solidFill>
              </a:rPr>
              <a:t>(C)</a:t>
            </a:r>
            <a:r>
              <a:rPr lang="es-419" sz="1100">
                <a:solidFill>
                  <a:schemeClr val="dk1"/>
                </a:solidFill>
              </a:rPr>
              <a:t> log2(enriquecimiento) entre cada par. En B y C, gris = par sin información suficiente para calcular la métrica; el orden de filas/columnas surge de un agrupamiento jerárquico.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cxnSp>
        <p:nvCxnSpPr>
          <p:cNvPr id="207" name="Google Shape;207;p28"/>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08" name="Google Shape;208;p28"/>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09" name="Google Shape;209;p28"/>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10" name="Google Shape;210;p28"/>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11" name="Google Shape;211;p28"/>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12" name="Google Shape;212;p28"/>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13" name="Google Shape;213;p28"/>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4" name="Google Shape;214;p28"/>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5" name="Google Shape;215;p28"/>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6" name="Google Shape;216;p28"/>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17" name="Google Shape;217;p28"/>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8" name="Google Shape;218;p28"/>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19" name="Google Shape;219;p28"/>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20" name="Google Shape;220;p28"/>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21" name="Google Shape;221;p28"/>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22" name="Google Shape;222;p28"/>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23" name="Google Shape;223;p28"/>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