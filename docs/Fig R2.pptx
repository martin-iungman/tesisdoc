
<file path=[Content_Types].xml><?xml version="1.0" encoding="utf-8"?>
<Types xmlns="http://schemas.openxmlformats.org/package/2006/content-types">
  <Default ContentType="image/jpeg" Extension="jpg"/>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f58eefa86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f58eefa86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ha65fb78f090c38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 name="Google Shape;57;ha65fb78f090c38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habefdf5efa44c7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 name="Google Shape;63;habefdf5efa44c7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habefdf5efa44c79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 name="Google Shape;68;habefdf5efa44c79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habefdf5efa44c79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 name="Google Shape;73;habefdf5efa44c79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habefdf5efa44c79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habefdf5efa44c79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h4ebe40c7f8899e75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h4ebe40c7f8899e75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h4ebe40c7f8899e7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h4ebe40c7f8899e7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h1c371980c4f29fb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h1c371980c4f29fb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g3f58eefa86d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 name="Google Shape;99;g3f58eefa86d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h1c371980c4f29fb2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 name="Google Shape;104;h1c371980c4f29fb2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f58eefa86d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f58eefa86d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58eefa86d_0_1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58eefa86d_0_1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58eefa86d_0_1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58eefa86d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14.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6.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9.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jpg"/><Relationship Id="rId4" Type="http://schemas.openxmlformats.org/officeDocument/2006/relationships/image" Target="../media/image2.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3.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8.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8.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2.jpg"/><Relationship Id="rId4" Type="http://schemas.openxmlformats.org/officeDocument/2006/relationships/image" Target="../media/image17.jpg"/><Relationship Id="rId5" Type="http://schemas.openxmlformats.org/officeDocument/2006/relationships/image" Target="../media/image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0.jpg"/><Relationship Id="rId4" Type="http://schemas.openxmlformats.org/officeDocument/2006/relationships/image" Target="../media/image7.jpg"/><Relationship Id="rId5" Type="http://schemas.openxmlformats.org/officeDocument/2006/relationships/image" Target="../media/image3.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cgi_actividad.jpg"/>
          <p:cNvPicPr preferRelativeResize="0"/>
          <p:nvPr/>
        </p:nvPicPr>
        <p:blipFill>
          <a:blip r:embed="rId3">
            <a:alphaModFix/>
          </a:blip>
          <a:stretch>
            <a:fillRect/>
          </a:stretch>
        </p:blipFill>
        <p:spPr>
          <a:xfrm>
            <a:off x="152400" y="152400"/>
            <a:ext cx="2944824" cy="24545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 name="Shape 58"/>
        <p:cNvGrpSpPr/>
        <p:nvPr/>
      </p:nvGrpSpPr>
      <p:grpSpPr>
        <a:xfrm>
          <a:off x="0" y="0"/>
          <a:ext cx="0" cy="0"/>
          <a:chOff x="0" y="0"/>
          <a:chExt cx="0" cy="0"/>
        </a:xfrm>
      </p:grpSpPr>
      <p:sp>
        <p:nvSpPr>
          <p:cNvPr id="59" name="Google Shape;59;p14"/>
          <p:cNvSpPr txBox="1"/>
          <p:nvPr/>
        </p:nvSpPr>
        <p:spPr>
          <a:xfrm>
            <a:off x="96450" y="3182550"/>
            <a:ext cx="6083700" cy="1400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b="1" lang="es-419" sz="1000">
                <a:solidFill>
                  <a:schemeClr val="dk1"/>
                </a:solidFill>
              </a:rPr>
              <a:t>(A)</a:t>
            </a:r>
            <a:r>
              <a:rPr lang="es-419" sz="1000">
                <a:solidFill>
                  <a:schemeClr val="dk1"/>
                </a:solidFill>
              </a:rPr>
              <a:t> Actividad media en función de la razón CpG observado/esperado (o/e) del fragmento, tomada como variable continua. Dentro de cada réplica, los promotores se dividieron en deciles de la razón CpG o/e, y la actividad media se expresó como percentil. Cada punto indica el percentil de actividad promedio del decil, ubicado en la mediana de su razón CpG o/e. Las barras indican el intervalo de confianza del 95%. La línea vertical discontinua marca el umbral de 0,6 usado para definir isla CpG, y la línea horizontal punteada el percentil 50. Se indica el coeficiente de correlación de Spearman (ρ) entre la razón CpG o/e y la actividad media.</a:t>
            </a:r>
            <a:endParaRPr/>
          </a:p>
        </p:txBody>
      </p:sp>
      <p:pic>
        <p:nvPicPr>
          <p:cNvPr id="60" name="Google Shape;60;p14" title="cgi_composicion_deciles.jpg"/>
          <p:cNvPicPr preferRelativeResize="0"/>
          <p:nvPr/>
        </p:nvPicPr>
        <p:blipFill>
          <a:blip r:embed="rId3">
            <a:alphaModFix/>
          </a:blip>
          <a:stretch>
            <a:fillRect/>
          </a:stretch>
        </p:blipFill>
        <p:spPr>
          <a:xfrm>
            <a:off x="6332550" y="152400"/>
            <a:ext cx="2659050" cy="314600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pic>
        <p:nvPicPr>
          <p:cNvPr id="65" name="Google Shape;65;p15" title="tata_actividad.jpg"/>
          <p:cNvPicPr preferRelativeResize="0"/>
          <p:nvPr/>
        </p:nvPicPr>
        <p:blipFill>
          <a:blip r:embed="rId3">
            <a:alphaModFix/>
          </a:blip>
          <a:stretch>
            <a:fillRect/>
          </a:stretch>
        </p:blipFill>
        <p:spPr>
          <a:xfrm>
            <a:off x="152400" y="152400"/>
            <a:ext cx="5805302" cy="4838696"/>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 name="Shape 69"/>
        <p:cNvGrpSpPr/>
        <p:nvPr/>
      </p:nvGrpSpPr>
      <p:grpSpPr>
        <a:xfrm>
          <a:off x="0" y="0"/>
          <a:ext cx="0" cy="0"/>
          <a:chOff x="0" y="0"/>
          <a:chExt cx="0" cy="0"/>
        </a:xfrm>
      </p:grpSpPr>
      <p:pic>
        <p:nvPicPr>
          <p:cNvPr id="70" name="Google Shape;70;p16" title="tata_posicion.jpg"/>
          <p:cNvPicPr preferRelativeResize="0"/>
          <p:nvPr/>
        </p:nvPicPr>
        <p:blipFill>
          <a:blip r:embed="rId3">
            <a:alphaModFix/>
          </a:blip>
          <a:stretch>
            <a:fillRect/>
          </a:stretch>
        </p:blipFill>
        <p:spPr>
          <a:xfrm>
            <a:off x="152400" y="152400"/>
            <a:ext cx="5147873" cy="4838699"/>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pic>
        <p:nvPicPr>
          <p:cNvPr id="75" name="Google Shape;75;p17" title="tata_puntaje_bins.jpg"/>
          <p:cNvPicPr preferRelativeResize="0"/>
          <p:nvPr/>
        </p:nvPicPr>
        <p:blipFill>
          <a:blip r:embed="rId3">
            <a:alphaModFix/>
          </a:blip>
          <a:stretch>
            <a:fillRect/>
          </a:stretch>
        </p:blipFill>
        <p:spPr>
          <a:xfrm>
            <a:off x="1595275" y="1285875"/>
            <a:ext cx="5209027" cy="244172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pic>
        <p:nvPicPr>
          <p:cNvPr id="80" name="Google Shape;80;p18" title="ccaat_gcbox_actividad.jpg"/>
          <p:cNvPicPr preferRelativeResize="0"/>
          <p:nvPr/>
        </p:nvPicPr>
        <p:blipFill>
          <a:blip r:embed="rId3">
            <a:alphaModFix/>
          </a:blip>
          <a:stretch>
            <a:fillRect/>
          </a:stretch>
        </p:blipFill>
        <p:spPr>
          <a:xfrm>
            <a:off x="152400" y="152400"/>
            <a:ext cx="6853156" cy="4838703"/>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pic>
        <p:nvPicPr>
          <p:cNvPr id="85" name="Google Shape;85;p19" title="tss_perfil_efectos_promotor_hl.jpg"/>
          <p:cNvPicPr preferRelativeResize="0"/>
          <p:nvPr/>
        </p:nvPicPr>
        <p:blipFill>
          <a:blip r:embed="rId3">
            <a:alphaModFix/>
          </a:blip>
          <a:stretch>
            <a:fillRect/>
          </a:stretch>
        </p:blipFill>
        <p:spPr>
          <a:xfrm>
            <a:off x="152400" y="152400"/>
            <a:ext cx="8469796" cy="4838702"/>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pic>
        <p:nvPicPr>
          <p:cNvPr id="90" name="Google Shape;90;p20" title="tss_perfil_YR_todos.jpg"/>
          <p:cNvPicPr preferRelativeResize="0"/>
          <p:nvPr/>
        </p:nvPicPr>
        <p:blipFill>
          <a:blip r:embed="rId3">
            <a:alphaModFix/>
          </a:blip>
          <a:stretch>
            <a:fillRect/>
          </a:stretch>
        </p:blipFill>
        <p:spPr>
          <a:xfrm>
            <a:off x="152400" y="3111501"/>
            <a:ext cx="5012301" cy="1879599"/>
          </a:xfrm>
          <a:prstGeom prst="rect">
            <a:avLst/>
          </a:prstGeom>
          <a:noFill/>
          <a:ln>
            <a:noFill/>
          </a:ln>
        </p:spPr>
      </p:pic>
      <p:pic>
        <p:nvPicPr>
          <p:cNvPr id="91" name="Google Shape;91;p20" title="tss_modelo.jpg"/>
          <p:cNvPicPr preferRelativeResize="0"/>
          <p:nvPr/>
        </p:nvPicPr>
        <p:blipFill>
          <a:blip r:embed="rId4">
            <a:alphaModFix/>
          </a:blip>
          <a:stretch>
            <a:fillRect/>
          </a:stretch>
        </p:blipFill>
        <p:spPr>
          <a:xfrm>
            <a:off x="646976" y="609872"/>
            <a:ext cx="3674501" cy="200411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pic>
        <p:nvPicPr>
          <p:cNvPr id="96" name="Google Shape;96;p21" title="motivos_de_novo.jpg"/>
          <p:cNvPicPr preferRelativeResize="0"/>
          <p:nvPr/>
        </p:nvPicPr>
        <p:blipFill>
          <a:blip r:embed="rId3">
            <a:alphaModFix/>
          </a:blip>
          <a:stretch>
            <a:fillRect/>
          </a:stretch>
        </p:blipFill>
        <p:spPr>
          <a:xfrm>
            <a:off x="152400" y="0"/>
            <a:ext cx="3258343" cy="4991099"/>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pic>
        <p:nvPicPr>
          <p:cNvPr id="101" name="Google Shape;101;p22" title="summary_seq.jpg"/>
          <p:cNvPicPr preferRelativeResize="0"/>
          <p:nvPr/>
        </p:nvPicPr>
        <p:blipFill>
          <a:blip r:embed="rId3">
            <a:alphaModFix/>
          </a:blip>
          <a:stretch>
            <a:fillRect/>
          </a:stretch>
        </p:blipFill>
        <p:spPr>
          <a:xfrm>
            <a:off x="152400" y="152400"/>
            <a:ext cx="8839204" cy="4419602"/>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pic>
        <p:nvPicPr>
          <p:cNvPr id="106" name="Google Shape;106;p23" title="aditividad_elementos_promotor.jpg"/>
          <p:cNvPicPr preferRelativeResize="0"/>
          <p:nvPr/>
        </p:nvPicPr>
        <p:blipFill>
          <a:blip r:embed="rId3">
            <a:alphaModFix/>
          </a:blip>
          <a:stretch>
            <a:fillRect/>
          </a:stretch>
        </p:blipFill>
        <p:spPr>
          <a:xfrm>
            <a:off x="3152400" y="152400"/>
            <a:ext cx="5582909" cy="483870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pic>
        <p:nvPicPr>
          <p:cNvPr id="111" name="Google Shape;111;p24" title="summary_features_endogeno.jpg"/>
          <p:cNvPicPr preferRelativeResize="0"/>
          <p:nvPr/>
        </p:nvPicPr>
        <p:blipFill>
          <a:blip r:embed="rId3">
            <a:alphaModFix/>
          </a:blip>
          <a:stretch>
            <a:fillRect/>
          </a:stretch>
        </p:blipFill>
        <p:spPr>
          <a:xfrm>
            <a:off x="152400" y="152400"/>
            <a:ext cx="4214963" cy="4838702"/>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5" title="remap_act.jpg"/>
          <p:cNvPicPr preferRelativeResize="0"/>
          <p:nvPr/>
        </p:nvPicPr>
        <p:blipFill>
          <a:blip r:embed="rId3">
            <a:alphaModFix/>
          </a:blip>
          <a:stretch>
            <a:fillRect/>
          </a:stretch>
        </p:blipFill>
        <p:spPr>
          <a:xfrm>
            <a:off x="184850" y="205750"/>
            <a:ext cx="3154673" cy="2366001"/>
          </a:xfrm>
          <a:prstGeom prst="rect">
            <a:avLst/>
          </a:prstGeom>
          <a:noFill/>
          <a:ln>
            <a:noFill/>
          </a:ln>
        </p:spPr>
      </p:pic>
      <p:pic>
        <p:nvPicPr>
          <p:cNvPr id="117" name="Google Shape;117;p25" title="remap_act_low.jpg"/>
          <p:cNvPicPr preferRelativeResize="0"/>
          <p:nvPr/>
        </p:nvPicPr>
        <p:blipFill>
          <a:blip r:embed="rId4">
            <a:alphaModFix/>
          </a:blip>
          <a:stretch>
            <a:fillRect/>
          </a:stretch>
        </p:blipFill>
        <p:spPr>
          <a:xfrm>
            <a:off x="5159224" y="-52348"/>
            <a:ext cx="2235203" cy="1986362"/>
          </a:xfrm>
          <a:prstGeom prst="rect">
            <a:avLst/>
          </a:prstGeom>
          <a:noFill/>
          <a:ln>
            <a:noFill/>
          </a:ln>
        </p:spPr>
      </p:pic>
      <p:pic>
        <p:nvPicPr>
          <p:cNvPr id="118" name="Google Shape;118;p25" title="GSEA_top_pathway_rep1.jpg"/>
          <p:cNvPicPr preferRelativeResize="0"/>
          <p:nvPr/>
        </p:nvPicPr>
        <p:blipFill>
          <a:blip r:embed="rId5">
            <a:alphaModFix/>
          </a:blip>
          <a:stretch>
            <a:fillRect/>
          </a:stretch>
        </p:blipFill>
        <p:spPr>
          <a:xfrm>
            <a:off x="4744150" y="2046525"/>
            <a:ext cx="3154673" cy="2366001"/>
          </a:xfrm>
          <a:prstGeom prst="rect">
            <a:avLst/>
          </a:prstGeom>
          <a:noFill/>
          <a:ln>
            <a:noFill/>
          </a:ln>
        </p:spPr>
      </p:pic>
      <p:sp>
        <p:nvSpPr>
          <p:cNvPr id="119" name="Google Shape;119;p25"/>
          <p:cNvSpPr txBox="1"/>
          <p:nvPr/>
        </p:nvSpPr>
        <p:spPr>
          <a:xfrm>
            <a:off x="0" y="2809825"/>
            <a:ext cx="4366500" cy="1985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900">
                <a:solidFill>
                  <a:schemeClr val="dk1"/>
                </a:solidFill>
              </a:rPr>
              <a:t>Figura R2.14. La ocupación de factores de transcripción en el contexto endógeno se asocia con la actividad en el reportero.</a:t>
            </a:r>
            <a:r>
              <a:rPr lang="es-419" sz="900">
                <a:solidFill>
                  <a:schemeClr val="dk1"/>
                </a:solidFill>
              </a:rPr>
              <a:t> (A) Efecto de la unión de cada uno de los 986 factores de ReMap sobre la actividad media en el reportero (estimador de Hodges-Lehmann), para las réplicas 1 (color sólido) y 2 (color claro). En naranja se muestran los factores asociados con mayor actividad y en verde, los asociados con menor actividad. (B) Detalle de los factores asociados con menor actividad [criterio], con el estimador de Hodges-Lehmann y su intervalo de confianza del 95% para cada réplica. (C) Análisis de enriquecimiento de conjuntos (GSEA) del término de Gene Ontology «actividad de factor general de iniciación de la transcripción de la RNA polimerasa II» (GO:0016251), con los factores ordenados según su efecto sobre la actividad en la réplica 1. Arriba se muestra el puntaje de enriquecimiento acumulado; abajo, el efecto de cada factor, con los miembros del término marcados en rojo oscuro. </a:t>
            </a:r>
            <a:endParaRPr sz="9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6" title="nfya_scatter_intersect.jpg"/>
          <p:cNvPicPr preferRelativeResize="0"/>
          <p:nvPr/>
        </p:nvPicPr>
        <p:blipFill>
          <a:blip r:embed="rId3">
            <a:alphaModFix/>
          </a:blip>
          <a:stretch>
            <a:fillRect/>
          </a:stretch>
        </p:blipFill>
        <p:spPr>
          <a:xfrm>
            <a:off x="0" y="0"/>
            <a:ext cx="3225800" cy="2419350"/>
          </a:xfrm>
          <a:prstGeom prst="rect">
            <a:avLst/>
          </a:prstGeom>
          <a:noFill/>
          <a:ln>
            <a:noFill/>
          </a:ln>
        </p:spPr>
      </p:pic>
      <p:pic>
        <p:nvPicPr>
          <p:cNvPr id="125" name="Google Shape;125;p26" title="tf_efecto_vs_cobertura.jpg"/>
          <p:cNvPicPr preferRelativeResize="0"/>
          <p:nvPr/>
        </p:nvPicPr>
        <p:blipFill>
          <a:blip r:embed="rId4">
            <a:alphaModFix/>
          </a:blip>
          <a:stretch>
            <a:fillRect/>
          </a:stretch>
        </p:blipFill>
        <p:spPr>
          <a:xfrm>
            <a:off x="3485400" y="0"/>
            <a:ext cx="5613404" cy="3039680"/>
          </a:xfrm>
          <a:prstGeom prst="rect">
            <a:avLst/>
          </a:prstGeom>
          <a:noFill/>
          <a:ln>
            <a:noFill/>
          </a:ln>
        </p:spPr>
      </p:pic>
      <p:pic>
        <p:nvPicPr>
          <p:cNvPr id="126" name="Google Shape;126;p26" title="tf_especificidad_ccaat.jpg"/>
          <p:cNvPicPr preferRelativeResize="0"/>
          <p:nvPr/>
        </p:nvPicPr>
        <p:blipFill>
          <a:blip r:embed="rId5">
            <a:alphaModFix/>
          </a:blip>
          <a:stretch>
            <a:fillRect/>
          </a:stretch>
        </p:blipFill>
        <p:spPr>
          <a:xfrm>
            <a:off x="52350" y="2497122"/>
            <a:ext cx="3730524" cy="2542873"/>
          </a:xfrm>
          <a:prstGeom prst="rect">
            <a:avLst/>
          </a:prstGeom>
          <a:noFill/>
          <a:ln>
            <a:noFill/>
          </a:ln>
        </p:spPr>
      </p:pic>
      <p:sp>
        <p:nvSpPr>
          <p:cNvPr id="127" name="Google Shape;127;p26"/>
          <p:cNvSpPr txBox="1"/>
          <p:nvPr/>
        </p:nvSpPr>
        <p:spPr>
          <a:xfrm>
            <a:off x="4055400" y="3304900"/>
            <a:ext cx="5088600" cy="1569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900">
                <a:solidFill>
                  <a:schemeClr val="dk1"/>
                </a:solidFill>
              </a:rPr>
              <a:t>Figura R2.15. La unión de NF-YA se asocia con la actividad de forma específica y dependiente de la CCAAT-box.</a:t>
            </a:r>
            <a:r>
              <a:rPr lang="es-419" sz="900">
                <a:solidFill>
                  <a:schemeClr val="dk1"/>
                </a:solidFill>
              </a:rPr>
              <a:t> (A) Proporción de promotores unidos por NF-YA (picos en HeLa-S3, Hep-G2 y K-562) en grupos de 100 promotores ordenados por su actividad media en el reportero, para cada réplica. (B) Efecto de la unión de cada factor de ReMap sobre la actividad (estimador de Hodges-Lehmann) en función del número de promotores que une, para cada réplica. El punto naranja indica NF-YA, y la franja sombreada, los factores con un número de promotores unidos dentro de ±25% del de NF-YA. (C) Distribución de la diferencia entre el efecto de la unión de cada factor en los promotores con CCAAT-box y en los que no la tienen, para todos los factores (gris) y para los de cobertura similar a NF-YA (naranja). La línea vertical indica el valor de NF-YA. </a:t>
            </a:r>
            <a:endParaRPr sz="900"/>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