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2" name="Martin Iungma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10-15T18:20:48.941">
    <p:pos x="96" y="1590"/>
    <p:text>tengo un tema aca y en otros con este mismo esquema de plot.  parece que el efecto es bajo, cuando en realidad esta cayendo a la mitad. al mantener la escala fija, cuando hay poca prevalencia del feture, pasa esto. pero cambiar la escala y que no llegue a 1 me resulta raro.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10-16T13:14:00.794">
    <p:pos x="2064" y="1412"/>
    <p:text>tal vez hacer una escala de colores para cada replica es mas correcto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abefdf5efa44c7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abefdf5efa44c7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habefdf5efa44c7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habefdf5efa44c7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abefdf5efa44c79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habefdf5efa44c7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4ebe40c7f8899e75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4ebe40c7f8899e7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4ebe40c7f8899e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h4ebe40c7f8899e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c371980c4f29f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1c371980c4f29f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1c371980c4f29f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h1c371980c4f29f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Relationship Id="rId4" Type="http://schemas.openxmlformats.org/officeDocument/2006/relationships/image" Target="../media/image4.jpg"/><Relationship Id="rId5" Type="http://schemas.openxmlformats.org/officeDocument/2006/relationships/image" Target="../media/image12.jpg"/><Relationship Id="rId6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2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Relationship Id="rId4" Type="http://schemas.openxmlformats.org/officeDocument/2006/relationships/image" Target="../media/image21.jpg"/><Relationship Id="rId5" Type="http://schemas.openxmlformats.org/officeDocument/2006/relationships/image" Target="../media/image16.jpg"/><Relationship Id="rId6" Type="http://schemas.openxmlformats.org/officeDocument/2006/relationships/image" Target="../media/image8.jpg"/><Relationship Id="rId7" Type="http://schemas.openxmlformats.org/officeDocument/2006/relationships/image" Target="../media/image14.jpg"/><Relationship Id="rId8" Type="http://schemas.openxmlformats.org/officeDocument/2006/relationships/image" Target="../media/image2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jpg"/><Relationship Id="rId4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jpg"/><Relationship Id="rId4" Type="http://schemas.openxmlformats.org/officeDocument/2006/relationships/image" Target="../media/image2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Relationship Id="rId4" Type="http://schemas.openxmlformats.org/officeDocument/2006/relationships/image" Target="../media/image22.jpg"/><Relationship Id="rId5" Type="http://schemas.openxmlformats.org/officeDocument/2006/relationships/image" Target="../media/image29.jpg"/><Relationship Id="rId6" Type="http://schemas.openxmlformats.org/officeDocument/2006/relationships/image" Target="../media/image2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comments" Target="../comments/comment2.xml"/><Relationship Id="rId4" Type="http://schemas.openxmlformats.org/officeDocument/2006/relationships/image" Target="../media/image24.jpg"/><Relationship Id="rId5" Type="http://schemas.openxmlformats.org/officeDocument/2006/relationships/image" Target="../media/image2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2.jpg"/><Relationship Id="rId4" Type="http://schemas.openxmlformats.org/officeDocument/2006/relationships/image" Target="../media/image35.jpg"/><Relationship Id="rId5" Type="http://schemas.openxmlformats.org/officeDocument/2006/relationships/image" Target="../media/image3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3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606" y="1639571"/>
            <a:ext cx="1195520" cy="89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1292079" y="1639571"/>
            <a:ext cx="1055503" cy="896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2186092" cy="163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gi_oe_decile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99977" y="152400"/>
            <a:ext cx="4301082" cy="24193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0" y="2759300"/>
            <a:ext cx="82896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Figura R2.1. Las islas CpG del promotor basal se asocian a una mayor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Proporción de promotores con isla CpG según su actividad media en el reportero. En cada réplica, los promotores se ordenaron por actividad media y se agruparon en intervalos (</a:t>
            </a:r>
            <a:r>
              <a:rPr i="1" lang="es-419" sz="1000">
                <a:solidFill>
                  <a:schemeClr val="dk1"/>
                </a:solidFill>
              </a:rPr>
              <a:t>bins</a:t>
            </a:r>
            <a:r>
              <a:rPr lang="es-419" sz="1000">
                <a:solidFill>
                  <a:schemeClr val="dk1"/>
                </a:solidFill>
              </a:rPr>
              <a:t>) de 100 promotores. Cada punto corresponde a un </a:t>
            </a:r>
            <a:r>
              <a:rPr i="1" lang="es-419" sz="1000">
                <a:solidFill>
                  <a:schemeClr val="dk1"/>
                </a:solidFill>
              </a:rPr>
              <a:t>bin</a:t>
            </a:r>
            <a:r>
              <a:rPr lang="es-419" sz="1000">
                <a:solidFill>
                  <a:schemeClr val="dk1"/>
                </a:solidFill>
              </a:rPr>
              <a:t>. La línea muestra el ajuste LOESS y la banda gris su intervalo de confianza del 95%.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Distribución de la actividad media de los promotores con isla CpG (Presencia) y sin ella (Ausencia), en la réplica 1 (izquierda) y la réplica 2 (derecha). La línea horizontal de cada violín indica la mediana, y el punto con la barra vertical la mediana y el rango intercuartil. Las diferencias se evaluaron con el test de Wilcoxon-Mann-Whitney (p &lt; 2,2 × 10⁻¹⁶ en ambas réplicas). Estimador de Hodges-Lehmann: 0,222 (IC 95%: 0,202–0,241) en la réplica 1 y 0,297 (IC 95%: 0,273–0,321) en la réplica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(C)</a:t>
            </a:r>
            <a:r>
              <a:rPr lang="es-419" sz="1000">
                <a:solidFill>
                  <a:schemeClr val="dk1"/>
                </a:solidFill>
              </a:rPr>
              <a:t> Actividad media en función de la razón CpG observado/esperado (o/e) del fragmento, tomada como variable continua. Dentro de cada réplica, los promotores se dividieron en deciles de la razón CpG o/e, y la actividad media se expresó como percentil. Cada punto indica el percentil de actividad promedio del decil, ubicado en la mediana de su razón CpG o/e. Las barras indican el intervalo de confianza del 95%. La línea vertical discontinua marca el umbral de 0,6 usado para definir isla CpG, y la línea horizontal punteada el percentil 50. Se indica el coeficiente de correlación de Spearman (ρ) entre la razón CpG o/e y la actividad media.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TATA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552" y="23153"/>
            <a:ext cx="2124355" cy="1593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 title="TATA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7266" y="1656833"/>
            <a:ext cx="1219886" cy="914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 title="TATA_violin_rep2.jpg"/>
          <p:cNvPicPr preferRelativeResize="0"/>
          <p:nvPr/>
        </p:nvPicPr>
        <p:blipFill rotWithShape="1">
          <a:blip r:embed="rId5">
            <a:alphaModFix/>
          </a:blip>
          <a:srcRect b="0" l="12080" r="0" t="0"/>
          <a:stretch/>
        </p:blipFill>
        <p:spPr>
          <a:xfrm>
            <a:off x="3755445" y="1655221"/>
            <a:ext cx="1072584" cy="91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 title="tata_posicion_perfi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773514" cy="483869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6925925" y="203525"/>
            <a:ext cx="28944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2"/>
                </a:solidFill>
              </a:rPr>
              <a:t>La TATA-box se asocia con mayor actividad solo en su posición canónica.</a:t>
            </a:r>
            <a:r>
              <a:rPr b="1" lang="es-419" sz="1100">
                <a:solidFill>
                  <a:schemeClr val="dk1"/>
                </a:solidFill>
              </a:rPr>
              <a:t> </a:t>
            </a:r>
            <a:r>
              <a:rPr lang="es-419" sz="1100">
                <a:solidFill>
                  <a:schemeClr val="dk1"/>
                </a:solidFill>
              </a:rPr>
              <a:t>Diferencia de actividad media (Hodges-Lehmann, IC 95%) entre los promotores con una TATA-box en cada ventana de 10 pb y los promotores sin TATA-box. La TATA-box se buscó con la matriz de Bucher y el corte de EPD, en la misma hebra (verde oscuro) y en la opuesta (verde claro). Puntos rellenos: BH &lt; 0,05. Abajo, el porcentaje de promotores con TATA-box en cada ventana. Franja gris: ventana canónica (−31 a −26). </a:t>
            </a:r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tata_posicion_modelo_A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50" y="152400"/>
            <a:ext cx="3399398" cy="271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tata_posicion_permutada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3724" y="152400"/>
            <a:ext cx="3399398" cy="271886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0" y="3317100"/>
            <a:ext cx="30000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El efecto de la TATA-box canónica no se explica por la composición de bases.</a:t>
            </a:r>
            <a:r>
              <a:rPr lang="es-419" sz="1100">
                <a:solidFill>
                  <a:schemeClr val="dk1"/>
                </a:solidFill>
              </a:rPr>
              <a:t> (A) Coeficientes de un modelo lineal del percentil de actividad para cada clase de promotor respecto de los promotores sin TATA-box, sin ajustar y ajustando por el contenido de A/T. (B) </a:t>
            </a:r>
            <a:r>
              <a:rPr lang="es-419" sz="1100">
                <a:solidFill>
                  <a:schemeClr val="dk1"/>
                </a:solidFill>
              </a:rPr>
              <a:t>Mismo perfil de la Figura R2.3 en la misma hebra, para la matriz real (color) y para 10 matrices con las columnas permutadas (gris).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panel_puntaje_bin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8526" y="-12"/>
            <a:ext cx="5988751" cy="280722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3623150" y="2807200"/>
            <a:ext cx="3000000" cy="23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La actividad aumenta en forma gradual con el puntaje de la TATA-box canónica.</a:t>
            </a:r>
            <a:r>
              <a:rPr lang="es-419" sz="1100">
                <a:solidFill>
                  <a:schemeClr val="dk1"/>
                </a:solidFill>
              </a:rPr>
              <a:t> Percentil de actividad medio (IC 95%) según el puntaje de la TATA-box en la ventana canónica de la Figura R2.3 (verde) o en una ventana control lejos del TSS (gris), en intervalos fijos de puntaje y en intervalos de 1 unidad. Diferencia de actividad (Hodges-Lehmann, IC 95%) de los promotores con TATA-box canónica para cortes crecientes, respecto de una referencia fija sin TATA-box. Línea vertical: corte de EPD (−8,17).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ccaat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676" y="213872"/>
            <a:ext cx="2832507" cy="1593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ccaat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414" y="1870697"/>
            <a:ext cx="1375375" cy="103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8" title="ccaat_violin_rep2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5788" y="1821299"/>
            <a:ext cx="1507098" cy="1130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 title="gcbox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55280" y="152400"/>
            <a:ext cx="3017902" cy="1697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cbox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76990" y="1849968"/>
            <a:ext cx="1396782" cy="1047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 title="gcbox_violin_rep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1006" y="1904038"/>
            <a:ext cx="1396782" cy="104758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0" y="3238150"/>
            <a:ext cx="7238400" cy="20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Asociación de la CCAAT-box y la GC-box con la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CCAAT-box. Izquierda: proporción de promotores con CCAAT-box en grupos de 100 promotores ordenados por actividad media, para cada réplica, con una curva suavizada. Derecha: distribución de la actividad media de los promotores sin el motivo (Ausencia) y con él (Presencia), para las réplicas 1 y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Lo mismo para la GC-box.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419" sz="1000">
                <a:solidFill>
                  <a:schemeClr val="dk1"/>
                </a:solidFill>
              </a:rPr>
              <a:t>En todos los casos, la presencia del motivo corresponde a la anotación de EPD. Las diferencias entre grupos se evaluaron con el test de Wilcoxon (p &lt; 2,2×10⁻¹⁶ en ambos motivos y réplicas); el tamaño del efecto (estimador de Hodges-Lehmann) se informa en el texto.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ccaat_gcbox_prevalencia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6575"/>
            <a:ext cx="3988301" cy="224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ccaat_gcbox_efecto_cgi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6770" y="170720"/>
            <a:ext cx="4837873" cy="276382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750300" y="3080150"/>
            <a:ext cx="6705300" cy="18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Relación de la CCAAT-box y la GC-box con las islas CpG.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Porcentaje de promotores de la </a:t>
            </a:r>
            <a:r>
              <a:rPr i="1" lang="es-419" sz="1000">
                <a:solidFill>
                  <a:schemeClr val="dk1"/>
                </a:solidFill>
              </a:rPr>
              <a:t>library</a:t>
            </a:r>
            <a:r>
              <a:rPr lang="es-419" sz="1000">
                <a:solidFill>
                  <a:schemeClr val="dk1"/>
                </a:solidFill>
              </a:rPr>
              <a:t> con CCAAT-box y con GC-box, entre los que tienen isla CpG (n = 13.886) y los que no (n = 6.965). La isla CpG se definió por la composición del fragmento (G+C ≥ 50% y razón CpG observado/esperado &gt; 0,6).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Diferencia de actividad media entre promotores con y sin cada motivo (estimador de Hodges-Lehmann con IC 95%), calculada sobre todos los promotores y por separado en los promotores con y sin isla CpG, para cada réplica. Junto a cada punto se indica el número de promotores con el motivo. La línea punteada marca la ausencia de efecto.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0" title="tss_perfil_efectos_promotor_h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469796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1" title="tss_perfil_YR_todo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11501"/>
            <a:ext cx="5012301" cy="1879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1" title="tss_modelo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976" y="609872"/>
            <a:ext cx="3674501" cy="2004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 title="kmeros_efecto_vs_cpg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1"/>
            <a:ext cx="5610598" cy="237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2" title="ebox_zeb_scatter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524849"/>
            <a:ext cx="4384445" cy="2466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2" title="kmeros_volcano_motivo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62998" y="152400"/>
            <a:ext cx="3228600" cy="2536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3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27" name="Google Shape;127;p23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28" name="Google Shape;128;p23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29" name="Google Shape;129;p23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30" name="Google Shape;130;p23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31" name="Google Shape;131;p23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2" name="Google Shape;132;p23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3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7" name="Google Shape;137;p23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9" name="Google Shape;139;p23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0" name="Google Shape;140;p23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624425" y="3887950"/>
            <a:ext cx="18852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Transposon de ADN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/>
          <p:nvPr/>
        </p:nvSpPr>
        <p:spPr>
          <a:xfrm>
            <a:off x="0" y="0"/>
            <a:ext cx="30000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</a:t>
            </a:r>
            <a:r>
              <a:rPr b="1" lang="es-419" sz="1000">
                <a:solidFill>
                  <a:schemeClr val="dk1"/>
                </a:solidFill>
              </a:rPr>
              <a:t>igura R2.12. Los elementos del promotor basal combinan sus efectos de forma aproximadamente aditiva.</a:t>
            </a:r>
            <a:r>
              <a:rPr lang="es-419" sz="1000">
                <a:solidFill>
                  <a:schemeClr val="dk1"/>
                </a:solidFill>
              </a:rPr>
              <a:t> (A) Distribución de la actividad media de los promotores según el número de elementos asociados a mayor actividad que contienen (isla CpG, TATA-box, CCAAT-box, sitio de YY1 y CRE), para cada réplica. Sobre cada violín se indica el número de promotores. (B) Mediana de la actividad media según el número de elementos positivos (columnas) y de características asociadas a menor actividad (TSS no canónico, E-box CAGGTR y tramo poli(dA:dT) proximal; filas), para cada réplica. En cada celda se indican la mediana y el número de promotores; se omiten las celdas con menos de 50 promotores. </a:t>
            </a:r>
            <a:endParaRPr sz="1000"/>
          </a:p>
        </p:txBody>
      </p:sp>
      <p:pic>
        <p:nvPicPr>
          <p:cNvPr id="149" name="Google Shape;149;p24" title="p1_violines_n_elemento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9375" y="0"/>
            <a:ext cx="4419599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4" title="p4_grilla_pos_x_neg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78100" y="2241950"/>
            <a:ext cx="5347702" cy="24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5" title="summary_seq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6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6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7" title="nfya_scatter_intersec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225800" cy="241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7" title="tf_efecto_vs_cobertur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5400" y="0"/>
            <a:ext cx="5613404" cy="3039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7" title="tf_especificidad_ccaa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50" y="2497122"/>
            <a:ext cx="3730524" cy="25428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