
<file path=[Content_Types].xml><?xml version="1.0" encoding="utf-8"?>
<Types xmlns="http://schemas.openxmlformats.org/package/2006/content-types">
  <Default ContentType="image/jpeg" Extension="jpg"/>
  <Default ContentType="application/xml" Extension="xml"/>
  <Default ContentType="application/vnd.openxmlformats-officedocument.obfuscatedFont" Extension="odttf"/>
  <Default ContentType="application/vnd.openxmlformats-package.relationships+xml" Extension="rels"/>
  <Override ContentType="application/vnd.openxmlformats-officedocument.presentationml.comments+xml" PartName="/ppt/comments/comment1.xml"/>
  <Override ContentType="application/vnd.openxmlformats-officedocument.presentationml.comments+xml" PartName="/ppt/comments/comment2.xml"/>
  <Override ContentType="application/vnd.openxmlformats-officedocument.presentationml.comments+xml" PartName="/ppt/comments/comment3.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commentAuthors+xml" PartName="/ppt/commentAuthors.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commentAuthors.xml><?xml version="1.0" encoding="utf-8"?>
<p:cmAuthor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Author clrIdx="0" id="0" initials="" lastIdx="3" name="Martin Iungman"/>
  <p:cmAuthor clrIdx="1" id="1" initials="" lastIdx="1" name="Ignacio Schor"/>
</p:cmAuthorLst>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11" Type="http://schemas.openxmlformats.org/officeDocument/2006/relationships/slide" Target="slides/slide5.xml"/><Relationship Id="rId10" Type="http://schemas.openxmlformats.org/officeDocument/2006/relationships/slide" Target="slides/slide4.xml"/><Relationship Id="rId21" Type="http://schemas.openxmlformats.org/officeDocument/2006/relationships/slide" Target="slides/slide15.xml"/><Relationship Id="rId13" Type="http://schemas.openxmlformats.org/officeDocument/2006/relationships/slide" Target="slides/slide7.xml"/><Relationship Id="rId12" Type="http://schemas.openxmlformats.org/officeDocument/2006/relationships/slide" Target="slides/slide6.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commentAuthors" Target="commentAuthors.xml"/><Relationship Id="rId9" Type="http://schemas.openxmlformats.org/officeDocument/2006/relationships/slide" Target="slides/slide3.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5" Type="http://schemas.openxmlformats.org/officeDocument/2006/relationships/slideMaster" Target="slideMasters/slideMaster1.xml"/><Relationship Id="rId19" Type="http://schemas.openxmlformats.org/officeDocument/2006/relationships/slide" Target="slides/slide13.xml"/><Relationship Id="rId6" Type="http://schemas.openxmlformats.org/officeDocument/2006/relationships/notesMaster" Target="notesMasters/notesMaster1.xml"/><Relationship Id="rId18" Type="http://schemas.openxmlformats.org/officeDocument/2006/relationships/slide" Target="slides/slide12.xml"/><Relationship Id="rId7" Type="http://schemas.openxmlformats.org/officeDocument/2006/relationships/slide" Target="slides/slide1.xml"/><Relationship Id="rId8" Type="http://schemas.openxmlformats.org/officeDocument/2006/relationships/slide" Target="slides/slide2.xml"/></Relationships>
</file>

<file path=ppt/comments/comment1.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1" dt="2026-10-20T17:56:53.502">
    <p:pos x="4481" y="162"/>
    <p:text>todavia no incororada al texto ni leyenda</p:text>
  </p:cm>
</p:cmLst>
</file>

<file path=ppt/comments/comment2.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2" dt="2026-10-15T18:20:48.941">
    <p:pos x="96" y="1590"/>
    <p:text>tengo un tema aca y en otros con este mismo esquema de plot.  parece que el efecto es bajo, cuando en realidad esta cayendo a la mitad. al mantener la escala fija, cuando hay poca prevalencia del feture, pasa esto. pero cambiar la escala y que no llegue a 1 me resulta raro.</p:text>
  </p:cm>
</p:cmLst>
</file>

<file path=ppt/comments/comment3.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3" dt="2026-10-21T02:52:53.624">
    <p:pos x="2064" y="1412"/>
    <p:text>tal vez hacer una escala de colores para cada replica es mas correcto</p:text>
  </p:cm>
  <p:cm authorId="1" idx="1" dt="2026-10-21T02:52:53.624">
    <p:pos x="2064" y="1412"/>
    <p:text>si, definitivamente</p:text>
  </p:cm>
</p:cmLst>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g3f58eefa86d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g3f58eefa86d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 name="Shape 60"/>
        <p:cNvGrpSpPr/>
        <p:nvPr/>
      </p:nvGrpSpPr>
      <p:grpSpPr>
        <a:xfrm>
          <a:off x="0" y="0"/>
          <a:ext cx="0" cy="0"/>
          <a:chOff x="0" y="0"/>
          <a:chExt cx="0" cy="0"/>
        </a:xfrm>
      </p:grpSpPr>
      <p:sp>
        <p:nvSpPr>
          <p:cNvPr id="61" name="Google Shape;61;habefdf5efa44c79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2" name="Google Shape;62;habefdf5efa44c79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 name="Shape 67"/>
        <p:cNvGrpSpPr/>
        <p:nvPr/>
      </p:nvGrpSpPr>
      <p:grpSpPr>
        <a:xfrm>
          <a:off x="0" y="0"/>
          <a:ext cx="0" cy="0"/>
          <a:chOff x="0" y="0"/>
          <a:chExt cx="0" cy="0"/>
        </a:xfrm>
      </p:grpSpPr>
      <p:sp>
        <p:nvSpPr>
          <p:cNvPr id="68" name="Google Shape;68;habefdf5efa44c79_0_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9" name="Google Shape;69;habefdf5efa44c79_0_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 name="Shape 73"/>
        <p:cNvGrpSpPr/>
        <p:nvPr/>
      </p:nvGrpSpPr>
      <p:grpSpPr>
        <a:xfrm>
          <a:off x="0" y="0"/>
          <a:ext cx="0" cy="0"/>
          <a:chOff x="0" y="0"/>
          <a:chExt cx="0" cy="0"/>
        </a:xfrm>
      </p:grpSpPr>
      <p:sp>
        <p:nvSpPr>
          <p:cNvPr id="74" name="Google Shape;74;habefdf5efa44c79_0_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5" name="Google Shape;75;habefdf5efa44c79_0_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habefdf5efa44c79_0_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2" name="Google Shape;82;habefdf5efa44c79_0_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 name="Shape 86"/>
        <p:cNvGrpSpPr/>
        <p:nvPr/>
      </p:nvGrpSpPr>
      <p:grpSpPr>
        <a:xfrm>
          <a:off x="0" y="0"/>
          <a:ext cx="0" cy="0"/>
          <a:chOff x="0" y="0"/>
          <a:chExt cx="0" cy="0"/>
        </a:xfrm>
      </p:grpSpPr>
      <p:sp>
        <p:nvSpPr>
          <p:cNvPr id="87" name="Google Shape;87;habefdf5efa44c79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8" name="Google Shape;88;habefdf5efa44c79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 name="Shape 97"/>
        <p:cNvGrpSpPr/>
        <p:nvPr/>
      </p:nvGrpSpPr>
      <p:grpSpPr>
        <a:xfrm>
          <a:off x="0" y="0"/>
          <a:ext cx="0" cy="0"/>
          <a:chOff x="0" y="0"/>
          <a:chExt cx="0" cy="0"/>
        </a:xfrm>
      </p:grpSpPr>
      <p:sp>
        <p:nvSpPr>
          <p:cNvPr id="98" name="Google Shape;98;g3f58eefa86d_0_9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9" name="Google Shape;99;g3f58eefa86d_0_9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h4ebe40c7f8899e75_0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6" name="Google Shape;106;h4ebe40c7f8899e75_0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h4ebe40c7f8899e75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1" name="Google Shape;111;h4ebe40c7f8899e75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 name="Shape 115"/>
        <p:cNvGrpSpPr/>
        <p:nvPr/>
      </p:nvGrpSpPr>
      <p:grpSpPr>
        <a:xfrm>
          <a:off x="0" y="0"/>
          <a:ext cx="0" cy="0"/>
          <a:chOff x="0" y="0"/>
          <a:chExt cx="0" cy="0"/>
        </a:xfrm>
      </p:grpSpPr>
      <p:sp>
        <p:nvSpPr>
          <p:cNvPr id="116" name="Google Shape;116;h1c371980c4f29fb2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7" name="Google Shape;117;h1c371980c4f29fb2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 name="Shape 122"/>
        <p:cNvGrpSpPr/>
        <p:nvPr/>
      </p:nvGrpSpPr>
      <p:grpSpPr>
        <a:xfrm>
          <a:off x="0" y="0"/>
          <a:ext cx="0" cy="0"/>
          <a:chOff x="0" y="0"/>
          <a:chExt cx="0" cy="0"/>
        </a:xfrm>
      </p:grpSpPr>
      <p:sp>
        <p:nvSpPr>
          <p:cNvPr id="123" name="Google Shape;123;g3f58eefa86d_0_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4" name="Google Shape;124;g3f58eefa86d_0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h1c371980c4f29fb2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9" name="Google Shape;129;h1c371980c4f29fb2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g3f58eefa86d_0_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6" name="Google Shape;136;g3f58eefa86d_0_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g3f58eefa86d_0_1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2" name="Google Shape;142;g3f58eefa86d_0_1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g3f58eefa86d_0_10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0" name="Google Shape;150;g3f58eefa86d_0_10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s-419"/>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 Id="rId3" Type="http://schemas.openxmlformats.org/officeDocument/2006/relationships/comments" Target="../comments/comment1.xml"/><Relationship Id="rId4" Type="http://schemas.openxmlformats.org/officeDocument/2006/relationships/image" Target="../media/image16.jpg"/><Relationship Id="rId5" Type="http://schemas.openxmlformats.org/officeDocument/2006/relationships/image" Target="../media/image6.jpg"/><Relationship Id="rId6" Type="http://schemas.openxmlformats.org/officeDocument/2006/relationships/image" Target="../media/image17.jpg"/><Relationship Id="rId7" Type="http://schemas.openxmlformats.org/officeDocument/2006/relationships/image" Target="../media/image8.jpg"/><Relationship Id="rId8" Type="http://schemas.openxmlformats.org/officeDocument/2006/relationships/image" Target="../media/image5.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13.jpg"/><Relationship Id="rId4" Type="http://schemas.openxmlformats.org/officeDocument/2006/relationships/image" Target="../media/image14.jpg"/><Relationship Id="rId5" Type="http://schemas.openxmlformats.org/officeDocument/2006/relationships/image" Target="../media/image4.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22.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15.jpg"/><Relationship Id="rId4" Type="http://schemas.openxmlformats.org/officeDocument/2006/relationships/image" Target="../media/image24.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1.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2.jpg"/><Relationship Id="rId4" Type="http://schemas.openxmlformats.org/officeDocument/2006/relationships/image" Target="../media/image25.jpg"/><Relationship Id="rId5" Type="http://schemas.openxmlformats.org/officeDocument/2006/relationships/image" Target="../media/image10.jpg"/><Relationship Id="rId6" Type="http://schemas.openxmlformats.org/officeDocument/2006/relationships/image" Target="../media/image7.jpg"/><Relationship Id="rId7" Type="http://schemas.openxmlformats.org/officeDocument/2006/relationships/image" Target="../media/image11.jpg"/><Relationship Id="rId8" Type="http://schemas.openxmlformats.org/officeDocument/2006/relationships/image" Target="../media/image9.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3.jpg"/><Relationship Id="rId4" Type="http://schemas.openxmlformats.org/officeDocument/2006/relationships/image" Target="../media/image12.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34.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18.jpg"/><Relationship Id="rId4" Type="http://schemas.openxmlformats.org/officeDocument/2006/relationships/image" Target="../media/image19.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comments" Target="../comments/comment2.xml"/><Relationship Id="rId4" Type="http://schemas.openxmlformats.org/officeDocument/2006/relationships/image" Target="../media/image21.jpg"/><Relationship Id="rId5" Type="http://schemas.openxmlformats.org/officeDocument/2006/relationships/image" Target="../media/image26.jpg"/><Relationship Id="rId6" Type="http://schemas.openxmlformats.org/officeDocument/2006/relationships/image" Target="../media/image30.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20.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comments" Target="../comments/comment3.xml"/><Relationship Id="rId4" Type="http://schemas.openxmlformats.org/officeDocument/2006/relationships/image" Target="../media/image23.jpg"/><Relationship Id="rId5" Type="http://schemas.openxmlformats.org/officeDocument/2006/relationships/image" Target="../media/image27.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28.jpg"/><Relationship Id="rId4" Type="http://schemas.openxmlformats.org/officeDocument/2006/relationships/image" Target="../media/image29.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35.jpg"/><Relationship Id="rId4" Type="http://schemas.openxmlformats.org/officeDocument/2006/relationships/image" Target="../media/image33.jpg"/><Relationship Id="rId5" Type="http://schemas.openxmlformats.org/officeDocument/2006/relationships/image" Target="../media/image36.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37.jpg"/><Relationship Id="rId4" Type="http://schemas.openxmlformats.org/officeDocument/2006/relationships/image" Target="../media/image31.jpg"/><Relationship Id="rId5" Type="http://schemas.openxmlformats.org/officeDocument/2006/relationships/image" Target="../media/image32.jp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pic>
        <p:nvPicPr>
          <p:cNvPr id="54" name="Google Shape;54;p13" title="CGI_violin_rep1.jpg"/>
          <p:cNvPicPr preferRelativeResize="0"/>
          <p:nvPr/>
        </p:nvPicPr>
        <p:blipFill>
          <a:blip r:embed="rId4">
            <a:alphaModFix/>
          </a:blip>
          <a:stretch>
            <a:fillRect/>
          </a:stretch>
        </p:blipFill>
        <p:spPr>
          <a:xfrm>
            <a:off x="158606" y="1639571"/>
            <a:ext cx="1195520" cy="896640"/>
          </a:xfrm>
          <a:prstGeom prst="rect">
            <a:avLst/>
          </a:prstGeom>
          <a:noFill/>
          <a:ln>
            <a:noFill/>
          </a:ln>
        </p:spPr>
      </p:pic>
      <p:pic>
        <p:nvPicPr>
          <p:cNvPr id="55" name="Google Shape;55;p13" title="CGI_violin_rep2.jpg"/>
          <p:cNvPicPr preferRelativeResize="0"/>
          <p:nvPr/>
        </p:nvPicPr>
        <p:blipFill rotWithShape="1">
          <a:blip r:embed="rId5">
            <a:alphaModFix/>
          </a:blip>
          <a:srcRect b="0" l="11715" r="0" t="0"/>
          <a:stretch/>
        </p:blipFill>
        <p:spPr>
          <a:xfrm>
            <a:off x="1292079" y="1639571"/>
            <a:ext cx="1055503" cy="896636"/>
          </a:xfrm>
          <a:prstGeom prst="rect">
            <a:avLst/>
          </a:prstGeom>
          <a:noFill/>
          <a:ln>
            <a:noFill/>
          </a:ln>
        </p:spPr>
      </p:pic>
      <p:pic>
        <p:nvPicPr>
          <p:cNvPr id="56" name="Google Shape;56;p13" title="CGI_scatter.jpg"/>
          <p:cNvPicPr preferRelativeResize="0"/>
          <p:nvPr/>
        </p:nvPicPr>
        <p:blipFill>
          <a:blip r:embed="rId6">
            <a:alphaModFix/>
          </a:blip>
          <a:stretch>
            <a:fillRect/>
          </a:stretch>
        </p:blipFill>
        <p:spPr>
          <a:xfrm>
            <a:off x="0" y="0"/>
            <a:ext cx="2186092" cy="1639569"/>
          </a:xfrm>
          <a:prstGeom prst="rect">
            <a:avLst/>
          </a:prstGeom>
          <a:noFill/>
          <a:ln>
            <a:noFill/>
          </a:ln>
        </p:spPr>
      </p:pic>
      <p:pic>
        <p:nvPicPr>
          <p:cNvPr id="57" name="Google Shape;57;p13" title="cgi_oe_deciles.jpg"/>
          <p:cNvPicPr preferRelativeResize="0"/>
          <p:nvPr/>
        </p:nvPicPr>
        <p:blipFill>
          <a:blip r:embed="rId7">
            <a:alphaModFix/>
          </a:blip>
          <a:stretch>
            <a:fillRect/>
          </a:stretch>
        </p:blipFill>
        <p:spPr>
          <a:xfrm>
            <a:off x="2499977" y="152400"/>
            <a:ext cx="4301082" cy="2419350"/>
          </a:xfrm>
          <a:prstGeom prst="rect">
            <a:avLst/>
          </a:prstGeom>
          <a:noFill/>
          <a:ln>
            <a:noFill/>
          </a:ln>
        </p:spPr>
      </p:pic>
      <p:sp>
        <p:nvSpPr>
          <p:cNvPr id="58" name="Google Shape;58;p13"/>
          <p:cNvSpPr txBox="1"/>
          <p:nvPr/>
        </p:nvSpPr>
        <p:spPr>
          <a:xfrm>
            <a:off x="0" y="2759300"/>
            <a:ext cx="8289600" cy="29244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b="1" lang="es-419" sz="1000">
                <a:solidFill>
                  <a:schemeClr val="dk1"/>
                </a:solidFill>
              </a:rPr>
              <a:t>Figura R2.1. Las islas CpG del promotor basal se asocian a una mayor actividad transcripcional.</a:t>
            </a:r>
            <a:endParaRPr b="1" sz="1000">
              <a:solidFill>
                <a:schemeClr val="dk1"/>
              </a:solidFill>
            </a:endParaRPr>
          </a:p>
          <a:p>
            <a:pPr indent="0" lvl="0" marL="0" rtl="0" algn="l">
              <a:lnSpc>
                <a:spcPct val="115000"/>
              </a:lnSpc>
              <a:spcBef>
                <a:spcPts val="1200"/>
              </a:spcBef>
              <a:spcAft>
                <a:spcPts val="0"/>
              </a:spcAft>
              <a:buNone/>
            </a:pPr>
            <a:r>
              <a:rPr b="1" lang="es-419" sz="1000">
                <a:solidFill>
                  <a:schemeClr val="dk1"/>
                </a:solidFill>
              </a:rPr>
              <a:t>(A)</a:t>
            </a:r>
            <a:r>
              <a:rPr lang="es-419" sz="1000">
                <a:solidFill>
                  <a:schemeClr val="dk1"/>
                </a:solidFill>
              </a:rPr>
              <a:t> Proporción de promotores con isla CpG según su actividad media en el reportero. En cada réplica, los promotores se ordenaron por actividad media y se agruparon en intervalos (</a:t>
            </a:r>
            <a:r>
              <a:rPr i="1" lang="es-419" sz="1000">
                <a:solidFill>
                  <a:schemeClr val="dk1"/>
                </a:solidFill>
              </a:rPr>
              <a:t>bins</a:t>
            </a:r>
            <a:r>
              <a:rPr lang="es-419" sz="1000">
                <a:solidFill>
                  <a:schemeClr val="dk1"/>
                </a:solidFill>
              </a:rPr>
              <a:t>) de 100 promotores. Cada punto corresponde a un </a:t>
            </a:r>
            <a:r>
              <a:rPr i="1" lang="es-419" sz="1000">
                <a:solidFill>
                  <a:schemeClr val="dk1"/>
                </a:solidFill>
              </a:rPr>
              <a:t>bin</a:t>
            </a:r>
            <a:r>
              <a:rPr lang="es-419" sz="1000">
                <a:solidFill>
                  <a:schemeClr val="dk1"/>
                </a:solidFill>
              </a:rPr>
              <a:t>. La línea muestra el ajuste LOESS y la banda gris su intervalo de confianza del 95%.</a:t>
            </a:r>
            <a:endParaRPr sz="1000">
              <a:solidFill>
                <a:schemeClr val="dk1"/>
              </a:solidFill>
            </a:endParaRPr>
          </a:p>
          <a:p>
            <a:pPr indent="0" lvl="0" marL="0" rtl="0" algn="l">
              <a:lnSpc>
                <a:spcPct val="115000"/>
              </a:lnSpc>
              <a:spcBef>
                <a:spcPts val="1200"/>
              </a:spcBef>
              <a:spcAft>
                <a:spcPts val="0"/>
              </a:spcAft>
              <a:buNone/>
            </a:pPr>
            <a:r>
              <a:rPr b="1" lang="es-419" sz="1000">
                <a:solidFill>
                  <a:schemeClr val="dk1"/>
                </a:solidFill>
              </a:rPr>
              <a:t>(B)</a:t>
            </a:r>
            <a:r>
              <a:rPr lang="es-419" sz="1000">
                <a:solidFill>
                  <a:schemeClr val="dk1"/>
                </a:solidFill>
              </a:rPr>
              <a:t> Distribución de la actividad media de los promotores con isla CpG (Presencia) y sin ella (Ausencia), en la réplica 1 (izquierda) y la réplica 2 (derecha). La línea horizontal de cada violín indica la mediana, y el punto con la barra vertical la mediana y el rango intercuartil. Las diferencias se evaluaron con el test de Wilcoxon-Mann-Whitney (p &lt; 2,2 × 10⁻¹⁶ en ambas réplicas). Estimador de Hodges-Lehmann: 0,222 (IC 95%: 0,202–0,241) en la réplica 1 y 0,297 (IC 95%: 0,273–0,321) en la réplica 2.</a:t>
            </a:r>
            <a:endParaRPr sz="1000">
              <a:solidFill>
                <a:schemeClr val="dk1"/>
              </a:solidFill>
            </a:endParaRPr>
          </a:p>
          <a:p>
            <a:pPr indent="0" lvl="0" marL="0" rtl="0" algn="l">
              <a:lnSpc>
                <a:spcPct val="115000"/>
              </a:lnSpc>
              <a:spcBef>
                <a:spcPts val="1200"/>
              </a:spcBef>
              <a:spcAft>
                <a:spcPts val="1200"/>
              </a:spcAft>
              <a:buNone/>
            </a:pPr>
            <a:r>
              <a:rPr b="1" lang="es-419" sz="1000">
                <a:solidFill>
                  <a:schemeClr val="dk1"/>
                </a:solidFill>
              </a:rPr>
              <a:t>(C)</a:t>
            </a:r>
            <a:r>
              <a:rPr lang="es-419" sz="1000">
                <a:solidFill>
                  <a:schemeClr val="dk1"/>
                </a:solidFill>
              </a:rPr>
              <a:t> Actividad media en función de la razón CpG observado/esperado (o/e) del fragmento, tomada como variable continua. Dentro de cada réplica, los promotores se dividieron en deciles de la razón CpG o/e, y la actividad media se expresó como percentil. Cada punto indica el percentil de actividad promedio del decil, ubicado en la mediana de su razón CpG o/e. Las barras indican el intervalo de confianza del 95%. La línea vertical discontinua marca el umbral de 0,6 usado para definir isla CpG, y la línea horizontal punteada el percentil 50. Se indica el coeficiente de correlación de Spearman (ρ) entre la razón CpG o/e y la actividad media.</a:t>
            </a:r>
            <a:endParaRPr sz="1000">
              <a:solidFill>
                <a:schemeClr val="dk1"/>
              </a:solidFill>
            </a:endParaRPr>
          </a:p>
        </p:txBody>
      </p:sp>
      <p:pic>
        <p:nvPicPr>
          <p:cNvPr id="59" name="Google Shape;59;p13" title="cgi_gc_deciles.jpg"/>
          <p:cNvPicPr preferRelativeResize="0"/>
          <p:nvPr/>
        </p:nvPicPr>
        <p:blipFill>
          <a:blip r:embed="rId8">
            <a:alphaModFix/>
          </a:blip>
          <a:stretch>
            <a:fillRect/>
          </a:stretch>
        </p:blipFill>
        <p:spPr>
          <a:xfrm>
            <a:off x="7114927" y="257226"/>
            <a:ext cx="3535324" cy="1988626"/>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 name="Shape 63"/>
        <p:cNvGrpSpPr/>
        <p:nvPr/>
      </p:nvGrpSpPr>
      <p:grpSpPr>
        <a:xfrm>
          <a:off x="0" y="0"/>
          <a:ext cx="0" cy="0"/>
          <a:chOff x="0" y="0"/>
          <a:chExt cx="0" cy="0"/>
        </a:xfrm>
      </p:grpSpPr>
      <p:pic>
        <p:nvPicPr>
          <p:cNvPr id="64" name="Google Shape;64;p14" title="TATA_scatter.jpg"/>
          <p:cNvPicPr preferRelativeResize="0"/>
          <p:nvPr/>
        </p:nvPicPr>
        <p:blipFill>
          <a:blip r:embed="rId3">
            <a:alphaModFix/>
          </a:blip>
          <a:stretch>
            <a:fillRect/>
          </a:stretch>
        </p:blipFill>
        <p:spPr>
          <a:xfrm>
            <a:off x="2535552" y="23153"/>
            <a:ext cx="2124355" cy="1593266"/>
          </a:xfrm>
          <a:prstGeom prst="rect">
            <a:avLst/>
          </a:prstGeom>
          <a:noFill/>
          <a:ln>
            <a:noFill/>
          </a:ln>
        </p:spPr>
      </p:pic>
      <p:pic>
        <p:nvPicPr>
          <p:cNvPr id="65" name="Google Shape;65;p14" title="TATA_violin_rep1.jpg"/>
          <p:cNvPicPr preferRelativeResize="0"/>
          <p:nvPr/>
        </p:nvPicPr>
        <p:blipFill>
          <a:blip r:embed="rId4">
            <a:alphaModFix/>
          </a:blip>
          <a:stretch>
            <a:fillRect/>
          </a:stretch>
        </p:blipFill>
        <p:spPr>
          <a:xfrm>
            <a:off x="2607266" y="1656833"/>
            <a:ext cx="1219886" cy="914915"/>
          </a:xfrm>
          <a:prstGeom prst="rect">
            <a:avLst/>
          </a:prstGeom>
          <a:noFill/>
          <a:ln>
            <a:noFill/>
          </a:ln>
        </p:spPr>
      </p:pic>
      <p:pic>
        <p:nvPicPr>
          <p:cNvPr id="66" name="Google Shape;66;p14" title="TATA_violin_rep2.jpg"/>
          <p:cNvPicPr preferRelativeResize="0"/>
          <p:nvPr/>
        </p:nvPicPr>
        <p:blipFill rotWithShape="1">
          <a:blip r:embed="rId5">
            <a:alphaModFix/>
          </a:blip>
          <a:srcRect b="0" l="12080" r="0" t="0"/>
          <a:stretch/>
        </p:blipFill>
        <p:spPr>
          <a:xfrm>
            <a:off x="3755445" y="1655221"/>
            <a:ext cx="1072584" cy="914918"/>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 name="Shape 70"/>
        <p:cNvGrpSpPr/>
        <p:nvPr/>
      </p:nvGrpSpPr>
      <p:grpSpPr>
        <a:xfrm>
          <a:off x="0" y="0"/>
          <a:ext cx="0" cy="0"/>
          <a:chOff x="0" y="0"/>
          <a:chExt cx="0" cy="0"/>
        </a:xfrm>
      </p:grpSpPr>
      <p:pic>
        <p:nvPicPr>
          <p:cNvPr id="71" name="Google Shape;71;p15" title="tata_posicion_perfil.jpg"/>
          <p:cNvPicPr preferRelativeResize="0"/>
          <p:nvPr/>
        </p:nvPicPr>
        <p:blipFill>
          <a:blip r:embed="rId3">
            <a:alphaModFix/>
          </a:blip>
          <a:stretch>
            <a:fillRect/>
          </a:stretch>
        </p:blipFill>
        <p:spPr>
          <a:xfrm>
            <a:off x="152400" y="152400"/>
            <a:ext cx="6773514" cy="4838697"/>
          </a:xfrm>
          <a:prstGeom prst="rect">
            <a:avLst/>
          </a:prstGeom>
          <a:noFill/>
          <a:ln>
            <a:noFill/>
          </a:ln>
        </p:spPr>
      </p:pic>
      <p:sp>
        <p:nvSpPr>
          <p:cNvPr id="72" name="Google Shape;72;p15"/>
          <p:cNvSpPr txBox="1"/>
          <p:nvPr/>
        </p:nvSpPr>
        <p:spPr>
          <a:xfrm>
            <a:off x="6925925" y="203525"/>
            <a:ext cx="2894400" cy="2370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s-419" sz="1000">
                <a:solidFill>
                  <a:schemeClr val="dk2"/>
                </a:solidFill>
              </a:rPr>
              <a:t>La TATA-box se asocia con mayor actividad solo en su posición canónica.</a:t>
            </a:r>
            <a:r>
              <a:rPr b="1" lang="es-419" sz="1100">
                <a:solidFill>
                  <a:schemeClr val="dk1"/>
                </a:solidFill>
              </a:rPr>
              <a:t> </a:t>
            </a:r>
            <a:r>
              <a:rPr lang="es-419" sz="1100">
                <a:solidFill>
                  <a:schemeClr val="dk1"/>
                </a:solidFill>
              </a:rPr>
              <a:t>Diferencia de actividad media (Hodges-Lehmann, IC 95%) entre los promotores con una TATA-box en cada ventana de 10 pb y los promotores sin TATA-box. La TATA-box se buscó con la matriz de Bucher y el corte de EPD, en la misma hebra (verde oscuro) y en la opuesta (verde claro). Puntos rellenos: BH &lt; 0,05. Abajo, el porcentaje de promotores con TATA-box en cada ventana. Franja gris: ventana canónica (−31 a −26). </a:t>
            </a:r>
            <a:endParaRPr sz="1000">
              <a:solidFill>
                <a:schemeClr val="dk2"/>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 name="Shape 76"/>
        <p:cNvGrpSpPr/>
        <p:nvPr/>
      </p:nvGrpSpPr>
      <p:grpSpPr>
        <a:xfrm>
          <a:off x="0" y="0"/>
          <a:ext cx="0" cy="0"/>
          <a:chOff x="0" y="0"/>
          <a:chExt cx="0" cy="0"/>
        </a:xfrm>
      </p:grpSpPr>
      <p:pic>
        <p:nvPicPr>
          <p:cNvPr id="77" name="Google Shape;77;p16" title="tata_posicion_modelo_AT.jpg"/>
          <p:cNvPicPr preferRelativeResize="0"/>
          <p:nvPr/>
        </p:nvPicPr>
        <p:blipFill>
          <a:blip r:embed="rId3">
            <a:alphaModFix/>
          </a:blip>
          <a:stretch>
            <a:fillRect/>
          </a:stretch>
        </p:blipFill>
        <p:spPr>
          <a:xfrm>
            <a:off x="132750" y="152400"/>
            <a:ext cx="3399398" cy="2718851"/>
          </a:xfrm>
          <a:prstGeom prst="rect">
            <a:avLst/>
          </a:prstGeom>
          <a:noFill/>
          <a:ln>
            <a:noFill/>
          </a:ln>
        </p:spPr>
      </p:pic>
      <p:pic>
        <p:nvPicPr>
          <p:cNvPr id="78" name="Google Shape;78;p16" title="tata_posicion_permutadas.jpg"/>
          <p:cNvPicPr preferRelativeResize="0"/>
          <p:nvPr/>
        </p:nvPicPr>
        <p:blipFill>
          <a:blip r:embed="rId4">
            <a:alphaModFix/>
          </a:blip>
          <a:stretch>
            <a:fillRect/>
          </a:stretch>
        </p:blipFill>
        <p:spPr>
          <a:xfrm>
            <a:off x="3683724" y="152400"/>
            <a:ext cx="3399398" cy="2718863"/>
          </a:xfrm>
          <a:prstGeom prst="rect">
            <a:avLst/>
          </a:prstGeom>
          <a:noFill/>
          <a:ln>
            <a:noFill/>
          </a:ln>
        </p:spPr>
      </p:pic>
      <p:sp>
        <p:nvSpPr>
          <p:cNvPr id="79" name="Google Shape;79;p16"/>
          <p:cNvSpPr txBox="1"/>
          <p:nvPr/>
        </p:nvSpPr>
        <p:spPr>
          <a:xfrm>
            <a:off x="0" y="3317100"/>
            <a:ext cx="3000000" cy="1877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s-419" sz="1100">
                <a:solidFill>
                  <a:schemeClr val="dk1"/>
                </a:solidFill>
              </a:rPr>
              <a:t>El efecto de la TATA-box canónica no se explica por la composición de bases.</a:t>
            </a:r>
            <a:r>
              <a:rPr lang="es-419" sz="1100">
                <a:solidFill>
                  <a:schemeClr val="dk1"/>
                </a:solidFill>
              </a:rPr>
              <a:t> (A) Coeficientes de un modelo lineal del percentil de actividad para cada clase de promotor respecto de los promotores sin TATA-box, sin ajustar y ajustando por el contenido de A/T. (B) </a:t>
            </a:r>
            <a:r>
              <a:rPr lang="es-419" sz="1100">
                <a:solidFill>
                  <a:schemeClr val="dk1"/>
                </a:solidFill>
              </a:rPr>
              <a:t>Mismo perfil de la Figura R2.3 en la misma hebra, para la matriz real (color) y para 10 matrices con las columnas permutadas (gris).</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pic>
        <p:nvPicPr>
          <p:cNvPr id="84" name="Google Shape;84;p17" title="panel_puntaje_bins.jpg"/>
          <p:cNvPicPr preferRelativeResize="0"/>
          <p:nvPr/>
        </p:nvPicPr>
        <p:blipFill>
          <a:blip r:embed="rId3">
            <a:alphaModFix/>
          </a:blip>
          <a:stretch>
            <a:fillRect/>
          </a:stretch>
        </p:blipFill>
        <p:spPr>
          <a:xfrm>
            <a:off x="1838526" y="-12"/>
            <a:ext cx="5988751" cy="2807225"/>
          </a:xfrm>
          <a:prstGeom prst="rect">
            <a:avLst/>
          </a:prstGeom>
          <a:noFill/>
          <a:ln>
            <a:noFill/>
          </a:ln>
        </p:spPr>
      </p:pic>
      <p:sp>
        <p:nvSpPr>
          <p:cNvPr id="85" name="Google Shape;85;p17"/>
          <p:cNvSpPr txBox="1"/>
          <p:nvPr/>
        </p:nvSpPr>
        <p:spPr>
          <a:xfrm>
            <a:off x="3623150" y="2807200"/>
            <a:ext cx="3000000" cy="2385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s-419" sz="1100">
                <a:solidFill>
                  <a:schemeClr val="dk1"/>
                </a:solidFill>
              </a:rPr>
              <a:t>La actividad aumenta en forma gradual con el puntaje de la TATA-box canónica.</a:t>
            </a:r>
            <a:r>
              <a:rPr lang="es-419" sz="1100">
                <a:solidFill>
                  <a:schemeClr val="dk1"/>
                </a:solidFill>
              </a:rPr>
              <a:t> Percentil de actividad medio (IC 95%) según el puntaje de la TATA-box en la ventana canónica de la Figura R2.3 (verde) o en una ventana control lejos del TSS (gris), en intervalos fijos de puntaje y en intervalos de 1 unidad. Diferencia de actividad (Hodges-Lehmann, IC 95%) de los promotores con TATA-box canónica para cortes crecientes, respecto de una referencia fija sin TATA-box. Línea vertical: corte de EPD (−8,17). </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 name="Shape 89"/>
        <p:cNvGrpSpPr/>
        <p:nvPr/>
      </p:nvGrpSpPr>
      <p:grpSpPr>
        <a:xfrm>
          <a:off x="0" y="0"/>
          <a:ext cx="0" cy="0"/>
          <a:chOff x="0" y="0"/>
          <a:chExt cx="0" cy="0"/>
        </a:xfrm>
      </p:grpSpPr>
      <p:pic>
        <p:nvPicPr>
          <p:cNvPr id="90" name="Google Shape;90;p18" title="ccaat_scatter.jpg"/>
          <p:cNvPicPr preferRelativeResize="0"/>
          <p:nvPr/>
        </p:nvPicPr>
        <p:blipFill>
          <a:blip r:embed="rId3">
            <a:alphaModFix/>
          </a:blip>
          <a:stretch>
            <a:fillRect/>
          </a:stretch>
        </p:blipFill>
        <p:spPr>
          <a:xfrm>
            <a:off x="407676" y="213872"/>
            <a:ext cx="2832507" cy="1593274"/>
          </a:xfrm>
          <a:prstGeom prst="rect">
            <a:avLst/>
          </a:prstGeom>
          <a:noFill/>
          <a:ln>
            <a:noFill/>
          </a:ln>
        </p:spPr>
      </p:pic>
      <p:pic>
        <p:nvPicPr>
          <p:cNvPr id="91" name="Google Shape;91;p18" title="ccaat_violin_rep1.jpg"/>
          <p:cNvPicPr preferRelativeResize="0"/>
          <p:nvPr/>
        </p:nvPicPr>
        <p:blipFill>
          <a:blip r:embed="rId4">
            <a:alphaModFix/>
          </a:blip>
          <a:stretch>
            <a:fillRect/>
          </a:stretch>
        </p:blipFill>
        <p:spPr>
          <a:xfrm>
            <a:off x="520414" y="1870697"/>
            <a:ext cx="1375375" cy="1031524"/>
          </a:xfrm>
          <a:prstGeom prst="rect">
            <a:avLst/>
          </a:prstGeom>
          <a:noFill/>
          <a:ln>
            <a:noFill/>
          </a:ln>
        </p:spPr>
      </p:pic>
      <p:pic>
        <p:nvPicPr>
          <p:cNvPr id="92" name="Google Shape;92;p18" title="ccaat_violin_rep2.jpg"/>
          <p:cNvPicPr preferRelativeResize="0"/>
          <p:nvPr/>
        </p:nvPicPr>
        <p:blipFill>
          <a:blip r:embed="rId5">
            <a:alphaModFix/>
          </a:blip>
          <a:stretch>
            <a:fillRect/>
          </a:stretch>
        </p:blipFill>
        <p:spPr>
          <a:xfrm>
            <a:off x="1895788" y="1821299"/>
            <a:ext cx="1507098" cy="1130323"/>
          </a:xfrm>
          <a:prstGeom prst="rect">
            <a:avLst/>
          </a:prstGeom>
          <a:noFill/>
          <a:ln>
            <a:noFill/>
          </a:ln>
        </p:spPr>
      </p:pic>
      <p:pic>
        <p:nvPicPr>
          <p:cNvPr id="93" name="Google Shape;93;p18" title="gcbox_scatter.jpg"/>
          <p:cNvPicPr preferRelativeResize="0"/>
          <p:nvPr/>
        </p:nvPicPr>
        <p:blipFill>
          <a:blip r:embed="rId6">
            <a:alphaModFix/>
          </a:blip>
          <a:stretch>
            <a:fillRect/>
          </a:stretch>
        </p:blipFill>
        <p:spPr>
          <a:xfrm>
            <a:off x="3555280" y="152400"/>
            <a:ext cx="3017902" cy="1697570"/>
          </a:xfrm>
          <a:prstGeom prst="rect">
            <a:avLst/>
          </a:prstGeom>
          <a:noFill/>
          <a:ln>
            <a:noFill/>
          </a:ln>
        </p:spPr>
      </p:pic>
      <p:pic>
        <p:nvPicPr>
          <p:cNvPr id="94" name="Google Shape;94;p18" title="gcbox_violin_rep1.jpg"/>
          <p:cNvPicPr preferRelativeResize="0"/>
          <p:nvPr/>
        </p:nvPicPr>
        <p:blipFill>
          <a:blip r:embed="rId7">
            <a:alphaModFix/>
          </a:blip>
          <a:stretch>
            <a:fillRect/>
          </a:stretch>
        </p:blipFill>
        <p:spPr>
          <a:xfrm>
            <a:off x="3876990" y="1849968"/>
            <a:ext cx="1396782" cy="1047587"/>
          </a:xfrm>
          <a:prstGeom prst="rect">
            <a:avLst/>
          </a:prstGeom>
          <a:noFill/>
          <a:ln>
            <a:noFill/>
          </a:ln>
        </p:spPr>
      </p:pic>
      <p:pic>
        <p:nvPicPr>
          <p:cNvPr id="95" name="Google Shape;95;p18" title="gcbox_violin_rep2.jpg"/>
          <p:cNvPicPr preferRelativeResize="0"/>
          <p:nvPr/>
        </p:nvPicPr>
        <p:blipFill>
          <a:blip r:embed="rId8">
            <a:alphaModFix/>
          </a:blip>
          <a:stretch>
            <a:fillRect/>
          </a:stretch>
        </p:blipFill>
        <p:spPr>
          <a:xfrm>
            <a:off x="5261006" y="1904038"/>
            <a:ext cx="1396782" cy="1047587"/>
          </a:xfrm>
          <a:prstGeom prst="rect">
            <a:avLst/>
          </a:prstGeom>
          <a:noFill/>
          <a:ln>
            <a:noFill/>
          </a:ln>
        </p:spPr>
      </p:pic>
      <p:sp>
        <p:nvSpPr>
          <p:cNvPr id="96" name="Google Shape;96;p18"/>
          <p:cNvSpPr txBox="1"/>
          <p:nvPr/>
        </p:nvSpPr>
        <p:spPr>
          <a:xfrm>
            <a:off x="0" y="3238150"/>
            <a:ext cx="7238400" cy="20394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b="1" lang="es-419" sz="1000">
                <a:solidFill>
                  <a:schemeClr val="dk1"/>
                </a:solidFill>
              </a:rPr>
              <a:t>Asociación de la CCAAT-box y la GC-box con la actividad transcripcional.</a:t>
            </a:r>
            <a:endParaRPr b="1" sz="1000">
              <a:solidFill>
                <a:schemeClr val="dk1"/>
              </a:solidFill>
            </a:endParaRPr>
          </a:p>
          <a:p>
            <a:pPr indent="0" lvl="0" marL="0" rtl="0" algn="l">
              <a:lnSpc>
                <a:spcPct val="115000"/>
              </a:lnSpc>
              <a:spcBef>
                <a:spcPts val="1200"/>
              </a:spcBef>
              <a:spcAft>
                <a:spcPts val="0"/>
              </a:spcAft>
              <a:buNone/>
            </a:pPr>
            <a:r>
              <a:rPr b="1" lang="es-419" sz="1000">
                <a:solidFill>
                  <a:schemeClr val="dk1"/>
                </a:solidFill>
              </a:rPr>
              <a:t>(A)</a:t>
            </a:r>
            <a:r>
              <a:rPr lang="es-419" sz="1000">
                <a:solidFill>
                  <a:schemeClr val="dk1"/>
                </a:solidFill>
              </a:rPr>
              <a:t> CCAAT-box. Izquierda: proporción de promotores con CCAAT-box en grupos de 100 promotores ordenados por actividad media, para cada réplica, con una curva suavizada. Derecha: distribución de la actividad media de los promotores sin el motivo (Ausencia) y con él (Presencia), para las réplicas 1 y 2.</a:t>
            </a:r>
            <a:endParaRPr sz="1000">
              <a:solidFill>
                <a:schemeClr val="dk1"/>
              </a:solidFill>
            </a:endParaRPr>
          </a:p>
          <a:p>
            <a:pPr indent="0" lvl="0" marL="0" rtl="0" algn="l">
              <a:lnSpc>
                <a:spcPct val="115000"/>
              </a:lnSpc>
              <a:spcBef>
                <a:spcPts val="1200"/>
              </a:spcBef>
              <a:spcAft>
                <a:spcPts val="0"/>
              </a:spcAft>
              <a:buNone/>
            </a:pPr>
            <a:r>
              <a:rPr b="1" lang="es-419" sz="1000">
                <a:solidFill>
                  <a:schemeClr val="dk1"/>
                </a:solidFill>
              </a:rPr>
              <a:t>(B)</a:t>
            </a:r>
            <a:r>
              <a:rPr lang="es-419" sz="1000">
                <a:solidFill>
                  <a:schemeClr val="dk1"/>
                </a:solidFill>
              </a:rPr>
              <a:t> Lo mismo para la GC-box.</a:t>
            </a:r>
            <a:endParaRPr sz="1000">
              <a:solidFill>
                <a:schemeClr val="dk1"/>
              </a:solidFill>
            </a:endParaRPr>
          </a:p>
          <a:p>
            <a:pPr indent="0" lvl="0" marL="0" rtl="0" algn="l">
              <a:lnSpc>
                <a:spcPct val="115000"/>
              </a:lnSpc>
              <a:spcBef>
                <a:spcPts val="1200"/>
              </a:spcBef>
              <a:spcAft>
                <a:spcPts val="1200"/>
              </a:spcAft>
              <a:buNone/>
            </a:pPr>
            <a:r>
              <a:rPr lang="es-419" sz="1000">
                <a:solidFill>
                  <a:schemeClr val="dk1"/>
                </a:solidFill>
              </a:rPr>
              <a:t>En todos los casos, la presencia del motivo corresponde a la anotación de EPD. Las diferencias entre grupos se evaluaron con el test de Wilcoxon (p &lt; 2,2×10⁻¹⁶ en ambos motivos y réplicas); el tamaño del efecto (estimador de Hodges-Lehmann) se informa en el texto.</a:t>
            </a:r>
            <a:endParaRPr sz="1000">
              <a:solidFill>
                <a:schemeClr val="dk1"/>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 name="Shape 100"/>
        <p:cNvGrpSpPr/>
        <p:nvPr/>
      </p:nvGrpSpPr>
      <p:grpSpPr>
        <a:xfrm>
          <a:off x="0" y="0"/>
          <a:ext cx="0" cy="0"/>
          <a:chOff x="0" y="0"/>
          <a:chExt cx="0" cy="0"/>
        </a:xfrm>
      </p:grpSpPr>
      <p:pic>
        <p:nvPicPr>
          <p:cNvPr id="101" name="Google Shape;101;p19" title="ccaat_gcbox_prevalencia_cgi.jpg"/>
          <p:cNvPicPr preferRelativeResize="0"/>
          <p:nvPr/>
        </p:nvPicPr>
        <p:blipFill>
          <a:blip r:embed="rId3">
            <a:alphaModFix/>
          </a:blip>
          <a:stretch>
            <a:fillRect/>
          </a:stretch>
        </p:blipFill>
        <p:spPr>
          <a:xfrm>
            <a:off x="0" y="526575"/>
            <a:ext cx="3988301" cy="2243425"/>
          </a:xfrm>
          <a:prstGeom prst="rect">
            <a:avLst/>
          </a:prstGeom>
          <a:noFill/>
          <a:ln>
            <a:noFill/>
          </a:ln>
        </p:spPr>
      </p:pic>
      <p:pic>
        <p:nvPicPr>
          <p:cNvPr id="102" name="Google Shape;102;p19" title="ccaat_gcbox_efecto_cgi.jpg"/>
          <p:cNvPicPr preferRelativeResize="0"/>
          <p:nvPr/>
        </p:nvPicPr>
        <p:blipFill>
          <a:blip r:embed="rId4">
            <a:alphaModFix/>
          </a:blip>
          <a:stretch>
            <a:fillRect/>
          </a:stretch>
        </p:blipFill>
        <p:spPr>
          <a:xfrm>
            <a:off x="4096770" y="170720"/>
            <a:ext cx="4837873" cy="2763824"/>
          </a:xfrm>
          <a:prstGeom prst="rect">
            <a:avLst/>
          </a:prstGeom>
          <a:noFill/>
          <a:ln>
            <a:noFill/>
          </a:ln>
        </p:spPr>
      </p:pic>
      <p:sp>
        <p:nvSpPr>
          <p:cNvPr id="103" name="Google Shape;103;p19"/>
          <p:cNvSpPr txBox="1"/>
          <p:nvPr/>
        </p:nvSpPr>
        <p:spPr>
          <a:xfrm>
            <a:off x="750300" y="3080150"/>
            <a:ext cx="6705300" cy="18855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b="1" lang="es-419" sz="1000">
                <a:solidFill>
                  <a:schemeClr val="dk1"/>
                </a:solidFill>
              </a:rPr>
              <a:t>Relación de la CCAAT-box y la GC-box con las islas CpG.</a:t>
            </a:r>
            <a:endParaRPr b="1" sz="1000">
              <a:solidFill>
                <a:schemeClr val="dk1"/>
              </a:solidFill>
            </a:endParaRPr>
          </a:p>
          <a:p>
            <a:pPr indent="0" lvl="0" marL="0" rtl="0" algn="l">
              <a:lnSpc>
                <a:spcPct val="115000"/>
              </a:lnSpc>
              <a:spcBef>
                <a:spcPts val="1200"/>
              </a:spcBef>
              <a:spcAft>
                <a:spcPts val="0"/>
              </a:spcAft>
              <a:buNone/>
            </a:pPr>
            <a:r>
              <a:rPr b="1" lang="es-419" sz="1000">
                <a:solidFill>
                  <a:schemeClr val="dk1"/>
                </a:solidFill>
              </a:rPr>
              <a:t>(A)</a:t>
            </a:r>
            <a:r>
              <a:rPr lang="es-419" sz="1000">
                <a:solidFill>
                  <a:schemeClr val="dk1"/>
                </a:solidFill>
              </a:rPr>
              <a:t> Porcentaje de promotores de la </a:t>
            </a:r>
            <a:r>
              <a:rPr i="1" lang="es-419" sz="1000">
                <a:solidFill>
                  <a:schemeClr val="dk1"/>
                </a:solidFill>
              </a:rPr>
              <a:t>library</a:t>
            </a:r>
            <a:r>
              <a:rPr lang="es-419" sz="1000">
                <a:solidFill>
                  <a:schemeClr val="dk1"/>
                </a:solidFill>
              </a:rPr>
              <a:t> con CCAAT-box y con GC-box, entre los que tienen isla CpG (n = 13.886) y los que no (n = 6.965). La isla CpG se definió por la composición del fragmento (G+C ≥ 50% y razón CpG observado/esperado &gt; 0,6).</a:t>
            </a:r>
            <a:endParaRPr sz="1000">
              <a:solidFill>
                <a:schemeClr val="dk1"/>
              </a:solidFill>
            </a:endParaRPr>
          </a:p>
          <a:p>
            <a:pPr indent="0" lvl="0" marL="0" rtl="0" algn="l">
              <a:lnSpc>
                <a:spcPct val="115000"/>
              </a:lnSpc>
              <a:spcBef>
                <a:spcPts val="1200"/>
              </a:spcBef>
              <a:spcAft>
                <a:spcPts val="1200"/>
              </a:spcAft>
              <a:buNone/>
            </a:pPr>
            <a:r>
              <a:rPr b="1" lang="es-419" sz="1000">
                <a:solidFill>
                  <a:schemeClr val="dk1"/>
                </a:solidFill>
              </a:rPr>
              <a:t>(B)</a:t>
            </a:r>
            <a:r>
              <a:rPr lang="es-419" sz="1000">
                <a:solidFill>
                  <a:schemeClr val="dk1"/>
                </a:solidFill>
              </a:rPr>
              <a:t> Diferencia de actividad media entre promotores con y sin cada motivo (estimador de Hodges-Lehmann con IC 95%), calculada sobre todos los promotores y por separado en los promotores con y sin isla CpG, para cada réplica. Junto a cada punto se indica el número de promotores con el motivo. La línea punteada marca la ausencia de efecto.</a:t>
            </a:r>
            <a:endParaRPr sz="1000">
              <a:solidFill>
                <a:schemeClr val="dk1"/>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 name="Shape 107"/>
        <p:cNvGrpSpPr/>
        <p:nvPr/>
      </p:nvGrpSpPr>
      <p:grpSpPr>
        <a:xfrm>
          <a:off x="0" y="0"/>
          <a:ext cx="0" cy="0"/>
          <a:chOff x="0" y="0"/>
          <a:chExt cx="0" cy="0"/>
        </a:xfrm>
      </p:grpSpPr>
      <p:pic>
        <p:nvPicPr>
          <p:cNvPr id="108" name="Google Shape;108;p20" title="tss_perfil_efectos_promotor_hl.jpg"/>
          <p:cNvPicPr preferRelativeResize="0"/>
          <p:nvPr/>
        </p:nvPicPr>
        <p:blipFill>
          <a:blip r:embed="rId3">
            <a:alphaModFix/>
          </a:blip>
          <a:stretch>
            <a:fillRect/>
          </a:stretch>
        </p:blipFill>
        <p:spPr>
          <a:xfrm>
            <a:off x="152400" y="152400"/>
            <a:ext cx="8469796" cy="4838702"/>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 name="Shape 112"/>
        <p:cNvGrpSpPr/>
        <p:nvPr/>
      </p:nvGrpSpPr>
      <p:grpSpPr>
        <a:xfrm>
          <a:off x="0" y="0"/>
          <a:ext cx="0" cy="0"/>
          <a:chOff x="0" y="0"/>
          <a:chExt cx="0" cy="0"/>
        </a:xfrm>
      </p:grpSpPr>
      <p:pic>
        <p:nvPicPr>
          <p:cNvPr id="113" name="Google Shape;113;p21" title="tss_perfil_YR_todos.jpg"/>
          <p:cNvPicPr preferRelativeResize="0"/>
          <p:nvPr/>
        </p:nvPicPr>
        <p:blipFill>
          <a:blip r:embed="rId3">
            <a:alphaModFix/>
          </a:blip>
          <a:stretch>
            <a:fillRect/>
          </a:stretch>
        </p:blipFill>
        <p:spPr>
          <a:xfrm>
            <a:off x="152400" y="3111501"/>
            <a:ext cx="5012301" cy="1879599"/>
          </a:xfrm>
          <a:prstGeom prst="rect">
            <a:avLst/>
          </a:prstGeom>
          <a:noFill/>
          <a:ln>
            <a:noFill/>
          </a:ln>
        </p:spPr>
      </p:pic>
      <p:pic>
        <p:nvPicPr>
          <p:cNvPr id="114" name="Google Shape;114;p21" title="tss_modelo.jpg"/>
          <p:cNvPicPr preferRelativeResize="0"/>
          <p:nvPr/>
        </p:nvPicPr>
        <p:blipFill>
          <a:blip r:embed="rId4">
            <a:alphaModFix/>
          </a:blip>
          <a:stretch>
            <a:fillRect/>
          </a:stretch>
        </p:blipFill>
        <p:spPr>
          <a:xfrm>
            <a:off x="646976" y="609872"/>
            <a:ext cx="3674501" cy="200411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 name="Shape 118"/>
        <p:cNvGrpSpPr/>
        <p:nvPr/>
      </p:nvGrpSpPr>
      <p:grpSpPr>
        <a:xfrm>
          <a:off x="0" y="0"/>
          <a:ext cx="0" cy="0"/>
          <a:chOff x="0" y="0"/>
          <a:chExt cx="0" cy="0"/>
        </a:xfrm>
      </p:grpSpPr>
      <p:pic>
        <p:nvPicPr>
          <p:cNvPr id="119" name="Google Shape;119;p22" title="kmeros_efecto_vs_cpg.jpg"/>
          <p:cNvPicPr preferRelativeResize="0"/>
          <p:nvPr/>
        </p:nvPicPr>
        <p:blipFill>
          <a:blip r:embed="rId4">
            <a:alphaModFix/>
          </a:blip>
          <a:stretch>
            <a:fillRect/>
          </a:stretch>
        </p:blipFill>
        <p:spPr>
          <a:xfrm>
            <a:off x="0" y="-1"/>
            <a:ext cx="5610598" cy="2372450"/>
          </a:xfrm>
          <a:prstGeom prst="rect">
            <a:avLst/>
          </a:prstGeom>
          <a:noFill/>
          <a:ln>
            <a:noFill/>
          </a:ln>
        </p:spPr>
      </p:pic>
      <p:pic>
        <p:nvPicPr>
          <p:cNvPr id="120" name="Google Shape;120;p22" title="ebox_zeb_scatter_cgi.jpg"/>
          <p:cNvPicPr preferRelativeResize="0"/>
          <p:nvPr/>
        </p:nvPicPr>
        <p:blipFill>
          <a:blip r:embed="rId5">
            <a:alphaModFix/>
          </a:blip>
          <a:stretch>
            <a:fillRect/>
          </a:stretch>
        </p:blipFill>
        <p:spPr>
          <a:xfrm>
            <a:off x="152400" y="2524849"/>
            <a:ext cx="4384445" cy="2466251"/>
          </a:xfrm>
          <a:prstGeom prst="rect">
            <a:avLst/>
          </a:prstGeom>
          <a:noFill/>
          <a:ln>
            <a:noFill/>
          </a:ln>
        </p:spPr>
      </p:pic>
      <p:pic>
        <p:nvPicPr>
          <p:cNvPr id="121" name="Google Shape;121;p22" title="kmeros_volcano_motivos.jpg"/>
          <p:cNvPicPr preferRelativeResize="0"/>
          <p:nvPr/>
        </p:nvPicPr>
        <p:blipFill>
          <a:blip r:embed="rId6">
            <a:alphaModFix/>
          </a:blip>
          <a:stretch>
            <a:fillRect/>
          </a:stretch>
        </p:blipFill>
        <p:spPr>
          <a:xfrm>
            <a:off x="5762998" y="152400"/>
            <a:ext cx="3228600" cy="2536532"/>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 name="Shape 125"/>
        <p:cNvGrpSpPr/>
        <p:nvPr/>
      </p:nvGrpSpPr>
      <p:grpSpPr>
        <a:xfrm>
          <a:off x="0" y="0"/>
          <a:ext cx="0" cy="0"/>
          <a:chOff x="0" y="0"/>
          <a:chExt cx="0" cy="0"/>
        </a:xfrm>
      </p:grpSpPr>
      <p:pic>
        <p:nvPicPr>
          <p:cNvPr id="126" name="Google Shape;126;p23" title="summary_seq.jpg"/>
          <p:cNvPicPr preferRelativeResize="0"/>
          <p:nvPr/>
        </p:nvPicPr>
        <p:blipFill>
          <a:blip r:embed="rId3">
            <a:alphaModFix/>
          </a:blip>
          <a:stretch>
            <a:fillRect/>
          </a:stretch>
        </p:blipFill>
        <p:spPr>
          <a:xfrm>
            <a:off x="152400" y="152400"/>
            <a:ext cx="8839204" cy="4419602"/>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 name="Shape 130"/>
        <p:cNvGrpSpPr/>
        <p:nvPr/>
      </p:nvGrpSpPr>
      <p:grpSpPr>
        <a:xfrm>
          <a:off x="0" y="0"/>
          <a:ext cx="0" cy="0"/>
          <a:chOff x="0" y="0"/>
          <a:chExt cx="0" cy="0"/>
        </a:xfrm>
      </p:grpSpPr>
      <p:sp>
        <p:nvSpPr>
          <p:cNvPr id="131" name="Google Shape;131;p24"/>
          <p:cNvSpPr txBox="1"/>
          <p:nvPr/>
        </p:nvSpPr>
        <p:spPr>
          <a:xfrm>
            <a:off x="0" y="0"/>
            <a:ext cx="3000000" cy="2647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s-419" sz="1000">
                <a:solidFill>
                  <a:schemeClr val="dk1"/>
                </a:solidFill>
              </a:rPr>
              <a:t>F</a:t>
            </a:r>
            <a:r>
              <a:rPr b="1" lang="es-419" sz="1000">
                <a:solidFill>
                  <a:schemeClr val="dk1"/>
                </a:solidFill>
              </a:rPr>
              <a:t>igura R2.12. Los elementos del promotor basal combinan sus efectos de forma aproximadamente aditiva.</a:t>
            </a:r>
            <a:r>
              <a:rPr lang="es-419" sz="1000">
                <a:solidFill>
                  <a:schemeClr val="dk1"/>
                </a:solidFill>
              </a:rPr>
              <a:t> (A) Distribución de la actividad media de los promotores según el número de elementos asociados a mayor actividad que contienen (isla CpG, TATA-box, CCAAT-box, sitio de YY1 y CRE), para cada réplica. Sobre cada violín se indica el número de promotores. (B) Mediana de la actividad media según el número de elementos positivos (columnas) y de características asociadas a menor actividad (TSS no canónico, E-box CAGGTR y tramo poli(dA:dT) proximal; filas), para cada réplica. En cada celda se indican la mediana y el número de promotores; se omiten las celdas con menos de 50 promotores. </a:t>
            </a:r>
            <a:endParaRPr sz="1000"/>
          </a:p>
        </p:txBody>
      </p:sp>
      <p:pic>
        <p:nvPicPr>
          <p:cNvPr id="132" name="Google Shape;132;p24" title="p1_violines_n_elementos.jpg"/>
          <p:cNvPicPr preferRelativeResize="0"/>
          <p:nvPr/>
        </p:nvPicPr>
        <p:blipFill>
          <a:blip r:embed="rId4">
            <a:alphaModFix/>
          </a:blip>
          <a:stretch>
            <a:fillRect/>
          </a:stretch>
        </p:blipFill>
        <p:spPr>
          <a:xfrm>
            <a:off x="3559375" y="0"/>
            <a:ext cx="4419599" cy="2209800"/>
          </a:xfrm>
          <a:prstGeom prst="rect">
            <a:avLst/>
          </a:prstGeom>
          <a:noFill/>
          <a:ln>
            <a:noFill/>
          </a:ln>
        </p:spPr>
      </p:pic>
      <p:pic>
        <p:nvPicPr>
          <p:cNvPr id="133" name="Google Shape;133;p24" title="p4_grilla_pos_x_neg.jpg"/>
          <p:cNvPicPr preferRelativeResize="0"/>
          <p:nvPr/>
        </p:nvPicPr>
        <p:blipFill>
          <a:blip r:embed="rId5">
            <a:alphaModFix/>
          </a:blip>
          <a:stretch>
            <a:fillRect/>
          </a:stretch>
        </p:blipFill>
        <p:spPr>
          <a:xfrm>
            <a:off x="3278100" y="2241950"/>
            <a:ext cx="5347702" cy="2467575"/>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 name="Shape 137"/>
        <p:cNvGrpSpPr/>
        <p:nvPr/>
      </p:nvGrpSpPr>
      <p:grpSpPr>
        <a:xfrm>
          <a:off x="0" y="0"/>
          <a:ext cx="0" cy="0"/>
          <a:chOff x="0" y="0"/>
          <a:chExt cx="0" cy="0"/>
        </a:xfrm>
      </p:grpSpPr>
      <p:pic>
        <p:nvPicPr>
          <p:cNvPr id="138" name="Google Shape;138;p25" title="summary_endo.jpg"/>
          <p:cNvPicPr preferRelativeResize="0"/>
          <p:nvPr/>
        </p:nvPicPr>
        <p:blipFill>
          <a:blip r:embed="rId3">
            <a:alphaModFix/>
          </a:blip>
          <a:stretch>
            <a:fillRect/>
          </a:stretch>
        </p:blipFill>
        <p:spPr>
          <a:xfrm>
            <a:off x="152400" y="152400"/>
            <a:ext cx="5227448" cy="2613724"/>
          </a:xfrm>
          <a:prstGeom prst="rect">
            <a:avLst/>
          </a:prstGeom>
          <a:noFill/>
          <a:ln>
            <a:noFill/>
          </a:ln>
        </p:spPr>
      </p:pic>
      <p:pic>
        <p:nvPicPr>
          <p:cNvPr id="139" name="Google Shape;139;p25" title="secuencia_crudo_vs_ajustado.jpg"/>
          <p:cNvPicPr preferRelativeResize="0"/>
          <p:nvPr/>
        </p:nvPicPr>
        <p:blipFill>
          <a:blip r:embed="rId4">
            <a:alphaModFix/>
          </a:blip>
          <a:stretch>
            <a:fillRect/>
          </a:stretch>
        </p:blipFill>
        <p:spPr>
          <a:xfrm>
            <a:off x="5532248" y="152400"/>
            <a:ext cx="3459354" cy="2395197"/>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 name="Shape 143"/>
        <p:cNvGrpSpPr/>
        <p:nvPr/>
      </p:nvGrpSpPr>
      <p:grpSpPr>
        <a:xfrm>
          <a:off x="0" y="0"/>
          <a:ext cx="0" cy="0"/>
          <a:chOff x="0" y="0"/>
          <a:chExt cx="0" cy="0"/>
        </a:xfrm>
      </p:grpSpPr>
      <p:pic>
        <p:nvPicPr>
          <p:cNvPr id="144" name="Google Shape;144;p26" title="remap_act.jpg"/>
          <p:cNvPicPr preferRelativeResize="0"/>
          <p:nvPr/>
        </p:nvPicPr>
        <p:blipFill>
          <a:blip r:embed="rId3">
            <a:alphaModFix/>
          </a:blip>
          <a:stretch>
            <a:fillRect/>
          </a:stretch>
        </p:blipFill>
        <p:spPr>
          <a:xfrm>
            <a:off x="184850" y="205750"/>
            <a:ext cx="3154673" cy="2366001"/>
          </a:xfrm>
          <a:prstGeom prst="rect">
            <a:avLst/>
          </a:prstGeom>
          <a:noFill/>
          <a:ln>
            <a:noFill/>
          </a:ln>
        </p:spPr>
      </p:pic>
      <p:pic>
        <p:nvPicPr>
          <p:cNvPr id="145" name="Google Shape;145;p26" title="remap_act_low.jpg"/>
          <p:cNvPicPr preferRelativeResize="0"/>
          <p:nvPr/>
        </p:nvPicPr>
        <p:blipFill>
          <a:blip r:embed="rId4">
            <a:alphaModFix/>
          </a:blip>
          <a:stretch>
            <a:fillRect/>
          </a:stretch>
        </p:blipFill>
        <p:spPr>
          <a:xfrm>
            <a:off x="5159224" y="-52348"/>
            <a:ext cx="2235203" cy="1986362"/>
          </a:xfrm>
          <a:prstGeom prst="rect">
            <a:avLst/>
          </a:prstGeom>
          <a:noFill/>
          <a:ln>
            <a:noFill/>
          </a:ln>
        </p:spPr>
      </p:pic>
      <p:pic>
        <p:nvPicPr>
          <p:cNvPr id="146" name="Google Shape;146;p26" title="GSEA_top_pathway_rep1.jpg"/>
          <p:cNvPicPr preferRelativeResize="0"/>
          <p:nvPr/>
        </p:nvPicPr>
        <p:blipFill>
          <a:blip r:embed="rId5">
            <a:alphaModFix/>
          </a:blip>
          <a:stretch>
            <a:fillRect/>
          </a:stretch>
        </p:blipFill>
        <p:spPr>
          <a:xfrm>
            <a:off x="4744150" y="2046525"/>
            <a:ext cx="3154673" cy="2366001"/>
          </a:xfrm>
          <a:prstGeom prst="rect">
            <a:avLst/>
          </a:prstGeom>
          <a:noFill/>
          <a:ln>
            <a:noFill/>
          </a:ln>
        </p:spPr>
      </p:pic>
      <p:sp>
        <p:nvSpPr>
          <p:cNvPr id="147" name="Google Shape;147;p26"/>
          <p:cNvSpPr txBox="1"/>
          <p:nvPr/>
        </p:nvSpPr>
        <p:spPr>
          <a:xfrm>
            <a:off x="0" y="2809825"/>
            <a:ext cx="4366500" cy="1985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s-419" sz="900">
                <a:solidFill>
                  <a:schemeClr val="dk1"/>
                </a:solidFill>
              </a:rPr>
              <a:t>Figura R2.14. La ocupación de factores de transcripción en el contexto endógeno se asocia con la actividad en el reportero.</a:t>
            </a:r>
            <a:r>
              <a:rPr lang="es-419" sz="900">
                <a:solidFill>
                  <a:schemeClr val="dk1"/>
                </a:solidFill>
              </a:rPr>
              <a:t> (A) Efecto de la unión de cada uno de los 986 factores de ReMap sobre la actividad media en el reportero (estimador de Hodges-Lehmann), para las réplicas 1 (color sólido) y 2 (color claro). En naranja se muestran los factores asociados con mayor actividad y en verde, los asociados con menor actividad. (B) Detalle de los factores asociados con menor actividad [criterio], con el estimador de Hodges-Lehmann y su intervalo de confianza del 95% para cada réplica. (C) Análisis de enriquecimiento de conjuntos (GSEA) del término de Gene Ontology «actividad de factor general de iniciación de la transcripción de la RNA polimerasa II» (GO:0016251), con los factores ordenados según su efecto sobre la actividad en la réplica 1. Arriba se muestra el puntaje de enriquecimiento acumulado; abajo, el efecto de cada factor, con los miembros del término marcados en rojo oscuro. </a:t>
            </a:r>
            <a:endParaRPr sz="900"/>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 name="Shape 151"/>
        <p:cNvGrpSpPr/>
        <p:nvPr/>
      </p:nvGrpSpPr>
      <p:grpSpPr>
        <a:xfrm>
          <a:off x="0" y="0"/>
          <a:ext cx="0" cy="0"/>
          <a:chOff x="0" y="0"/>
          <a:chExt cx="0" cy="0"/>
        </a:xfrm>
      </p:grpSpPr>
      <p:pic>
        <p:nvPicPr>
          <p:cNvPr id="152" name="Google Shape;152;p27" title="nfya_scatter_intersect.jpg"/>
          <p:cNvPicPr preferRelativeResize="0"/>
          <p:nvPr/>
        </p:nvPicPr>
        <p:blipFill>
          <a:blip r:embed="rId3">
            <a:alphaModFix/>
          </a:blip>
          <a:stretch>
            <a:fillRect/>
          </a:stretch>
        </p:blipFill>
        <p:spPr>
          <a:xfrm>
            <a:off x="0" y="0"/>
            <a:ext cx="3225800" cy="2419350"/>
          </a:xfrm>
          <a:prstGeom prst="rect">
            <a:avLst/>
          </a:prstGeom>
          <a:noFill/>
          <a:ln>
            <a:noFill/>
          </a:ln>
        </p:spPr>
      </p:pic>
      <p:pic>
        <p:nvPicPr>
          <p:cNvPr id="153" name="Google Shape;153;p27" title="tf_efecto_vs_cobertura.jpg"/>
          <p:cNvPicPr preferRelativeResize="0"/>
          <p:nvPr/>
        </p:nvPicPr>
        <p:blipFill>
          <a:blip r:embed="rId4">
            <a:alphaModFix/>
          </a:blip>
          <a:stretch>
            <a:fillRect/>
          </a:stretch>
        </p:blipFill>
        <p:spPr>
          <a:xfrm>
            <a:off x="3485400" y="0"/>
            <a:ext cx="5613404" cy="3039680"/>
          </a:xfrm>
          <a:prstGeom prst="rect">
            <a:avLst/>
          </a:prstGeom>
          <a:noFill/>
          <a:ln>
            <a:noFill/>
          </a:ln>
        </p:spPr>
      </p:pic>
      <p:pic>
        <p:nvPicPr>
          <p:cNvPr id="154" name="Google Shape;154;p27" title="tf_especificidad_ccaat.jpg"/>
          <p:cNvPicPr preferRelativeResize="0"/>
          <p:nvPr/>
        </p:nvPicPr>
        <p:blipFill>
          <a:blip r:embed="rId5">
            <a:alphaModFix/>
          </a:blip>
          <a:stretch>
            <a:fillRect/>
          </a:stretch>
        </p:blipFill>
        <p:spPr>
          <a:xfrm>
            <a:off x="52350" y="2497122"/>
            <a:ext cx="3730524" cy="2542873"/>
          </a:xfrm>
          <a:prstGeom prst="rect">
            <a:avLst/>
          </a:prstGeom>
          <a:noFill/>
          <a:ln>
            <a:noFill/>
          </a:ln>
        </p:spPr>
      </p:pic>
      <p:sp>
        <p:nvSpPr>
          <p:cNvPr id="155" name="Google Shape;155;p27"/>
          <p:cNvSpPr txBox="1"/>
          <p:nvPr/>
        </p:nvSpPr>
        <p:spPr>
          <a:xfrm>
            <a:off x="4055400" y="3304900"/>
            <a:ext cx="5088600" cy="1569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s-419" sz="900">
                <a:solidFill>
                  <a:schemeClr val="dk1"/>
                </a:solidFill>
              </a:rPr>
              <a:t>Figura R2.15. La unión de NF-YA se asocia con la actividad de forma específica y dependiente de la CCAAT-box.</a:t>
            </a:r>
            <a:r>
              <a:rPr lang="es-419" sz="900">
                <a:solidFill>
                  <a:schemeClr val="dk1"/>
                </a:solidFill>
              </a:rPr>
              <a:t> (A) Proporción de promotores unidos por NF-YA (picos en HeLa-S3, Hep-G2 y K-562) en grupos de 100 promotores ordenados por su actividad media en el reportero, para cada réplica. (B) Efecto de la unión de cada factor de ReMap sobre la actividad (estimador de Hodges-Lehmann) en función del número de promotores que une, para cada réplica. El punto naranja indica NF-YA, y la franja sombreada, los factores con un número de promotores unidos dentro de ±25% del de NF-YA. (C) Distribución de la diferencia entre el efecto de la unión de cada factor en los promotores con CCAAT-box y en los que no la tienen, para todos los factores (gris) y para los de cobertura similar a NF-YA (naranja). La línea vertical indica el valor de NF-YA. </a:t>
            </a:r>
            <a:endParaRPr sz="900"/>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