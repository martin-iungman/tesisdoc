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58eefa86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58eefa8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habefdf5efa44c7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habefdf5efa44c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habefdf5efa44c79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habefdf5efa44c7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f58eefa86d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f58eefa86d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58eefa86d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f58eefa86d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58eefa86d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f58eefa86d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58eefa86d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58eefa86d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58eefa86d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58eefa86d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3.jp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2.jpg"/><Relationship Id="rId7" Type="http://schemas.openxmlformats.org/officeDocument/2006/relationships/image" Target="../media/image14.jpg"/><Relationship Id="rId8" Type="http://schemas.openxmlformats.org/officeDocument/2006/relationships/image" Target="../media/image1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1.jpg"/><Relationship Id="rId4" Type="http://schemas.openxmlformats.org/officeDocument/2006/relationships/image" Target="../media/image18.jpg"/><Relationship Id="rId5" Type="http://schemas.openxmlformats.org/officeDocument/2006/relationships/image" Target="../media/image22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9.jpg"/><Relationship Id="rId4" Type="http://schemas.openxmlformats.org/officeDocument/2006/relationships/image" Target="../media/image23.jpg"/><Relationship Id="rId5" Type="http://schemas.openxmlformats.org/officeDocument/2006/relationships/image" Target="../media/image17.jpg"/><Relationship Id="rId6" Type="http://schemas.openxmlformats.org/officeDocument/2006/relationships/image" Target="../media/image2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jpg"/><Relationship Id="rId4" Type="http://schemas.openxmlformats.org/officeDocument/2006/relationships/image" Target="../media/image24.jpg"/><Relationship Id="rId5" Type="http://schemas.openxmlformats.org/officeDocument/2006/relationships/image" Target="../media/image2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CGI_violin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8606" y="1639571"/>
            <a:ext cx="1195520" cy="896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CGI_violin_rep2.jpg"/>
          <p:cNvPicPr preferRelativeResize="0"/>
          <p:nvPr/>
        </p:nvPicPr>
        <p:blipFill rotWithShape="1">
          <a:blip r:embed="rId4">
            <a:alphaModFix/>
          </a:blip>
          <a:srcRect b="0" l="11715" r="0" t="0"/>
          <a:stretch/>
        </p:blipFill>
        <p:spPr>
          <a:xfrm>
            <a:off x="1292079" y="1639571"/>
            <a:ext cx="1055503" cy="896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CGI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0"/>
            <a:ext cx="2186092" cy="163956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cgi_oe_deciles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99977" y="152400"/>
            <a:ext cx="4301082" cy="241935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 txBox="1"/>
          <p:nvPr/>
        </p:nvSpPr>
        <p:spPr>
          <a:xfrm>
            <a:off x="0" y="2759300"/>
            <a:ext cx="8289600" cy="29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Figura R2.1. Las islas CpG del promotor basal se asocian a una mayor actividad transcripcional.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(A)</a:t>
            </a:r>
            <a:r>
              <a:rPr lang="es-419" sz="1000">
                <a:solidFill>
                  <a:schemeClr val="dk1"/>
                </a:solidFill>
              </a:rPr>
              <a:t> Proporción de promotores con isla CpG según su actividad media en el reportero. En cada réplica, los promotores se ordenaron por actividad media y se agruparon en intervalos (</a:t>
            </a:r>
            <a:r>
              <a:rPr i="1" lang="es-419" sz="1000">
                <a:solidFill>
                  <a:schemeClr val="dk1"/>
                </a:solidFill>
              </a:rPr>
              <a:t>bins</a:t>
            </a:r>
            <a:r>
              <a:rPr lang="es-419" sz="1000">
                <a:solidFill>
                  <a:schemeClr val="dk1"/>
                </a:solidFill>
              </a:rPr>
              <a:t>) de 100 promotores. Cada punto corresponde a un </a:t>
            </a:r>
            <a:r>
              <a:rPr i="1" lang="es-419" sz="1000">
                <a:solidFill>
                  <a:schemeClr val="dk1"/>
                </a:solidFill>
              </a:rPr>
              <a:t>bin</a:t>
            </a:r>
            <a:r>
              <a:rPr lang="es-419" sz="1000">
                <a:solidFill>
                  <a:schemeClr val="dk1"/>
                </a:solidFill>
              </a:rPr>
              <a:t>. La línea muestra el ajuste LOESS y la banda gris su intervalo de confianza del 95%.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(B)</a:t>
            </a:r>
            <a:r>
              <a:rPr lang="es-419" sz="1000">
                <a:solidFill>
                  <a:schemeClr val="dk1"/>
                </a:solidFill>
              </a:rPr>
              <a:t> Distribución de la actividad media de los promotores con isla CpG (Presencia) y sin ella (Ausencia), en la réplica 1 (izquierda) y la réplica 2 (derecha). La línea horizontal de cada violín indica la mediana, y el punto con la barra vertical la mediana y el rango intercuartil. Las diferencias se evaluaron con el test de Wilcoxon-Mann-Whitney (p &lt; 2,2 × 10⁻¹⁶ en ambas réplicas). Estimador de Hodges-Lehmann: 0,222 (IC 95%: 0,202–0,241) en la réplica 1 y 0,297 (IC 95%: 0,273–0,321) en la réplica 2.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(C)</a:t>
            </a:r>
            <a:r>
              <a:rPr lang="es-419" sz="1000">
                <a:solidFill>
                  <a:schemeClr val="dk1"/>
                </a:solidFill>
              </a:rPr>
              <a:t> Actividad media en función de la razón CpG observado/esperado (o/e) del fragmento, tomada como variable continua. Dentro de cada réplica, los promotores se dividieron en deciles de la razón CpG o/e, y la actividad media se expresó como percentil. Cada punto indica el percentil de actividad promedio del decil, ubicado en la mediana de su razón CpG o/e. Las barras indican el intervalo de confianza del 95%. La línea vertical discontinua marca el umbral de 0,6 usado para definir isla CpG, y la línea horizontal punteada el percentil 50. Se indica el coeficiente de correlación de Spearman (ρ) entre la razón CpG o/e y la actividad media.</a:t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TATA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552" y="23153"/>
            <a:ext cx="2124355" cy="15932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4" title="TATA_violin_rep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07266" y="1656833"/>
            <a:ext cx="1219886" cy="91491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4" title="TATA_violin_rep2.jpg"/>
          <p:cNvPicPr preferRelativeResize="0"/>
          <p:nvPr/>
        </p:nvPicPr>
        <p:blipFill rotWithShape="1">
          <a:blip r:embed="rId5">
            <a:alphaModFix/>
          </a:blip>
          <a:srcRect b="0" l="12080" r="0" t="0"/>
          <a:stretch/>
        </p:blipFill>
        <p:spPr>
          <a:xfrm>
            <a:off x="3755445" y="1655221"/>
            <a:ext cx="1072584" cy="9149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5" title="ccaat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676" y="213872"/>
            <a:ext cx="2832507" cy="1593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15" title="ccaat_violin_rep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0414" y="1870697"/>
            <a:ext cx="1375375" cy="103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5" title="ccaat_violin_rep2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95788" y="1821299"/>
            <a:ext cx="1507098" cy="1130323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5" title="gcbox_scatter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555280" y="152400"/>
            <a:ext cx="3017902" cy="169757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5" title="gcbox_violin_rep1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876990" y="1849968"/>
            <a:ext cx="1396782" cy="1047587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5" title="gcbox_violin_rep2.jp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261006" y="1904038"/>
            <a:ext cx="1396782" cy="10475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6"/>
          <p:cNvPicPr preferRelativeResize="0"/>
          <p:nvPr/>
        </p:nvPicPr>
        <p:blipFill rotWithShape="1">
          <a:blip r:embed="rId3">
            <a:alphaModFix/>
          </a:blip>
          <a:srcRect b="0" l="0" r="0" t="9000"/>
          <a:stretch/>
        </p:blipFill>
        <p:spPr>
          <a:xfrm>
            <a:off x="152400" y="546500"/>
            <a:ext cx="7048201" cy="3982901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6"/>
          <p:cNvSpPr txBox="1"/>
          <p:nvPr/>
        </p:nvSpPr>
        <p:spPr>
          <a:xfrm>
            <a:off x="3835025" y="4343400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3465653" y="454825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3142325" y="248494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84" name="Google Shape;84;p16"/>
          <p:cNvSpPr txBox="1"/>
          <p:nvPr/>
        </p:nvSpPr>
        <p:spPr>
          <a:xfrm>
            <a:off x="4674460" y="452422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781900" y="233289"/>
            <a:ext cx="12372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basadas en la secuencia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920600" y="1229375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Isla CpG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2344825" y="1810225"/>
            <a:ext cx="5944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813075" y="991850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   CCAAT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884822" y="150321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TATA-box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942002" y="176674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GC-box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373593" y="2030275"/>
            <a:ext cx="2053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Alto contenido en G+C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2" name="Google Shape;92;p16"/>
          <p:cNvSpPr txBox="1"/>
          <p:nvPr/>
        </p:nvSpPr>
        <p:spPr>
          <a:xfrm>
            <a:off x="801991" y="2269278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CG en TSS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3" name="Google Shape;93;p16"/>
          <p:cNvSpPr txBox="1"/>
          <p:nvPr/>
        </p:nvSpPr>
        <p:spPr>
          <a:xfrm>
            <a:off x="1095665" y="2508259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TCT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4" name="Google Shape;94;p16"/>
          <p:cNvSpPr txBox="1"/>
          <p:nvPr/>
        </p:nvSpPr>
        <p:spPr>
          <a:xfrm>
            <a:off x="386175" y="2773823"/>
            <a:ext cx="2205600" cy="288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7200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Elementos transponibles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95" name="Google Shape;95;p16"/>
          <p:cNvSpPr txBox="1"/>
          <p:nvPr/>
        </p:nvSpPr>
        <p:spPr>
          <a:xfrm>
            <a:off x="572050" y="3052022"/>
            <a:ext cx="1656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TSS no canónico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96" name="Google Shape;96;p16"/>
          <p:cNvSpPr txBox="1"/>
          <p:nvPr/>
        </p:nvSpPr>
        <p:spPr>
          <a:xfrm>
            <a:off x="1076130" y="3333063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97" name="Google Shape;97;p16"/>
          <p:cNvSpPr txBox="1"/>
          <p:nvPr/>
        </p:nvSpPr>
        <p:spPr>
          <a:xfrm>
            <a:off x="1094362" y="3588669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LINE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98" name="Google Shape;98;p16"/>
          <p:cNvSpPr txBox="1"/>
          <p:nvPr/>
        </p:nvSpPr>
        <p:spPr>
          <a:xfrm>
            <a:off x="624416" y="3887950"/>
            <a:ext cx="1524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Retrotransposón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7"/>
          <p:cNvPicPr preferRelativeResize="0"/>
          <p:nvPr/>
        </p:nvPicPr>
        <p:blipFill rotWithShape="1">
          <a:blip r:embed="rId3">
            <a:alphaModFix/>
          </a:blip>
          <a:srcRect b="0" l="44240" r="0" t="0"/>
          <a:stretch/>
        </p:blipFill>
        <p:spPr>
          <a:xfrm>
            <a:off x="4009000" y="1417575"/>
            <a:ext cx="4022124" cy="3606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7"/>
          <p:cNvSpPr txBox="1"/>
          <p:nvPr/>
        </p:nvSpPr>
        <p:spPr>
          <a:xfrm>
            <a:off x="1343725" y="966048"/>
            <a:ext cx="17133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basadas en el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contexto endógeno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5390418" y="1417563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106" name="Google Shape;106;p17"/>
          <p:cNvSpPr txBox="1"/>
          <p:nvPr/>
        </p:nvSpPr>
        <p:spPr>
          <a:xfrm>
            <a:off x="3844128" y="1125758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107" name="Google Shape;107;p17"/>
          <p:cNvSpPr txBox="1"/>
          <p:nvPr/>
        </p:nvSpPr>
        <p:spPr>
          <a:xfrm>
            <a:off x="6400457" y="1417586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108" name="Google Shape;108;p17"/>
          <p:cNvSpPr txBox="1"/>
          <p:nvPr/>
        </p:nvSpPr>
        <p:spPr>
          <a:xfrm>
            <a:off x="1029806" y="1848455"/>
            <a:ext cx="23160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actividad en HEK293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09" name="Google Shape;109;p17"/>
          <p:cNvSpPr txBox="1"/>
          <p:nvPr/>
        </p:nvSpPr>
        <p:spPr>
          <a:xfrm>
            <a:off x="4675379" y="4814203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pic>
        <p:nvPicPr>
          <p:cNvPr id="110" name="Google Shape;110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12857" y="4652550"/>
            <a:ext cx="3160425" cy="161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7"/>
          <p:cNvSpPr txBox="1"/>
          <p:nvPr/>
        </p:nvSpPr>
        <p:spPr>
          <a:xfrm>
            <a:off x="323200" y="2075766"/>
            <a:ext cx="42135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accesibilidad a la cromatina (DNasa-seq)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12" name="Google Shape;112;p17"/>
          <p:cNvSpPr txBox="1"/>
          <p:nvPr/>
        </p:nvSpPr>
        <p:spPr>
          <a:xfrm>
            <a:off x="1083060" y="2345890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Baja especificidad de tejido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13" name="Google Shape;113;p17"/>
          <p:cNvSpPr txBox="1"/>
          <p:nvPr/>
        </p:nvSpPr>
        <p:spPr>
          <a:xfrm>
            <a:off x="1395994" y="2573206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Promotor disperso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14" name="Google Shape;114;p17"/>
          <p:cNvSpPr txBox="1"/>
          <p:nvPr/>
        </p:nvSpPr>
        <p:spPr>
          <a:xfrm>
            <a:off x="730910" y="3079233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conservación distal (-150 a -235)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15" name="Google Shape;115;p17"/>
          <p:cNvSpPr txBox="1"/>
          <p:nvPr/>
        </p:nvSpPr>
        <p:spPr>
          <a:xfrm>
            <a:off x="1131501" y="3327953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   Enhancers en ∓50kb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16" name="Google Shape;116;p17"/>
          <p:cNvSpPr txBox="1"/>
          <p:nvPr/>
        </p:nvSpPr>
        <p:spPr>
          <a:xfrm>
            <a:off x="1332479" y="3576678"/>
            <a:ext cx="1876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Promotor focalizado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17" name="Google Shape;117;p17"/>
          <p:cNvSpPr txBox="1"/>
          <p:nvPr/>
        </p:nvSpPr>
        <p:spPr>
          <a:xfrm>
            <a:off x="877750" y="3814700"/>
            <a:ext cx="29925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Actividad no detectada (FANTOM5)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18" name="Google Shape;118;p17"/>
          <p:cNvSpPr txBox="1"/>
          <p:nvPr/>
        </p:nvSpPr>
        <p:spPr>
          <a:xfrm>
            <a:off x="1254898" y="4052700"/>
            <a:ext cx="2314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 actividad en ratón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19" name="Google Shape;119;p17"/>
          <p:cNvSpPr txBox="1"/>
          <p:nvPr/>
        </p:nvSpPr>
        <p:spPr>
          <a:xfrm>
            <a:off x="1111750" y="4327128"/>
            <a:ext cx="2457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especificidad de tejido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20" name="Google Shape;120;p17"/>
          <p:cNvSpPr txBox="1"/>
          <p:nvPr/>
        </p:nvSpPr>
        <p:spPr>
          <a:xfrm>
            <a:off x="1118194" y="2826206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Promotor unidireccional</a:t>
            </a:r>
            <a:endParaRPr>
              <a:solidFill>
                <a:srgbClr val="F37336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8" title="SP2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8326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8" title="NFYA_scatter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36607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8" title="SP1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3992" y="1889277"/>
            <a:ext cx="2212552" cy="1659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9" title="SP1_scatter_hek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85501" y="507408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9" title="SP2_scatter_hek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01150" y="42099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9" title="NFYA_scatter_intersect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01157" y="208040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9" title="NFYA_venn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62074" y="2166815"/>
            <a:ext cx="1659412" cy="16594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0" title="GSEA_top_pathway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1150" y="2046550"/>
            <a:ext cx="3154673" cy="236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0" title="remap_act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3946076" cy="2959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 title="remap_act_low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46074" y="2"/>
            <a:ext cx="2235203" cy="1986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