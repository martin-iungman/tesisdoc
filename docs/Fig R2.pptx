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f58eefa86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f58eefa86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58eefa86d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58eefa86d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58eefa86d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58eefa86d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58eefa86d_0_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58eefa86d_0_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f58eefa86d_0_1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f58eefa86d_0_1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58eefa86d_0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f58eefa86d_0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7.jpg"/><Relationship Id="rId4" Type="http://schemas.openxmlformats.org/officeDocument/2006/relationships/image" Target="../media/image13.jpg"/><Relationship Id="rId5" Type="http://schemas.openxmlformats.org/officeDocument/2006/relationships/image" Target="../media/image18.jpg"/><Relationship Id="rId6" Type="http://schemas.openxmlformats.org/officeDocument/2006/relationships/image" Target="../media/image6.jpg"/><Relationship Id="rId7" Type="http://schemas.openxmlformats.org/officeDocument/2006/relationships/image" Target="../media/image14.jpg"/><Relationship Id="rId8" Type="http://schemas.openxmlformats.org/officeDocument/2006/relationships/image" Target="../media/image9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19.jpg"/><Relationship Id="rId5" Type="http://schemas.openxmlformats.org/officeDocument/2006/relationships/image" Target="../media/image16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Relationship Id="rId4" Type="http://schemas.openxmlformats.org/officeDocument/2006/relationships/image" Target="../media/image15.jpg"/><Relationship Id="rId5" Type="http://schemas.openxmlformats.org/officeDocument/2006/relationships/image" Target="../media/image12.jpg"/><Relationship Id="rId6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1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CGI_violin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538" y="3065425"/>
            <a:ext cx="2235203" cy="1676402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3" title="CGI_violin_rep2.jpg"/>
          <p:cNvPicPr preferRelativeResize="0"/>
          <p:nvPr/>
        </p:nvPicPr>
        <p:blipFill rotWithShape="1">
          <a:blip r:embed="rId4">
            <a:alphaModFix/>
          </a:blip>
          <a:srcRect b="0" l="11715" r="0" t="0"/>
          <a:stretch/>
        </p:blipFill>
        <p:spPr>
          <a:xfrm>
            <a:off x="2415738" y="3065425"/>
            <a:ext cx="1973427" cy="1676398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CGI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" y="0"/>
            <a:ext cx="4087235" cy="30654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13" title="TATA_scatter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0600" y="43288"/>
            <a:ext cx="3971799" cy="29788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13" title="TATA_violin_rep1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874680" y="3097699"/>
            <a:ext cx="2280765" cy="1710574"/>
          </a:xfrm>
          <a:prstGeom prst="rect">
            <a:avLst/>
          </a:prstGeom>
          <a:noFill/>
          <a:ln>
            <a:noFill/>
          </a:ln>
        </p:spPr>
      </p:pic>
      <p:pic>
        <p:nvPicPr>
          <p:cNvPr id="59" name="Google Shape;59;p13" title="TATA_violin_rep2.jpg"/>
          <p:cNvPicPr preferRelativeResize="0"/>
          <p:nvPr/>
        </p:nvPicPr>
        <p:blipFill rotWithShape="1">
          <a:blip r:embed="rId8">
            <a:alphaModFix/>
          </a:blip>
          <a:srcRect b="0" l="12080" r="0" t="0"/>
          <a:stretch/>
        </p:blipFill>
        <p:spPr>
          <a:xfrm>
            <a:off x="7021375" y="3094685"/>
            <a:ext cx="2005356" cy="1710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oogle Shape;64;p14"/>
          <p:cNvPicPr preferRelativeResize="0"/>
          <p:nvPr/>
        </p:nvPicPr>
        <p:blipFill rotWithShape="1">
          <a:blip r:embed="rId3">
            <a:alphaModFix/>
          </a:blip>
          <a:srcRect b="0" l="0" r="0" t="9000"/>
          <a:stretch/>
        </p:blipFill>
        <p:spPr>
          <a:xfrm>
            <a:off x="152400" y="546500"/>
            <a:ext cx="7048201" cy="3982901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/>
          <p:nvPr/>
        </p:nvSpPr>
        <p:spPr>
          <a:xfrm>
            <a:off x="3835025" y="4343400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6" name="Google Shape;66;p14"/>
          <p:cNvSpPr txBox="1"/>
          <p:nvPr/>
        </p:nvSpPr>
        <p:spPr>
          <a:xfrm>
            <a:off x="3465653" y="454825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7" name="Google Shape;67;p14"/>
          <p:cNvSpPr txBox="1"/>
          <p:nvPr/>
        </p:nvSpPr>
        <p:spPr>
          <a:xfrm>
            <a:off x="3142325" y="248494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4674460" y="452422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69" name="Google Shape;69;p14"/>
          <p:cNvSpPr txBox="1"/>
          <p:nvPr/>
        </p:nvSpPr>
        <p:spPr>
          <a:xfrm>
            <a:off x="781900" y="233289"/>
            <a:ext cx="12372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basadas en la secuencia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70" name="Google Shape;70;p14"/>
          <p:cNvSpPr txBox="1"/>
          <p:nvPr/>
        </p:nvSpPr>
        <p:spPr>
          <a:xfrm>
            <a:off x="920600" y="1229375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Isla CpG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2344825" y="1810225"/>
            <a:ext cx="5944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72" name="Google Shape;72;p14"/>
          <p:cNvSpPr txBox="1"/>
          <p:nvPr/>
        </p:nvSpPr>
        <p:spPr>
          <a:xfrm>
            <a:off x="813075" y="991850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   CCAAT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884822" y="150321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TATA-box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942002" y="1766743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GC-box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5" name="Google Shape;75;p14"/>
          <p:cNvSpPr txBox="1"/>
          <p:nvPr/>
        </p:nvSpPr>
        <p:spPr>
          <a:xfrm>
            <a:off x="373593" y="2030275"/>
            <a:ext cx="2053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Alto contenido en G+C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6" name="Google Shape;76;p14"/>
          <p:cNvSpPr txBox="1"/>
          <p:nvPr/>
        </p:nvSpPr>
        <p:spPr>
          <a:xfrm>
            <a:off x="801991" y="2269278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CG en TSS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7" name="Google Shape;77;p14"/>
          <p:cNvSpPr txBox="1"/>
          <p:nvPr/>
        </p:nvSpPr>
        <p:spPr>
          <a:xfrm>
            <a:off x="1095665" y="2508259"/>
            <a:ext cx="1351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TCT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78" name="Google Shape;78;p14"/>
          <p:cNvSpPr txBox="1"/>
          <p:nvPr/>
        </p:nvSpPr>
        <p:spPr>
          <a:xfrm>
            <a:off x="386175" y="2773823"/>
            <a:ext cx="2205600" cy="288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7200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Elementos transponibles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79" name="Google Shape;79;p14"/>
          <p:cNvSpPr txBox="1"/>
          <p:nvPr/>
        </p:nvSpPr>
        <p:spPr>
          <a:xfrm>
            <a:off x="572050" y="3052022"/>
            <a:ext cx="1656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TSS no canónico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0" name="Google Shape;80;p14"/>
          <p:cNvSpPr txBox="1"/>
          <p:nvPr/>
        </p:nvSpPr>
        <p:spPr>
          <a:xfrm>
            <a:off x="1076130" y="3333063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1" name="Google Shape;81;p14"/>
          <p:cNvSpPr txBox="1"/>
          <p:nvPr/>
        </p:nvSpPr>
        <p:spPr>
          <a:xfrm>
            <a:off x="1094362" y="3588669"/>
            <a:ext cx="660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LINE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82" name="Google Shape;82;p14"/>
          <p:cNvSpPr txBox="1"/>
          <p:nvPr/>
        </p:nvSpPr>
        <p:spPr>
          <a:xfrm>
            <a:off x="624416" y="3887950"/>
            <a:ext cx="1524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Retrotransposón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5"/>
          <p:cNvPicPr preferRelativeResize="0"/>
          <p:nvPr/>
        </p:nvPicPr>
        <p:blipFill rotWithShape="1">
          <a:blip r:embed="rId3">
            <a:alphaModFix/>
          </a:blip>
          <a:srcRect b="6350" l="0" r="0" t="8876"/>
          <a:stretch/>
        </p:blipFill>
        <p:spPr>
          <a:xfrm>
            <a:off x="554900" y="1387075"/>
            <a:ext cx="7410450" cy="31168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1343725" y="966048"/>
            <a:ext cx="1713300" cy="715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Características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basadas en el </a:t>
            </a:r>
            <a:endParaRPr b="1" sz="1150">
              <a:solidFill>
                <a:schemeClr val="dk2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contexto endógeno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89" name="Google Shape;89;p15"/>
          <p:cNvSpPr txBox="1"/>
          <p:nvPr/>
        </p:nvSpPr>
        <p:spPr>
          <a:xfrm>
            <a:off x="4167455" y="1332088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Alta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0" name="Google Shape;90;p15"/>
          <p:cNvSpPr txBox="1"/>
          <p:nvPr/>
        </p:nvSpPr>
        <p:spPr>
          <a:xfrm>
            <a:off x="3844128" y="1125758"/>
            <a:ext cx="692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</a:t>
            </a:r>
            <a:endParaRPr b="1" sz="1200">
              <a:solidFill>
                <a:schemeClr val="dk2"/>
              </a:solidFill>
            </a:endParaRPr>
          </a:p>
        </p:txBody>
      </p:sp>
      <p:sp>
        <p:nvSpPr>
          <p:cNvPr id="91" name="Google Shape;91;p15"/>
          <p:cNvSpPr txBox="1"/>
          <p:nvPr/>
        </p:nvSpPr>
        <p:spPr>
          <a:xfrm>
            <a:off x="5376263" y="1329686"/>
            <a:ext cx="1005300" cy="361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0" spcFirstLastPara="1" rIns="0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150">
                <a:solidFill>
                  <a:schemeClr val="dk2"/>
                </a:solidFill>
              </a:rPr>
              <a:t>Baja actividad</a:t>
            </a:r>
            <a:endParaRPr b="1" sz="1150">
              <a:solidFill>
                <a:schemeClr val="dk2"/>
              </a:solidFill>
            </a:endParaRPr>
          </a:p>
        </p:txBody>
      </p:sp>
      <p:sp>
        <p:nvSpPr>
          <p:cNvPr id="92" name="Google Shape;92;p15"/>
          <p:cNvSpPr txBox="1"/>
          <p:nvPr/>
        </p:nvSpPr>
        <p:spPr>
          <a:xfrm>
            <a:off x="1029806" y="1848455"/>
            <a:ext cx="23160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actividad en HEK293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3" name="Google Shape;93;p15"/>
          <p:cNvSpPr txBox="1"/>
          <p:nvPr/>
        </p:nvSpPr>
        <p:spPr>
          <a:xfrm>
            <a:off x="4360229" y="4442778"/>
            <a:ext cx="2601600" cy="276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-419" sz="1200">
                <a:solidFill>
                  <a:schemeClr val="dk2"/>
                </a:solidFill>
              </a:rPr>
              <a:t>Efecto sobre la actividad media</a:t>
            </a:r>
            <a:endParaRPr b="1" sz="1200">
              <a:solidFill>
                <a:schemeClr val="dk2"/>
              </a:solidFill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42753" y="4313375"/>
            <a:ext cx="3160425" cy="16165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/>
        </p:nvSpPr>
        <p:spPr>
          <a:xfrm>
            <a:off x="323200" y="2075766"/>
            <a:ext cx="42135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Alta accesibilidad a la cromatina (DNasa-seq)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6" name="Google Shape;96;p15"/>
          <p:cNvSpPr txBox="1"/>
          <p:nvPr/>
        </p:nvSpPr>
        <p:spPr>
          <a:xfrm>
            <a:off x="1083060" y="234589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Baja especificidad de tejido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7" name="Google Shape;97;p15"/>
          <p:cNvSpPr txBox="1"/>
          <p:nvPr/>
        </p:nvSpPr>
        <p:spPr>
          <a:xfrm>
            <a:off x="1395994" y="2573206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F37336"/>
                </a:solidFill>
              </a:rPr>
              <a:t>Promotor disperso</a:t>
            </a:r>
            <a:endParaRPr>
              <a:solidFill>
                <a:srgbClr val="F37336"/>
              </a:solidFill>
            </a:endParaRPr>
          </a:p>
        </p:txBody>
      </p:sp>
      <p:sp>
        <p:nvSpPr>
          <p:cNvPr id="98" name="Google Shape;98;p15"/>
          <p:cNvSpPr txBox="1"/>
          <p:nvPr/>
        </p:nvSpPr>
        <p:spPr>
          <a:xfrm>
            <a:off x="742160" y="2839130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conservación distal (-150 a -235)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1142751" y="3087850"/>
            <a:ext cx="27387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   Enhancers en ∓50kb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0" name="Google Shape;100;p15"/>
          <p:cNvSpPr txBox="1"/>
          <p:nvPr/>
        </p:nvSpPr>
        <p:spPr>
          <a:xfrm>
            <a:off x="1343729" y="3336575"/>
            <a:ext cx="18768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Promotor focalizado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1" name="Google Shape;101;p15"/>
          <p:cNvSpPr txBox="1"/>
          <p:nvPr/>
        </p:nvSpPr>
        <p:spPr>
          <a:xfrm>
            <a:off x="888994" y="3574588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Actividad no detectada (FANTOM5)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2" name="Google Shape;102;p15"/>
          <p:cNvSpPr txBox="1"/>
          <p:nvPr/>
        </p:nvSpPr>
        <p:spPr>
          <a:xfrm>
            <a:off x="1266142" y="3812606"/>
            <a:ext cx="32196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Sin actividad en ratón</a:t>
            </a:r>
            <a:endParaRPr>
              <a:solidFill>
                <a:srgbClr val="24A35F"/>
              </a:solidFill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1065375" y="4039925"/>
            <a:ext cx="2457900" cy="2154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91425" spcFirstLastPara="1" rIns="91425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419">
                <a:solidFill>
                  <a:srgbClr val="24A35F"/>
                </a:solidFill>
              </a:rPr>
              <a:t>Alta especificidad de tejido</a:t>
            </a:r>
            <a:endParaRPr>
              <a:solidFill>
                <a:srgbClr val="24A35F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6" title="SP2_scatter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88326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6" title="NFYA_scatter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36607" y="1889274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6" title="SP1_scatter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903992" y="1889277"/>
            <a:ext cx="2212552" cy="16594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Google Shape;115;p17" title="SP1_scatter_hek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85501" y="507408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7" title="SP2_scatter_hek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01150" y="42099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7" title="NFYA_scatter_intersect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01157" y="2080405"/>
            <a:ext cx="2212552" cy="165941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 title="NFYA_venn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962074" y="2166815"/>
            <a:ext cx="1659412" cy="1659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8" title="GSEA_top_pathway_rep1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91150" y="2046550"/>
            <a:ext cx="3154673" cy="23660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8" title="remap_act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3946076" cy="2959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18" title="remap_act_low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46074" y="2"/>
            <a:ext cx="2235203" cy="19863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