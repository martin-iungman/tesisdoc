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8eefa86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58eefa8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habefdf5efa44c7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habefdf5efa44c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habefdf5efa44c79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habefdf5efa44c79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habefdf5efa44c79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habefdf5efa44c79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habefdf5efa44c79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habefdf5efa44c79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habefdf5efa44c7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habefdf5efa44c7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58eefa86d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58eefa86d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f58eefa86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f58eefa86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58eefa86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f58eefa86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f58eefa86d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f58eefa86d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58eefa86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f58eefa86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jpg"/><Relationship Id="rId4" Type="http://schemas.openxmlformats.org/officeDocument/2006/relationships/image" Target="../media/image21.jpg"/><Relationship Id="rId5" Type="http://schemas.openxmlformats.org/officeDocument/2006/relationships/image" Target="../media/image19.jpg"/><Relationship Id="rId6" Type="http://schemas.openxmlformats.org/officeDocument/2006/relationships/image" Target="../media/image9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2.jpg"/><Relationship Id="rId4" Type="http://schemas.openxmlformats.org/officeDocument/2006/relationships/image" Target="../media/image12.jpg"/><Relationship Id="rId5" Type="http://schemas.openxmlformats.org/officeDocument/2006/relationships/image" Target="../media/image10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jpg"/><Relationship Id="rId4" Type="http://schemas.openxmlformats.org/officeDocument/2006/relationships/image" Target="../media/image1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15.jpg"/><Relationship Id="rId6" Type="http://schemas.openxmlformats.org/officeDocument/2006/relationships/image" Target="../media/image18.jpg"/><Relationship Id="rId7" Type="http://schemas.openxmlformats.org/officeDocument/2006/relationships/image" Target="../media/image20.jpg"/><Relationship Id="rId8" Type="http://schemas.openxmlformats.org/officeDocument/2006/relationships/image" Target="../media/image14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6.jpg"/><Relationship Id="rId4" Type="http://schemas.openxmlformats.org/officeDocument/2006/relationships/image" Target="../media/image25.jpg"/><Relationship Id="rId5" Type="http://schemas.openxmlformats.org/officeDocument/2006/relationships/image" Target="../media/image28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4.jpg"/><Relationship Id="rId4" Type="http://schemas.openxmlformats.org/officeDocument/2006/relationships/image" Target="../media/image23.jpg"/><Relationship Id="rId5" Type="http://schemas.openxmlformats.org/officeDocument/2006/relationships/image" Target="../media/image27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GI_violin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606" y="1639571"/>
            <a:ext cx="1195520" cy="896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CGI_violin_rep2.jpg"/>
          <p:cNvPicPr preferRelativeResize="0"/>
          <p:nvPr/>
        </p:nvPicPr>
        <p:blipFill rotWithShape="1">
          <a:blip r:embed="rId4">
            <a:alphaModFix/>
          </a:blip>
          <a:srcRect b="0" l="11715" r="0" t="0"/>
          <a:stretch/>
        </p:blipFill>
        <p:spPr>
          <a:xfrm>
            <a:off x="1292079" y="1639571"/>
            <a:ext cx="1055503" cy="89663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GI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0"/>
            <a:ext cx="2186092" cy="163956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cgi_oe_deciles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99977" y="152400"/>
            <a:ext cx="4301082" cy="241935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0" y="2759300"/>
            <a:ext cx="8289600" cy="29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Figura R2.1. Las islas CpG del promotor basal se asocian a una mayor actividad transcripcional.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(A)</a:t>
            </a:r>
            <a:r>
              <a:rPr lang="es-419" sz="1000">
                <a:solidFill>
                  <a:schemeClr val="dk1"/>
                </a:solidFill>
              </a:rPr>
              <a:t> Proporción de promotores con isla CpG según su actividad media en el reportero. En cada réplica, los promotores se ordenaron por actividad media y se agruparon en intervalos (</a:t>
            </a:r>
            <a:r>
              <a:rPr i="1" lang="es-419" sz="1000">
                <a:solidFill>
                  <a:schemeClr val="dk1"/>
                </a:solidFill>
              </a:rPr>
              <a:t>bins</a:t>
            </a:r>
            <a:r>
              <a:rPr lang="es-419" sz="1000">
                <a:solidFill>
                  <a:schemeClr val="dk1"/>
                </a:solidFill>
              </a:rPr>
              <a:t>) de 100 promotores. Cada punto corresponde a un </a:t>
            </a:r>
            <a:r>
              <a:rPr i="1" lang="es-419" sz="1000">
                <a:solidFill>
                  <a:schemeClr val="dk1"/>
                </a:solidFill>
              </a:rPr>
              <a:t>bin</a:t>
            </a:r>
            <a:r>
              <a:rPr lang="es-419" sz="1000">
                <a:solidFill>
                  <a:schemeClr val="dk1"/>
                </a:solidFill>
              </a:rPr>
              <a:t>. La línea muestra el ajuste LOESS y la banda gris su intervalo de confianza del 95%.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(B)</a:t>
            </a:r>
            <a:r>
              <a:rPr lang="es-419" sz="1000">
                <a:solidFill>
                  <a:schemeClr val="dk1"/>
                </a:solidFill>
              </a:rPr>
              <a:t> Distribución de la actividad media de los promotores con isla CpG (Presencia) y sin ella (Ausencia), en la réplica 1 (izquierda) y la réplica 2 (derecha). La línea horizontal de cada violín indica la mediana, y el punto con la barra vertical la mediana y el rango intercuartil. Las diferencias se evaluaron con el test de Wilcoxon-Mann-Whitney (p &lt; 2,2 × 10⁻¹⁶ en ambas réplicas). Estimador de Hodges-Lehmann: 0,222 (IC 95%: 0,202–0,241) en la réplica 1 y 0,297 (IC 95%: 0,273–0,321) en la réplica 2.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(C)</a:t>
            </a:r>
            <a:r>
              <a:rPr lang="es-419" sz="1000">
                <a:solidFill>
                  <a:schemeClr val="dk1"/>
                </a:solidFill>
              </a:rPr>
              <a:t> Actividad media en función de la razón CpG observado/esperado (o/e) del fragmento, tomada como variable continua. Dentro de cada réplica, los promotores se dividieron en deciles de la razón CpG o/e, y la actividad media se expresó como percentil. Cada punto indica el percentil de actividad promedio del decil, ubicado en la mediana de su razón CpG o/e. Las barras indican el intervalo de confianza del 95%. La línea vertical discontinua marca el umbral de 0,6 usado para definir isla CpG, y la línea horizontal punteada el percentil 50. Se indica el coeficiente de correlación de Spearman (ρ) entre la razón CpG o/e y la actividad media.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TATA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552" y="23153"/>
            <a:ext cx="2124355" cy="15932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 title="TATA_violin_rep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07266" y="1656833"/>
            <a:ext cx="1219886" cy="91491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4" title="TATA_violin_rep2.jpg"/>
          <p:cNvPicPr preferRelativeResize="0"/>
          <p:nvPr/>
        </p:nvPicPr>
        <p:blipFill rotWithShape="1">
          <a:blip r:embed="rId5">
            <a:alphaModFix/>
          </a:blip>
          <a:srcRect b="0" l="12080" r="0" t="0"/>
          <a:stretch/>
        </p:blipFill>
        <p:spPr>
          <a:xfrm>
            <a:off x="3755445" y="1655221"/>
            <a:ext cx="1072584" cy="9149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5" title="tata_posicion_perfi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6773514" cy="4838697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/>
        </p:nvSpPr>
        <p:spPr>
          <a:xfrm>
            <a:off x="6925925" y="203525"/>
            <a:ext cx="2894400" cy="23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2"/>
                </a:solidFill>
              </a:rPr>
              <a:t>La TATA-box se asocia con mayor actividad solo en su posición canónica.</a:t>
            </a:r>
            <a:r>
              <a:rPr b="1" lang="es-419" sz="1100">
                <a:solidFill>
                  <a:schemeClr val="dk1"/>
                </a:solidFill>
              </a:rPr>
              <a:t> </a:t>
            </a:r>
            <a:r>
              <a:rPr lang="es-419" sz="1100">
                <a:solidFill>
                  <a:schemeClr val="dk1"/>
                </a:solidFill>
              </a:rPr>
              <a:t>Diferencia de actividad media (Hodges-Lehmann, IC 95%) entre los promotores con una TATA-box en cada ventana de 10 pb y los promotores sin TATA-box. La TATA-box se buscó con la matriz de Bucher y el corte de EPD, en la misma hebra (verde oscuro) y en la opuesta (verde claro). Puntos rellenos: BH &lt; 0,05. Abajo, el porcentaje de promotores con TATA-box en cada ventana. Franja gris: ventana canónica (−31 a −26). </a:t>
            </a:r>
            <a:endParaRPr sz="10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tata_posicion_modelo_AT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750" y="152400"/>
            <a:ext cx="3399398" cy="271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tata_posicion_permutadas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83724" y="152400"/>
            <a:ext cx="3399398" cy="2718863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/>
        </p:nvSpPr>
        <p:spPr>
          <a:xfrm>
            <a:off x="0" y="3317100"/>
            <a:ext cx="3000000" cy="18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00">
                <a:solidFill>
                  <a:schemeClr val="dk1"/>
                </a:solidFill>
              </a:rPr>
              <a:t>El efecto de la TATA-box canónica no se explica por la composición de bases.</a:t>
            </a:r>
            <a:r>
              <a:rPr lang="es-419" sz="1100">
                <a:solidFill>
                  <a:schemeClr val="dk1"/>
                </a:solidFill>
              </a:rPr>
              <a:t> (A) Coeficientes de un modelo lineal del percentil de actividad para cada clase de promotor respecto de los promotores sin TATA-box, sin ajustar y ajustando por el contenido de A/T. (B) </a:t>
            </a:r>
            <a:r>
              <a:rPr lang="es-419" sz="1100">
                <a:solidFill>
                  <a:schemeClr val="dk1"/>
                </a:solidFill>
              </a:rPr>
              <a:t>Mismo perfil de la Figura R2.3 en la misma hebra, para la matriz real (color) y para 10 matrices con las columnas permutadas (gris).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panel_puntaje_bin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8526" y="-12"/>
            <a:ext cx="5988751" cy="280722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3623150" y="2807200"/>
            <a:ext cx="3000000" cy="23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00">
                <a:solidFill>
                  <a:schemeClr val="dk1"/>
                </a:solidFill>
              </a:rPr>
              <a:t>La actividad aumenta en forma gradual con el puntaje de la TATA-box canónica.</a:t>
            </a:r>
            <a:r>
              <a:rPr lang="es-419" sz="1100">
                <a:solidFill>
                  <a:schemeClr val="dk1"/>
                </a:solidFill>
              </a:rPr>
              <a:t> Percentil de actividad medio (IC 95%) según el puntaje de la TATA-box en la ventana canónica de la Figura R2.3 (verde) o en una ventana control lejos del TSS (gris), en intervalos fijos de puntaje y en intervalos de 1 unidad. Diferencia de actividad (Hodges-Lehmann, IC 95%) de los promotores con TATA-box canónica para cortes crecientes, respecto de una referencia fija sin TATA-box. Línea vertical: corte de EPD (−8,17).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8" title="ccaat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7676" y="213872"/>
            <a:ext cx="2832507" cy="1593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8" title="ccaat_violin_rep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0414" y="1870697"/>
            <a:ext cx="1375375" cy="103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8" title="ccaat_violin_rep2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95788" y="1821299"/>
            <a:ext cx="1507098" cy="1130323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8" title="gcbox_scatter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555280" y="152400"/>
            <a:ext cx="3017902" cy="169757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cbox_violin_rep1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876990" y="1849968"/>
            <a:ext cx="1396782" cy="1047587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8" title="gcbox_violin_rep2.jp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261006" y="1904038"/>
            <a:ext cx="1396782" cy="1047587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0" y="3238150"/>
            <a:ext cx="7238400" cy="20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Asociación de la CCAAT-box y la GC-box con la actividad transcripcional.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(A)</a:t>
            </a:r>
            <a:r>
              <a:rPr lang="es-419" sz="1000">
                <a:solidFill>
                  <a:schemeClr val="dk1"/>
                </a:solidFill>
              </a:rPr>
              <a:t> CCAAT-box. Izquierda: proporción de promotores con CCAAT-box en grupos de 100 promotores ordenados por actividad media, para cada réplica, con una curva suavizada. Derecha: distribución de la actividad media de los promotores sin el motivo (Ausencia) y con él (Presencia), para las réplicas 1 y 2.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(B)</a:t>
            </a:r>
            <a:r>
              <a:rPr lang="es-419" sz="1000">
                <a:solidFill>
                  <a:schemeClr val="dk1"/>
                </a:solidFill>
              </a:rPr>
              <a:t> Lo mismo para la GC-box.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-419" sz="1000">
                <a:solidFill>
                  <a:schemeClr val="dk1"/>
                </a:solidFill>
              </a:rPr>
              <a:t>En todos los casos, la presencia del motivo corresponde a la anotación de EPD. Las diferencias entre grupos se evaluaron con el test de Wilcoxon (p &lt; 2,2×10⁻¹⁶ en ambos motivos y réplicas); el tamaño del efecto (estimador de Hodges-Lehmann) se informa en el texto.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ccaat_gcbox_prevalencia_cg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26575"/>
            <a:ext cx="3988301" cy="2243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ccaat_gcbox_efecto_cgi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96770" y="170720"/>
            <a:ext cx="4837873" cy="276382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 txBox="1"/>
          <p:nvPr/>
        </p:nvSpPr>
        <p:spPr>
          <a:xfrm>
            <a:off x="750300" y="3080150"/>
            <a:ext cx="6705300" cy="18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Relación de la CCAAT-box y la GC-box con las islas CpG.</a:t>
            </a:r>
            <a:endParaRPr b="1"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(A)</a:t>
            </a:r>
            <a:r>
              <a:rPr lang="es-419" sz="1000">
                <a:solidFill>
                  <a:schemeClr val="dk1"/>
                </a:solidFill>
              </a:rPr>
              <a:t> Porcentaje de promotores de la </a:t>
            </a:r>
            <a:r>
              <a:rPr i="1" lang="es-419" sz="1000">
                <a:solidFill>
                  <a:schemeClr val="dk1"/>
                </a:solidFill>
              </a:rPr>
              <a:t>library</a:t>
            </a:r>
            <a:r>
              <a:rPr lang="es-419" sz="1000">
                <a:solidFill>
                  <a:schemeClr val="dk1"/>
                </a:solidFill>
              </a:rPr>
              <a:t> con CCAAT-box y con GC-box, entre los que tienen isla CpG (n = 13.886) y los que no (n = 6.965). La isla CpG se definió por la composición del fragmento (G+C ≥ 50% y razón CpG observado/esperado &gt; 0,6).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(B)</a:t>
            </a:r>
            <a:r>
              <a:rPr lang="es-419" sz="1000">
                <a:solidFill>
                  <a:schemeClr val="dk1"/>
                </a:solidFill>
              </a:rPr>
              <a:t> Diferencia de actividad media entre promotores con y sin cada motivo (estimador de Hodges-Lehmann con IC 95%), calculada sobre todos los promotores y por separado en los promotores con y sin isla CpG, para cada réplica. Junto a cada punto se indica el número de promotores con el motivo. La línea punteada marca la ausencia de efecto.</a:t>
            </a:r>
            <a:endParaRPr sz="1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0"/>
          <p:cNvPicPr preferRelativeResize="0"/>
          <p:nvPr/>
        </p:nvPicPr>
        <p:blipFill rotWithShape="1">
          <a:blip r:embed="rId3">
            <a:alphaModFix/>
          </a:blip>
          <a:srcRect b="0" l="0" r="0" t="9000"/>
          <a:stretch/>
        </p:blipFill>
        <p:spPr>
          <a:xfrm>
            <a:off x="152400" y="546500"/>
            <a:ext cx="7048201" cy="3982901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0"/>
          <p:cNvSpPr txBox="1"/>
          <p:nvPr/>
        </p:nvSpPr>
        <p:spPr>
          <a:xfrm>
            <a:off x="3835025" y="4343400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109" name="Google Shape;109;p20"/>
          <p:cNvSpPr txBox="1"/>
          <p:nvPr/>
        </p:nvSpPr>
        <p:spPr>
          <a:xfrm>
            <a:off x="3465653" y="454825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110" name="Google Shape;110;p20"/>
          <p:cNvSpPr txBox="1"/>
          <p:nvPr/>
        </p:nvSpPr>
        <p:spPr>
          <a:xfrm>
            <a:off x="3142325" y="248494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111" name="Google Shape;111;p20"/>
          <p:cNvSpPr txBox="1"/>
          <p:nvPr/>
        </p:nvSpPr>
        <p:spPr>
          <a:xfrm>
            <a:off x="4674460" y="452422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112" name="Google Shape;112;p20"/>
          <p:cNvSpPr txBox="1"/>
          <p:nvPr/>
        </p:nvSpPr>
        <p:spPr>
          <a:xfrm>
            <a:off x="781900" y="233289"/>
            <a:ext cx="12372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basadas en la secuencia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113" name="Google Shape;113;p20"/>
          <p:cNvSpPr txBox="1"/>
          <p:nvPr/>
        </p:nvSpPr>
        <p:spPr>
          <a:xfrm>
            <a:off x="920600" y="1229375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Isla CpG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14" name="Google Shape;114;p20"/>
          <p:cNvSpPr txBox="1"/>
          <p:nvPr/>
        </p:nvSpPr>
        <p:spPr>
          <a:xfrm>
            <a:off x="2344825" y="1810225"/>
            <a:ext cx="5944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15" name="Google Shape;115;p20"/>
          <p:cNvSpPr txBox="1"/>
          <p:nvPr/>
        </p:nvSpPr>
        <p:spPr>
          <a:xfrm>
            <a:off x="813075" y="991850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   CCAAT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16" name="Google Shape;116;p20"/>
          <p:cNvSpPr txBox="1"/>
          <p:nvPr/>
        </p:nvSpPr>
        <p:spPr>
          <a:xfrm>
            <a:off x="884822" y="150321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TATA-box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17" name="Google Shape;117;p20"/>
          <p:cNvSpPr txBox="1"/>
          <p:nvPr/>
        </p:nvSpPr>
        <p:spPr>
          <a:xfrm>
            <a:off x="942002" y="176674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GC-box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18" name="Google Shape;118;p20"/>
          <p:cNvSpPr txBox="1"/>
          <p:nvPr/>
        </p:nvSpPr>
        <p:spPr>
          <a:xfrm>
            <a:off x="373593" y="2030275"/>
            <a:ext cx="2053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Alto contenido en G+C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19" name="Google Shape;119;p20"/>
          <p:cNvSpPr txBox="1"/>
          <p:nvPr/>
        </p:nvSpPr>
        <p:spPr>
          <a:xfrm>
            <a:off x="801991" y="2269278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CG en TSS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20" name="Google Shape;120;p20"/>
          <p:cNvSpPr txBox="1"/>
          <p:nvPr/>
        </p:nvSpPr>
        <p:spPr>
          <a:xfrm>
            <a:off x="1095665" y="2508259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TCT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21" name="Google Shape;121;p20"/>
          <p:cNvSpPr txBox="1"/>
          <p:nvPr/>
        </p:nvSpPr>
        <p:spPr>
          <a:xfrm>
            <a:off x="386175" y="2773823"/>
            <a:ext cx="2205600" cy="28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7200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Elementos transponibles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22" name="Google Shape;122;p20"/>
          <p:cNvSpPr txBox="1"/>
          <p:nvPr/>
        </p:nvSpPr>
        <p:spPr>
          <a:xfrm>
            <a:off x="572050" y="3052022"/>
            <a:ext cx="1656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TSS no canónico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23" name="Google Shape;123;p20"/>
          <p:cNvSpPr txBox="1"/>
          <p:nvPr/>
        </p:nvSpPr>
        <p:spPr>
          <a:xfrm>
            <a:off x="1076130" y="3333063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24" name="Google Shape;124;p20"/>
          <p:cNvSpPr txBox="1"/>
          <p:nvPr/>
        </p:nvSpPr>
        <p:spPr>
          <a:xfrm>
            <a:off x="1094362" y="3588669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LINE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25" name="Google Shape;125;p20"/>
          <p:cNvSpPr txBox="1"/>
          <p:nvPr/>
        </p:nvSpPr>
        <p:spPr>
          <a:xfrm>
            <a:off x="624425" y="3887950"/>
            <a:ext cx="18852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Transposon de ADN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1"/>
          <p:cNvPicPr preferRelativeResize="0"/>
          <p:nvPr/>
        </p:nvPicPr>
        <p:blipFill rotWithShape="1">
          <a:blip r:embed="rId3">
            <a:alphaModFix/>
          </a:blip>
          <a:srcRect b="0" l="44240" r="0" t="0"/>
          <a:stretch/>
        </p:blipFill>
        <p:spPr>
          <a:xfrm>
            <a:off x="4009000" y="1417575"/>
            <a:ext cx="4022124" cy="360662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1"/>
          <p:cNvSpPr txBox="1"/>
          <p:nvPr/>
        </p:nvSpPr>
        <p:spPr>
          <a:xfrm>
            <a:off x="1343725" y="966048"/>
            <a:ext cx="17133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basadas en el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contexto endógeno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132" name="Google Shape;132;p21"/>
          <p:cNvSpPr txBox="1"/>
          <p:nvPr/>
        </p:nvSpPr>
        <p:spPr>
          <a:xfrm>
            <a:off x="5390418" y="1417563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133" name="Google Shape;133;p21"/>
          <p:cNvSpPr txBox="1"/>
          <p:nvPr/>
        </p:nvSpPr>
        <p:spPr>
          <a:xfrm>
            <a:off x="3844128" y="1125758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134" name="Google Shape;134;p21"/>
          <p:cNvSpPr txBox="1"/>
          <p:nvPr/>
        </p:nvSpPr>
        <p:spPr>
          <a:xfrm>
            <a:off x="6400457" y="1417586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135" name="Google Shape;135;p21"/>
          <p:cNvSpPr txBox="1"/>
          <p:nvPr/>
        </p:nvSpPr>
        <p:spPr>
          <a:xfrm>
            <a:off x="1029806" y="1848455"/>
            <a:ext cx="23160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actividad en HEK293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36" name="Google Shape;136;p21"/>
          <p:cNvSpPr txBox="1"/>
          <p:nvPr/>
        </p:nvSpPr>
        <p:spPr>
          <a:xfrm>
            <a:off x="4675379" y="4814203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pic>
        <p:nvPicPr>
          <p:cNvPr id="137" name="Google Shape;13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12857" y="4652550"/>
            <a:ext cx="3160425" cy="16165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1"/>
          <p:cNvSpPr txBox="1"/>
          <p:nvPr/>
        </p:nvSpPr>
        <p:spPr>
          <a:xfrm>
            <a:off x="323200" y="2075766"/>
            <a:ext cx="42135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accesibilidad a la cromatina (DNasa-seq)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39" name="Google Shape;139;p21"/>
          <p:cNvSpPr txBox="1"/>
          <p:nvPr/>
        </p:nvSpPr>
        <p:spPr>
          <a:xfrm>
            <a:off x="1083060" y="234589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Baja especificidad de tejido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40" name="Google Shape;140;p21"/>
          <p:cNvSpPr txBox="1"/>
          <p:nvPr/>
        </p:nvSpPr>
        <p:spPr>
          <a:xfrm>
            <a:off x="1395994" y="2573206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Promotor disperso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141" name="Google Shape;141;p21"/>
          <p:cNvSpPr txBox="1"/>
          <p:nvPr/>
        </p:nvSpPr>
        <p:spPr>
          <a:xfrm>
            <a:off x="730910" y="3079233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conservación distal (-150 a -235)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42" name="Google Shape;142;p21"/>
          <p:cNvSpPr txBox="1"/>
          <p:nvPr/>
        </p:nvSpPr>
        <p:spPr>
          <a:xfrm>
            <a:off x="1131501" y="3327953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   Enhancers en ∓50kb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43" name="Google Shape;143;p21"/>
          <p:cNvSpPr txBox="1"/>
          <p:nvPr/>
        </p:nvSpPr>
        <p:spPr>
          <a:xfrm>
            <a:off x="1332479" y="3576678"/>
            <a:ext cx="1876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Promotor focalizado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44" name="Google Shape;144;p21"/>
          <p:cNvSpPr txBox="1"/>
          <p:nvPr/>
        </p:nvSpPr>
        <p:spPr>
          <a:xfrm>
            <a:off x="877750" y="3814700"/>
            <a:ext cx="29925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Actividad no detectada (FANTOM5)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45" name="Google Shape;145;p21"/>
          <p:cNvSpPr txBox="1"/>
          <p:nvPr/>
        </p:nvSpPr>
        <p:spPr>
          <a:xfrm>
            <a:off x="1254898" y="4052700"/>
            <a:ext cx="2314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 actividad en ratón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46" name="Google Shape;146;p21"/>
          <p:cNvSpPr txBox="1"/>
          <p:nvPr/>
        </p:nvSpPr>
        <p:spPr>
          <a:xfrm>
            <a:off x="1111750" y="4327128"/>
            <a:ext cx="2457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especificidad de tejido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47" name="Google Shape;147;p21"/>
          <p:cNvSpPr txBox="1"/>
          <p:nvPr/>
        </p:nvSpPr>
        <p:spPr>
          <a:xfrm>
            <a:off x="1118194" y="2826206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Promotor unidireccional</a:t>
            </a:r>
            <a:endParaRPr>
              <a:solidFill>
                <a:srgbClr val="F37336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2" title="GSEA_top_pathway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1150" y="2046550"/>
            <a:ext cx="3154673" cy="236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2" title="remap_act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3946076" cy="2959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2" title="remap_act_low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46074" y="2"/>
            <a:ext cx="2235203" cy="1986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3" title="nfya_scatter_intersect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3225800" cy="241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3" title="tf_efecto_vs_cobertur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85400" y="0"/>
            <a:ext cx="5613404" cy="3039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3" title="tf_especificidad_ccaat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406742"/>
            <a:ext cx="5571451" cy="3797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