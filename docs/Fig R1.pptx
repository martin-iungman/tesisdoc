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h8824fc79a96d01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h8824fc79a96d01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d678bf73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d678bf73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d678bf734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d678bf734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h4a488b9c3ec7d190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h4a488b9c3ec7d190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96169342f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96169342f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f5e045cd8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f5e045cd8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f5e045cd8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f5e045cd8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d678bf734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3d678bf734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d678bf734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d678bf734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7.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3.jpg"/><Relationship Id="rId5" Type="http://schemas.openxmlformats.org/officeDocument/2006/relationships/image" Target="../media/image9.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1.jpg"/><Relationship Id="rId4" Type="http://schemas.openxmlformats.org/officeDocument/2006/relationships/image" Target="../media/image17.jpg"/><Relationship Id="rId5" Type="http://schemas.openxmlformats.org/officeDocument/2006/relationships/image" Target="../media/image18.jpg"/><Relationship Id="rId6"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validacion_rtqpcr_egfp.jpg"/>
          <p:cNvPicPr preferRelativeResize="0"/>
          <p:nvPr/>
        </p:nvPicPr>
        <p:blipFill>
          <a:blip r:embed="rId3">
            <a:alphaModFix/>
          </a:blip>
          <a:stretch>
            <a:fillRect/>
          </a:stretch>
        </p:blipFill>
        <p:spPr>
          <a:xfrm>
            <a:off x="152400" y="152400"/>
            <a:ext cx="8602138" cy="4838702"/>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pic>
        <p:nvPicPr>
          <p:cNvPr id="59" name="Google Shape;59;p14" title="representatividad_library_venn.png"/>
          <p:cNvPicPr preferRelativeResize="0"/>
          <p:nvPr/>
        </p:nvPicPr>
        <p:blipFill>
          <a:blip r:embed="rId3">
            <a:alphaModFix/>
          </a:blip>
          <a:stretch>
            <a:fillRect/>
          </a:stretch>
        </p:blipFill>
        <p:spPr>
          <a:xfrm>
            <a:off x="152400" y="152400"/>
            <a:ext cx="3271624" cy="327162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pic>
        <p:nvPicPr>
          <p:cNvPr id="64" name="Google Shape;64;p15" title="panel_a_venn_presort2022.png"/>
          <p:cNvPicPr preferRelativeResize="0"/>
          <p:nvPr/>
        </p:nvPicPr>
        <p:blipFill>
          <a:blip r:embed="rId3">
            <a:alphaModFix/>
          </a:blip>
          <a:stretch>
            <a:fillRect/>
          </a:stretch>
        </p:blipFill>
        <p:spPr>
          <a:xfrm>
            <a:off x="0" y="749097"/>
            <a:ext cx="2138076" cy="2138076"/>
          </a:xfrm>
          <a:prstGeom prst="rect">
            <a:avLst/>
          </a:prstGeom>
          <a:noFill/>
          <a:ln>
            <a:noFill/>
          </a:ln>
        </p:spPr>
      </p:pic>
      <p:pic>
        <p:nvPicPr>
          <p:cNvPr id="65" name="Google Shape;65;p15" title="panel_b_gc_bias_violin.jpg"/>
          <p:cNvPicPr preferRelativeResize="0"/>
          <p:nvPr/>
        </p:nvPicPr>
        <p:blipFill>
          <a:blip r:embed="rId4">
            <a:alphaModFix/>
          </a:blip>
          <a:stretch>
            <a:fillRect/>
          </a:stretch>
        </p:blipFill>
        <p:spPr>
          <a:xfrm>
            <a:off x="2167982" y="692847"/>
            <a:ext cx="1900521" cy="2138076"/>
          </a:xfrm>
          <a:prstGeom prst="rect">
            <a:avLst/>
          </a:prstGeom>
          <a:noFill/>
          <a:ln>
            <a:noFill/>
          </a:ln>
        </p:spPr>
      </p:pic>
      <p:pic>
        <p:nvPicPr>
          <p:cNvPr id="66" name="Google Shape;66;p15" title="panel_c_gc_bias_bars.jpg"/>
          <p:cNvPicPr preferRelativeResize="0"/>
          <p:nvPr/>
        </p:nvPicPr>
        <p:blipFill>
          <a:blip r:embed="rId5">
            <a:alphaModFix/>
          </a:blip>
          <a:stretch>
            <a:fillRect/>
          </a:stretch>
        </p:blipFill>
        <p:spPr>
          <a:xfrm>
            <a:off x="184850" y="2960925"/>
            <a:ext cx="3592648" cy="1864749"/>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pic>
        <p:nvPicPr>
          <p:cNvPr id="71" name="Google Shape;71;p16" title="g4_retencion_por_gc.jpg"/>
          <p:cNvPicPr preferRelativeResize="0"/>
          <p:nvPr/>
        </p:nvPicPr>
        <p:blipFill>
          <a:blip r:embed="rId3">
            <a:alphaModFix/>
          </a:blip>
          <a:stretch>
            <a:fillRect/>
          </a:stretch>
        </p:blipFill>
        <p:spPr>
          <a:xfrm>
            <a:off x="152400" y="152400"/>
            <a:ext cx="6597642" cy="48387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7" title="spike_in_robustez.jpg"/>
          <p:cNvPicPr preferRelativeResize="0"/>
          <p:nvPr/>
        </p:nvPicPr>
        <p:blipFill>
          <a:blip r:embed="rId3">
            <a:alphaModFix/>
          </a:blip>
          <a:stretch>
            <a:fillRect/>
          </a:stretch>
        </p:blipFill>
        <p:spPr>
          <a:xfrm>
            <a:off x="152400" y="152400"/>
            <a:ext cx="6451599" cy="48387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pic>
        <p:nvPicPr>
          <p:cNvPr id="81" name="Google Shape;81;p18" title="histograma_gates_KIAA0753.jpg"/>
          <p:cNvPicPr preferRelativeResize="0"/>
          <p:nvPr/>
        </p:nvPicPr>
        <p:blipFill>
          <a:blip r:embed="rId3">
            <a:alphaModFix/>
          </a:blip>
          <a:stretch>
            <a:fillRect/>
          </a:stretch>
        </p:blipFill>
        <p:spPr>
          <a:xfrm>
            <a:off x="3152400" y="152400"/>
            <a:ext cx="5839201" cy="437940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pic>
        <p:nvPicPr>
          <p:cNvPr id="86" name="Google Shape;86;p19" title="densidad_individual_promotores.jpg"/>
          <p:cNvPicPr preferRelativeResize="0"/>
          <p:nvPr/>
        </p:nvPicPr>
        <p:blipFill>
          <a:blip r:embed="rId3">
            <a:alphaModFix/>
          </a:blip>
          <a:stretch>
            <a:fillRect/>
          </a:stretch>
        </p:blipFill>
        <p:spPr>
          <a:xfrm>
            <a:off x="1382025" y="136325"/>
            <a:ext cx="4761933" cy="35714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pic>
        <p:nvPicPr>
          <p:cNvPr id="91" name="Google Shape;91;p20"/>
          <p:cNvPicPr preferRelativeResize="0"/>
          <p:nvPr/>
        </p:nvPicPr>
        <p:blipFill>
          <a:blip r:embed="rId3">
            <a:alphaModFix/>
          </a:blip>
          <a:stretch>
            <a:fillRect/>
          </a:stretch>
        </p:blipFill>
        <p:spPr>
          <a:xfrm>
            <a:off x="-133350" y="97100"/>
            <a:ext cx="3419475" cy="2638425"/>
          </a:xfrm>
          <a:prstGeom prst="rect">
            <a:avLst/>
          </a:prstGeom>
          <a:noFill/>
          <a:ln>
            <a:noFill/>
          </a:ln>
        </p:spPr>
      </p:pic>
      <p:pic>
        <p:nvPicPr>
          <p:cNvPr id="92" name="Google Shape;92;p20"/>
          <p:cNvPicPr preferRelativeResize="0"/>
          <p:nvPr/>
        </p:nvPicPr>
        <p:blipFill>
          <a:blip r:embed="rId4">
            <a:alphaModFix/>
          </a:blip>
          <a:stretch>
            <a:fillRect/>
          </a:stretch>
        </p:blipFill>
        <p:spPr>
          <a:xfrm>
            <a:off x="6505575" y="152400"/>
            <a:ext cx="2486025" cy="2418147"/>
          </a:xfrm>
          <a:prstGeom prst="rect">
            <a:avLst/>
          </a:prstGeom>
          <a:noFill/>
          <a:ln>
            <a:noFill/>
          </a:ln>
        </p:spPr>
      </p:pic>
      <p:sp>
        <p:nvSpPr>
          <p:cNvPr id="93" name="Google Shape;93;p20"/>
          <p:cNvSpPr txBox="1"/>
          <p:nvPr/>
        </p:nvSpPr>
        <p:spPr>
          <a:xfrm>
            <a:off x="735375" y="3120725"/>
            <a:ext cx="58665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Consistencia experimental de las métricas de actividad promotora.</a:t>
            </a:r>
            <a:r>
              <a:rPr lang="es-419" sz="1200">
                <a:solidFill>
                  <a:schemeClr val="dk2"/>
                </a:solidFill>
              </a:rPr>
              <a:t>  (A) </a:t>
            </a:r>
            <a:r>
              <a:rPr lang="es-419" sz="1200">
                <a:solidFill>
                  <a:schemeClr val="dk2"/>
                </a:solidFill>
              </a:rPr>
              <a:t>Perfiles de densidad de fluorescencia de EGFP obtenidos por citometría de flujo para una selección de promotores integrados de forma individual (n = 3 réplicas técnicas).</a:t>
            </a:r>
            <a:r>
              <a:rPr lang="es-419" sz="1200">
                <a:solidFill>
                  <a:schemeClr val="dk2"/>
                </a:solidFill>
              </a:rPr>
              <a:t> (B) </a:t>
            </a:r>
            <a:r>
              <a:rPr lang="es-419" sz="1200">
                <a:solidFill>
                  <a:schemeClr val="dk2"/>
                </a:solidFill>
              </a:rPr>
              <a:t>Histogramas representativos de la reconstrucción de las distribuciones de expresión para secuencias individuales de la library. Las barras indican la frecuencia de lecturas normalizadas en cada fracción de células recolectada. Cada color representa la distribución de un promotor distinto, en una única de las réplicas experimentales</a:t>
            </a:r>
            <a:r>
              <a:rPr lang="es-419" sz="1200">
                <a:solidFill>
                  <a:schemeClr val="dk2"/>
                </a:solidFill>
              </a:rPr>
              <a:t>(C) Correlación entre la media de expresión calculada a partir de los datos discretizados de la </a:t>
            </a:r>
            <a:r>
              <a:rPr i="1" lang="es-419" sz="1200">
                <a:solidFill>
                  <a:schemeClr val="dk2"/>
                </a:solidFill>
              </a:rPr>
              <a:t>library </a:t>
            </a:r>
            <a:r>
              <a:rPr lang="es-419" sz="1200">
                <a:solidFill>
                  <a:schemeClr val="dk2"/>
                </a:solidFill>
              </a:rPr>
              <a:t>(eje x) y la media obtenida mediante citometría de flujo en líneas celulares estables (eje y), evidenciando la consistencia del ensayo masivo para la determinación de la actividad promotora.</a:t>
            </a:r>
            <a:endParaRPr sz="1200">
              <a:solidFill>
                <a:schemeClr val="dk2"/>
              </a:solidFill>
            </a:endParaRPr>
          </a:p>
        </p:txBody>
      </p:sp>
      <p:pic>
        <p:nvPicPr>
          <p:cNvPr id="94" name="Google Shape;94;p20" title="panel_b_histograma_gates_ejemplo.jpg"/>
          <p:cNvPicPr preferRelativeResize="0"/>
          <p:nvPr/>
        </p:nvPicPr>
        <p:blipFill>
          <a:blip r:embed="rId5">
            <a:alphaModFix/>
          </a:blip>
          <a:stretch>
            <a:fillRect/>
          </a:stretch>
        </p:blipFill>
        <p:spPr>
          <a:xfrm>
            <a:off x="3438525" y="152400"/>
            <a:ext cx="2914652" cy="218598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21"/>
          <p:cNvSpPr txBox="1"/>
          <p:nvPr/>
        </p:nvSpPr>
        <p:spPr>
          <a:xfrm>
            <a:off x="5057225" y="91400"/>
            <a:ext cx="3948900" cy="405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t>Análisis de correlación y consistencia entre réplicas de secuenciación. </a:t>
            </a:r>
            <a:endParaRPr b="1" sz="1200"/>
          </a:p>
          <a:p>
            <a:pPr indent="0" lvl="0" marL="0" rtl="0" algn="l">
              <a:lnSpc>
                <a:spcPct val="115000"/>
              </a:lnSpc>
              <a:spcBef>
                <a:spcPts val="1200"/>
              </a:spcBef>
              <a:spcAft>
                <a:spcPts val="0"/>
              </a:spcAft>
              <a:buClr>
                <a:schemeClr val="dk1"/>
              </a:buClr>
              <a:buSzPts val="1100"/>
              <a:buFont typeface="Arial"/>
              <a:buNone/>
            </a:pPr>
            <a:r>
              <a:rPr b="1" lang="es-419" sz="1200">
                <a:solidFill>
                  <a:schemeClr val="dk1"/>
                </a:solidFill>
              </a:rPr>
              <a:t>(A-B)</a:t>
            </a:r>
            <a:r>
              <a:rPr lang="es-419" sz="1200">
                <a:solidFill>
                  <a:schemeClr val="dk1"/>
                </a:solidFill>
              </a:rPr>
              <a:t> Gráfico de dispersión que muestra la correlación de la media de expresión entre las dos réplicas experimentales antes (A) y después (A confianza alta, y B) de aplicar los filtros de consistencia (coeficientes de </a:t>
            </a:r>
            <a:r>
              <a:rPr i="1" lang="es-419" sz="1200">
                <a:solidFill>
                  <a:schemeClr val="dk1"/>
                </a:solidFill>
              </a:rPr>
              <a:t>Pearson</a:t>
            </a:r>
            <a:r>
              <a:rPr lang="es-419" sz="1200">
                <a:solidFill>
                  <a:schemeClr val="dk1"/>
                </a:solidFill>
              </a:rPr>
              <a:t> de 0.72 y 0.85, respectivamente). Los </a:t>
            </a:r>
            <a:r>
              <a:rPr i="1" lang="es-419" sz="1200">
                <a:solidFill>
                  <a:schemeClr val="dk1"/>
                </a:solidFill>
              </a:rPr>
              <a:t>counts</a:t>
            </a:r>
            <a:r>
              <a:rPr lang="es-419" sz="1200">
                <a:solidFill>
                  <a:schemeClr val="dk1"/>
                </a:solidFill>
              </a:rPr>
              <a:t> mínimos y la eliminación de perfiles bimodales incrementan la robustez de la determinación de la actividad. </a:t>
            </a:r>
            <a:r>
              <a:rPr b="1" lang="es-419" sz="1200">
                <a:solidFill>
                  <a:schemeClr val="dk1"/>
                </a:solidFill>
              </a:rPr>
              <a:t>(C)</a:t>
            </a:r>
            <a:r>
              <a:rPr lang="es-419" sz="1200">
                <a:solidFill>
                  <a:schemeClr val="dk1"/>
                </a:solidFill>
              </a:rPr>
              <a:t> Representación del subconjunto final de 12214 promotores de alta confianza seleccionados para los análisis subsiguientes, detallando su presencia por réplicas.</a:t>
            </a:r>
            <a:r>
              <a:rPr b="1" lang="es-419" sz="1200">
                <a:solidFill>
                  <a:schemeClr val="dk1"/>
                </a:solidFill>
              </a:rPr>
              <a:t>(D) </a:t>
            </a:r>
            <a:r>
              <a:rPr lang="es-419" sz="1200">
                <a:solidFill>
                  <a:schemeClr val="dk1"/>
                </a:solidFill>
              </a:rPr>
              <a:t>Gráfico de dispersión que muestra la correlación de la varianza de expresión entre las dos réplicas experimentales después de aplicar los filtros de consistencia (coeficientes de </a:t>
            </a:r>
            <a:r>
              <a:rPr i="1" lang="es-419" sz="1200">
                <a:solidFill>
                  <a:schemeClr val="dk1"/>
                </a:solidFill>
              </a:rPr>
              <a:t>Pearson</a:t>
            </a:r>
            <a:r>
              <a:rPr lang="es-419" sz="1200">
                <a:solidFill>
                  <a:schemeClr val="dk1"/>
                </a:solidFill>
              </a:rPr>
              <a:t> 0.31). </a:t>
            </a:r>
            <a:endParaRPr b="1" sz="1200">
              <a:solidFill>
                <a:schemeClr val="dk1"/>
              </a:solidFill>
            </a:endParaRPr>
          </a:p>
          <a:p>
            <a:pPr indent="0" lvl="0" marL="0" rtl="0" algn="l">
              <a:spcBef>
                <a:spcPts val="1200"/>
              </a:spcBef>
              <a:spcAft>
                <a:spcPts val="0"/>
              </a:spcAft>
              <a:buNone/>
            </a:pPr>
            <a:r>
              <a:t/>
            </a:r>
            <a:endParaRPr b="1"/>
          </a:p>
        </p:txBody>
      </p:sp>
      <p:grpSp>
        <p:nvGrpSpPr>
          <p:cNvPr id="100" name="Google Shape;100;p21"/>
          <p:cNvGrpSpPr/>
          <p:nvPr/>
        </p:nvGrpSpPr>
        <p:grpSpPr>
          <a:xfrm>
            <a:off x="9" y="167053"/>
            <a:ext cx="2391724" cy="2228275"/>
            <a:chOff x="208625" y="-206579"/>
            <a:chExt cx="4062721" cy="3785076"/>
          </a:xfrm>
        </p:grpSpPr>
        <p:pic>
          <p:nvPicPr>
            <p:cNvPr id="101" name="Google Shape;101;p21" title="mean_replicates_prefilter.jpg"/>
            <p:cNvPicPr preferRelativeResize="0"/>
            <p:nvPr/>
          </p:nvPicPr>
          <p:blipFill rotWithShape="1">
            <a:blip r:embed="rId3">
              <a:alphaModFix/>
            </a:blip>
            <a:srcRect b="0" l="87149" r="0" t="0"/>
            <a:stretch/>
          </p:blipFill>
          <p:spPr>
            <a:xfrm>
              <a:off x="3617220" y="-206579"/>
              <a:ext cx="654126" cy="3785076"/>
            </a:xfrm>
            <a:prstGeom prst="rect">
              <a:avLst/>
            </a:prstGeom>
            <a:noFill/>
            <a:ln>
              <a:noFill/>
            </a:ln>
          </p:spPr>
        </p:pic>
        <p:pic>
          <p:nvPicPr>
            <p:cNvPr id="102" name="Google Shape;102;p21" title="mean_replicates_prefilter.jpg"/>
            <p:cNvPicPr preferRelativeResize="0"/>
            <p:nvPr/>
          </p:nvPicPr>
          <p:blipFill rotWithShape="1">
            <a:blip r:embed="rId3">
              <a:alphaModFix/>
            </a:blip>
            <a:srcRect b="0" l="0" r="31371" t="0"/>
            <a:stretch/>
          </p:blipFill>
          <p:spPr>
            <a:xfrm>
              <a:off x="208625" y="-146375"/>
              <a:ext cx="3397100" cy="3712451"/>
            </a:xfrm>
            <a:prstGeom prst="rect">
              <a:avLst/>
            </a:prstGeom>
            <a:noFill/>
            <a:ln>
              <a:noFill/>
            </a:ln>
          </p:spPr>
        </p:pic>
        <p:pic>
          <p:nvPicPr>
            <p:cNvPr id="103" name="Google Shape;103;p21" title="mean_replicates_prefilter.jpg"/>
            <p:cNvPicPr preferRelativeResize="0"/>
            <p:nvPr/>
          </p:nvPicPr>
          <p:blipFill rotWithShape="1">
            <a:blip r:embed="rId3">
              <a:alphaModFix/>
            </a:blip>
            <a:srcRect b="38266" l="69245" r="11846" t="43974"/>
            <a:stretch/>
          </p:blipFill>
          <p:spPr>
            <a:xfrm>
              <a:off x="649472" y="440675"/>
              <a:ext cx="954675" cy="672499"/>
            </a:xfrm>
            <a:prstGeom prst="rect">
              <a:avLst/>
            </a:prstGeom>
            <a:noFill/>
            <a:ln>
              <a:noFill/>
            </a:ln>
          </p:spPr>
        </p:pic>
      </p:grpSp>
      <p:pic>
        <p:nvPicPr>
          <p:cNvPr id="104" name="Google Shape;104;p21" title="mean_replicates_postfilter.jpg"/>
          <p:cNvPicPr preferRelativeResize="0"/>
          <p:nvPr/>
        </p:nvPicPr>
        <p:blipFill>
          <a:blip r:embed="rId4">
            <a:alphaModFix/>
          </a:blip>
          <a:stretch>
            <a:fillRect/>
          </a:stretch>
        </p:blipFill>
        <p:spPr>
          <a:xfrm>
            <a:off x="40551" y="2395181"/>
            <a:ext cx="2310431" cy="2228072"/>
          </a:xfrm>
          <a:prstGeom prst="rect">
            <a:avLst/>
          </a:prstGeom>
          <a:noFill/>
          <a:ln>
            <a:noFill/>
          </a:ln>
        </p:spPr>
      </p:pic>
      <p:pic>
        <p:nvPicPr>
          <p:cNvPr id="105" name="Google Shape;105;p21" title="panel_d_var_replicates.jpg"/>
          <p:cNvPicPr preferRelativeResize="0"/>
          <p:nvPr/>
        </p:nvPicPr>
        <p:blipFill>
          <a:blip r:embed="rId5">
            <a:alphaModFix/>
          </a:blip>
          <a:stretch>
            <a:fillRect/>
          </a:stretch>
        </p:blipFill>
        <p:spPr>
          <a:xfrm>
            <a:off x="2513125" y="2371369"/>
            <a:ext cx="2391726" cy="2306479"/>
          </a:xfrm>
          <a:prstGeom prst="rect">
            <a:avLst/>
          </a:prstGeom>
          <a:noFill/>
          <a:ln>
            <a:noFill/>
          </a:ln>
        </p:spPr>
      </p:pic>
      <p:pic>
        <p:nvPicPr>
          <p:cNvPr id="106" name="Google Shape;106;p21" title="panel_c_candidato2_venn_postfiltro.png"/>
          <p:cNvPicPr preferRelativeResize="0"/>
          <p:nvPr/>
        </p:nvPicPr>
        <p:blipFill>
          <a:blip r:embed="rId6">
            <a:alphaModFix/>
          </a:blip>
          <a:stretch>
            <a:fillRect/>
          </a:stretch>
        </p:blipFill>
        <p:spPr>
          <a:xfrm>
            <a:off x="2555675" y="196225"/>
            <a:ext cx="2169923" cy="2169923"/>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