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5143500" cx="9144000"/>
  <p:notesSz cx="6858000" cy="9144000"/>
  <p:embeddedFontLst>
    <p:embeddedFont>
      <p:font typeface="Roboto"/>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Roboto-regular.fntdata"/><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oboto-italic.fntdata"/><Relationship Id="rId14" Type="http://schemas.openxmlformats.org/officeDocument/2006/relationships/font" Target="fonts/Roboto-bold.fntdata"/><Relationship Id="rId16" Type="http://schemas.openxmlformats.org/officeDocument/2006/relationships/font" Target="fonts/Roboto-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f5e045cd8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f5e045cd8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f5e045cd8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f5e045cd8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1.jp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7.jpg"/><Relationship Id="rId5"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13.jpg"/><Relationship Id="rId5" Type="http://schemas.openxmlformats.org/officeDocument/2006/relationships/image" Target="../media/image12.jpg"/><Relationship Id="rId6" Type="http://schemas.openxmlformats.org/officeDocument/2006/relationships/image" Target="../media/image10.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n_per_rep.jpg"/>
          <p:cNvPicPr preferRelativeResize="0"/>
          <p:nvPr/>
        </p:nvPicPr>
        <p:blipFill>
          <a:blip r:embed="rId3">
            <a:alphaModFix/>
          </a:blip>
          <a:stretch>
            <a:fillRect/>
          </a:stretch>
        </p:blipFill>
        <p:spPr>
          <a:xfrm>
            <a:off x="5728773" y="2660399"/>
            <a:ext cx="2973952" cy="2230476"/>
          </a:xfrm>
          <a:prstGeom prst="rect">
            <a:avLst/>
          </a:prstGeom>
          <a:noFill/>
          <a:ln>
            <a:noFill/>
          </a:ln>
        </p:spPr>
      </p:pic>
      <p:sp>
        <p:nvSpPr>
          <p:cNvPr id="55" name="Google Shape;55;p13"/>
          <p:cNvSpPr txBox="1"/>
          <p:nvPr/>
        </p:nvSpPr>
        <p:spPr>
          <a:xfrm>
            <a:off x="3087175" y="4033700"/>
            <a:ext cx="35322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opcion B de grafico</a:t>
            </a:r>
            <a:endParaRPr sz="1800">
              <a:solidFill>
                <a:schemeClr val="dk2"/>
              </a:solidFill>
            </a:endParaRPr>
          </a:p>
        </p:txBody>
      </p:sp>
      <p:sp>
        <p:nvSpPr>
          <p:cNvPr id="56" name="Google Shape;56;p13"/>
          <p:cNvSpPr txBox="1"/>
          <p:nvPr/>
        </p:nvSpPr>
        <p:spPr>
          <a:xfrm>
            <a:off x="3404725" y="936000"/>
            <a:ext cx="58665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Representación de la </a:t>
            </a:r>
            <a:r>
              <a:rPr b="1" i="1" lang="es-419" sz="1100">
                <a:solidFill>
                  <a:schemeClr val="dk1"/>
                </a:solidFill>
              </a:rPr>
              <a:t>library</a:t>
            </a:r>
            <a:r>
              <a:rPr b="1" lang="es-419" sz="1100">
                <a:solidFill>
                  <a:schemeClr val="dk1"/>
                </a:solidFill>
              </a:rPr>
              <a:t> en las réplicas de secuenciación.</a:t>
            </a:r>
            <a:r>
              <a:rPr lang="es-419" sz="1100">
                <a:solidFill>
                  <a:schemeClr val="dk1"/>
                </a:solidFill>
              </a:rPr>
              <a:t> Diagrama de </a:t>
            </a:r>
            <a:r>
              <a:rPr i="1" lang="es-419" sz="1100">
                <a:solidFill>
                  <a:schemeClr val="dk1"/>
                </a:solidFill>
              </a:rPr>
              <a:t>Venn</a:t>
            </a:r>
            <a:r>
              <a:rPr lang="es-419" sz="1100">
                <a:solidFill>
                  <a:schemeClr val="dk1"/>
                </a:solidFill>
              </a:rPr>
              <a:t> que muestra el número de secuencias detectadas en cada réplica y su intersección (secuencias presentes en ambas). Se indica también la cantidad de secuencias de la </a:t>
            </a:r>
            <a:r>
              <a:rPr i="1" lang="es-419" sz="1100">
                <a:solidFill>
                  <a:schemeClr val="dk1"/>
                </a:solidFill>
              </a:rPr>
              <a:t>library</a:t>
            </a:r>
            <a:r>
              <a:rPr lang="es-419" sz="1100">
                <a:solidFill>
                  <a:schemeClr val="dk1"/>
                </a:solidFill>
              </a:rPr>
              <a:t> original que no fueron recuperadas en el proceso. </a:t>
            </a:r>
            <a:endParaRPr sz="1200">
              <a:solidFill>
                <a:schemeClr val="dk2"/>
              </a:solidFill>
            </a:endParaRPr>
          </a:p>
        </p:txBody>
      </p:sp>
      <p:grpSp>
        <p:nvGrpSpPr>
          <p:cNvPr id="57" name="Google Shape;57;p13"/>
          <p:cNvGrpSpPr/>
          <p:nvPr/>
        </p:nvGrpSpPr>
        <p:grpSpPr>
          <a:xfrm>
            <a:off x="86225" y="82225"/>
            <a:ext cx="3256551" cy="3242825"/>
            <a:chOff x="86225" y="82225"/>
            <a:chExt cx="3256551" cy="3242825"/>
          </a:xfrm>
        </p:grpSpPr>
        <p:pic>
          <p:nvPicPr>
            <p:cNvPr id="58" name="Google Shape;58;p13"/>
            <p:cNvPicPr preferRelativeResize="0"/>
            <p:nvPr/>
          </p:nvPicPr>
          <p:blipFill rotWithShape="1">
            <a:blip r:embed="rId4">
              <a:alphaModFix/>
            </a:blip>
            <a:srcRect b="0" l="744" r="0" t="970"/>
            <a:stretch/>
          </p:blipFill>
          <p:spPr>
            <a:xfrm>
              <a:off x="86225" y="82225"/>
              <a:ext cx="3256551" cy="3242825"/>
            </a:xfrm>
            <a:prstGeom prst="rect">
              <a:avLst/>
            </a:prstGeom>
            <a:noFill/>
            <a:ln>
              <a:noFill/>
            </a:ln>
          </p:spPr>
        </p:pic>
        <p:sp>
          <p:nvSpPr>
            <p:cNvPr id="59" name="Google Shape;59;p13"/>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4572</a:t>
              </a:r>
              <a:endParaRPr sz="1100">
                <a:solidFill>
                  <a:schemeClr val="dk2"/>
                </a:solidFill>
              </a:endParaRPr>
            </a:p>
          </p:txBody>
        </p:sp>
        <p:sp>
          <p:nvSpPr>
            <p:cNvPr id="60" name="Google Shape;60;p13"/>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61" name="Google Shape;61;p13"/>
            <p:cNvSpPr txBox="1"/>
            <p:nvPr/>
          </p:nvSpPr>
          <p:spPr>
            <a:xfrm>
              <a:off x="469151"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1 </a:t>
              </a:r>
              <a:endParaRPr sz="1200">
                <a:solidFill>
                  <a:schemeClr val="dk2"/>
                </a:solidFill>
              </a:endParaRPr>
            </a:p>
          </p:txBody>
        </p:sp>
        <p:sp>
          <p:nvSpPr>
            <p:cNvPr id="62" name="Google Shape;62;p13"/>
            <p:cNvSpPr txBox="1"/>
            <p:nvPr/>
          </p:nvSpPr>
          <p:spPr>
            <a:xfrm>
              <a:off x="2182524"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2 </a:t>
              </a:r>
              <a:endParaRPr sz="1200">
                <a:solidFill>
                  <a:schemeClr val="dk2"/>
                </a:solidFill>
              </a:endParaRPr>
            </a:p>
          </p:txBody>
        </p:sp>
        <p:sp>
          <p:nvSpPr>
            <p:cNvPr id="63" name="Google Shape;63;p13"/>
            <p:cNvSpPr txBox="1"/>
            <p:nvPr/>
          </p:nvSpPr>
          <p:spPr>
            <a:xfrm>
              <a:off x="649447"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1957</a:t>
              </a:r>
              <a:endParaRPr sz="1100">
                <a:solidFill>
                  <a:schemeClr val="dk2"/>
                </a:solidFill>
              </a:endParaRPr>
            </a:p>
          </p:txBody>
        </p:sp>
        <p:sp>
          <p:nvSpPr>
            <p:cNvPr id="64" name="Google Shape;64;p13"/>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16040</a:t>
              </a:r>
              <a:endParaRPr sz="1100">
                <a:solidFill>
                  <a:schemeClr val="dk2"/>
                </a:solidFill>
              </a:endParaRPr>
            </a:p>
          </p:txBody>
        </p:sp>
        <p:sp>
          <p:nvSpPr>
            <p:cNvPr id="65" name="Google Shape;65;p13"/>
            <p:cNvSpPr txBox="1"/>
            <p:nvPr/>
          </p:nvSpPr>
          <p:spPr>
            <a:xfrm>
              <a:off x="2355862"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1342</a:t>
              </a:r>
              <a:endParaRPr sz="1100">
                <a:solidFill>
                  <a:schemeClr val="dk2"/>
                </a:solidFil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nvSpPr>
        <p:spPr>
          <a:xfrm>
            <a:off x="2314025" y="3568500"/>
            <a:ext cx="5866500" cy="1554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Análisis de sesgos sistemáticos en la representatividad de la library.</a:t>
            </a:r>
            <a:r>
              <a:rPr lang="es-419" sz="1200">
                <a:solidFill>
                  <a:schemeClr val="dk2"/>
                </a:solidFill>
              </a:rPr>
              <a:t> A) </a:t>
            </a:r>
            <a:r>
              <a:rPr lang="es-419" sz="1100">
                <a:solidFill>
                  <a:schemeClr val="dk1"/>
                </a:solidFill>
              </a:rPr>
              <a:t>Diagrama de </a:t>
            </a:r>
            <a:r>
              <a:rPr i="1" lang="es-419" sz="1100">
                <a:solidFill>
                  <a:schemeClr val="dk1"/>
                </a:solidFill>
              </a:rPr>
              <a:t>Venn</a:t>
            </a:r>
            <a:r>
              <a:rPr lang="es-419" sz="1100">
                <a:solidFill>
                  <a:schemeClr val="dk1"/>
                </a:solidFill>
              </a:rPr>
              <a:t> indicando el número de secuencias detectadas en la secuenciación de células integradas con el reportero para el proyecto de splicing (previo a cualquier selección por expresión), en comparación con la secuenciación del proyecto actual, en al menos una réplica. B) Gráfico de violin representando el contenido de GC de los promotores detectados y en los no detectados durante el presente ensayo reportero. C) Distribución del contenido del contenido de GC de las lecturas obtenidas, en ambas réplicas.</a:t>
            </a:r>
            <a:endParaRPr sz="1200">
              <a:solidFill>
                <a:schemeClr val="dk2"/>
              </a:solidFill>
            </a:endParaRPr>
          </a:p>
        </p:txBody>
      </p:sp>
      <p:pic>
        <p:nvPicPr>
          <p:cNvPr id="71" name="Google Shape;71;p14"/>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72" name="Google Shape;72;p14"/>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2012</a:t>
            </a:r>
            <a:endParaRPr sz="1100">
              <a:solidFill>
                <a:schemeClr val="dk2"/>
              </a:solidFill>
            </a:endParaRPr>
          </a:p>
        </p:txBody>
      </p:sp>
      <p:sp>
        <p:nvSpPr>
          <p:cNvPr id="73" name="Google Shape;73;p14"/>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74" name="Google Shape;74;p14"/>
          <p:cNvSpPr txBox="1"/>
          <p:nvPr/>
        </p:nvSpPr>
        <p:spPr>
          <a:xfrm>
            <a:off x="561071"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1047</a:t>
            </a:r>
            <a:endParaRPr sz="1100">
              <a:solidFill>
                <a:schemeClr val="dk2"/>
              </a:solidFill>
            </a:endParaRPr>
          </a:p>
        </p:txBody>
      </p:sp>
      <p:sp>
        <p:nvSpPr>
          <p:cNvPr id="75" name="Google Shape;75;p14"/>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18292</a:t>
            </a:r>
            <a:endParaRPr sz="1100">
              <a:solidFill>
                <a:schemeClr val="dk2"/>
              </a:solidFill>
            </a:endParaRPr>
          </a:p>
        </p:txBody>
      </p:sp>
      <p:sp>
        <p:nvSpPr>
          <p:cNvPr id="76" name="Google Shape;76;p14"/>
          <p:cNvSpPr txBox="1"/>
          <p:nvPr/>
        </p:nvSpPr>
        <p:spPr>
          <a:xfrm>
            <a:off x="2326403"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2560</a:t>
            </a:r>
            <a:endParaRPr sz="1100">
              <a:solidFill>
                <a:schemeClr val="dk2"/>
              </a:solidFill>
            </a:endParaRPr>
          </a:p>
        </p:txBody>
      </p:sp>
      <p:sp>
        <p:nvSpPr>
          <p:cNvPr id="77" name="Google Shape;77;p14"/>
          <p:cNvSpPr txBox="1"/>
          <p:nvPr/>
        </p:nvSpPr>
        <p:spPr>
          <a:xfrm>
            <a:off x="247452" y="1107025"/>
            <a:ext cx="1150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a:t>
            </a:r>
            <a:r>
              <a:rPr lang="es-419" sz="1200">
                <a:solidFill>
                  <a:schemeClr val="dk2"/>
                </a:solidFill>
              </a:rPr>
              <a:t>transcripción</a:t>
            </a:r>
            <a:endParaRPr sz="1200">
              <a:solidFill>
                <a:schemeClr val="dk2"/>
              </a:solidFill>
            </a:endParaRPr>
          </a:p>
        </p:txBody>
      </p:sp>
      <p:sp>
        <p:nvSpPr>
          <p:cNvPr id="78" name="Google Shape;78;p14"/>
          <p:cNvSpPr txBox="1"/>
          <p:nvPr/>
        </p:nvSpPr>
        <p:spPr>
          <a:xfrm>
            <a:off x="2063844" y="1107021"/>
            <a:ext cx="10719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splicing</a:t>
            </a:r>
            <a:endParaRPr sz="1200">
              <a:solidFill>
                <a:schemeClr val="dk2"/>
              </a:solidFill>
            </a:endParaRPr>
          </a:p>
        </p:txBody>
      </p:sp>
      <p:grpSp>
        <p:nvGrpSpPr>
          <p:cNvPr id="79" name="Google Shape;79;p14"/>
          <p:cNvGrpSpPr/>
          <p:nvPr/>
        </p:nvGrpSpPr>
        <p:grpSpPr>
          <a:xfrm>
            <a:off x="5506445" y="266008"/>
            <a:ext cx="3568830" cy="2626092"/>
            <a:chOff x="5506445" y="266008"/>
            <a:chExt cx="3568830" cy="2626092"/>
          </a:xfrm>
        </p:grpSpPr>
        <p:grpSp>
          <p:nvGrpSpPr>
            <p:cNvPr id="80" name="Google Shape;80;p14"/>
            <p:cNvGrpSpPr/>
            <p:nvPr/>
          </p:nvGrpSpPr>
          <p:grpSpPr>
            <a:xfrm>
              <a:off x="5506445" y="266008"/>
              <a:ext cx="3568830" cy="2626092"/>
              <a:chOff x="5506445" y="266008"/>
              <a:chExt cx="3568830" cy="2626092"/>
            </a:xfrm>
          </p:grpSpPr>
          <p:pic>
            <p:nvPicPr>
              <p:cNvPr id="81" name="Google Shape;81;p14" title="gc_bias_bars.jpg"/>
              <p:cNvPicPr preferRelativeResize="0"/>
              <p:nvPr/>
            </p:nvPicPr>
            <p:blipFill>
              <a:blip r:embed="rId4">
                <a:alphaModFix/>
              </a:blip>
              <a:stretch>
                <a:fillRect/>
              </a:stretch>
            </p:blipFill>
            <p:spPr>
              <a:xfrm>
                <a:off x="5506445" y="266008"/>
                <a:ext cx="3501476" cy="2626092"/>
              </a:xfrm>
              <a:prstGeom prst="rect">
                <a:avLst/>
              </a:prstGeom>
              <a:noFill/>
              <a:ln>
                <a:noFill/>
              </a:ln>
            </p:spPr>
          </p:pic>
          <p:sp>
            <p:nvSpPr>
              <p:cNvPr id="82" name="Google Shape;82;p14"/>
              <p:cNvSpPr txBox="1"/>
              <p:nvPr/>
            </p:nvSpPr>
            <p:spPr>
              <a:xfrm>
                <a:off x="7554572" y="577079"/>
                <a:ext cx="12645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uniforme</a:t>
                </a:r>
                <a:endParaRPr sz="900">
                  <a:solidFill>
                    <a:schemeClr val="dk2"/>
                  </a:solidFill>
                </a:endParaRPr>
              </a:p>
            </p:txBody>
          </p:sp>
          <p:sp>
            <p:nvSpPr>
              <p:cNvPr id="83" name="Google Shape;83;p14"/>
              <p:cNvSpPr txBox="1"/>
              <p:nvPr/>
            </p:nvSpPr>
            <p:spPr>
              <a:xfrm>
                <a:off x="7554576" y="727896"/>
                <a:ext cx="15207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observada</a:t>
                </a:r>
                <a:endParaRPr sz="900">
                  <a:solidFill>
                    <a:schemeClr val="dk2"/>
                  </a:solidFill>
                </a:endParaRPr>
              </a:p>
            </p:txBody>
          </p:sp>
        </p:grpSp>
        <p:sp>
          <p:nvSpPr>
            <p:cNvPr id="84" name="Google Shape;84;p14"/>
            <p:cNvSpPr/>
            <p:nvPr/>
          </p:nvSpPr>
          <p:spPr>
            <a:xfrm>
              <a:off x="7504925" y="679871"/>
              <a:ext cx="101700" cy="101700"/>
            </a:xfrm>
            <a:prstGeom prst="rect">
              <a:avLst/>
            </a:prstGeom>
            <a:solidFill>
              <a:srgbClr val="ACDA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5" name="Google Shape;85;p14"/>
            <p:cNvSpPr/>
            <p:nvPr/>
          </p:nvSpPr>
          <p:spPr>
            <a:xfrm>
              <a:off x="7504925" y="832271"/>
              <a:ext cx="101700" cy="101700"/>
            </a:xfrm>
            <a:prstGeom prst="rect">
              <a:avLst/>
            </a:prstGeom>
            <a:solidFill>
              <a:srgbClr val="98C5D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86" name="Google Shape;86;p14" title="gc_bias_violin.jpg"/>
          <p:cNvPicPr preferRelativeResize="0"/>
          <p:nvPr/>
        </p:nvPicPr>
        <p:blipFill rotWithShape="1">
          <a:blip r:embed="rId5">
            <a:alphaModFix/>
          </a:blip>
          <a:srcRect b="11708" l="0" r="0" t="0"/>
          <a:stretch/>
        </p:blipFill>
        <p:spPr>
          <a:xfrm>
            <a:off x="3438900" y="163655"/>
            <a:ext cx="1858876" cy="2461777"/>
          </a:xfrm>
          <a:prstGeom prst="rect">
            <a:avLst/>
          </a:prstGeom>
          <a:noFill/>
          <a:ln>
            <a:noFill/>
          </a:ln>
        </p:spPr>
      </p:pic>
      <p:sp>
        <p:nvSpPr>
          <p:cNvPr id="87" name="Google Shape;87;p14"/>
          <p:cNvSpPr txBox="1"/>
          <p:nvPr/>
        </p:nvSpPr>
        <p:spPr>
          <a:xfrm>
            <a:off x="3160742" y="2609422"/>
            <a:ext cx="20730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a:t>
            </a:r>
            <a:endParaRPr sz="1100">
              <a:solidFill>
                <a:schemeClr val="dk2"/>
              </a:solidFill>
            </a:endParaRPr>
          </a:p>
          <a:p>
            <a:pPr indent="0" lvl="0" marL="0" rtl="0" algn="ctr">
              <a:spcBef>
                <a:spcPts val="0"/>
              </a:spcBef>
              <a:spcAft>
                <a:spcPts val="0"/>
              </a:spcAft>
              <a:buNone/>
            </a:pPr>
            <a:r>
              <a:rPr lang="es-419" sz="1100">
                <a:solidFill>
                  <a:schemeClr val="dk2"/>
                </a:solidFill>
              </a:rPr>
              <a:t>no detectado</a:t>
            </a:r>
            <a:endParaRPr sz="1100">
              <a:solidFill>
                <a:schemeClr val="dk2"/>
              </a:solidFill>
            </a:endParaRPr>
          </a:p>
        </p:txBody>
      </p:sp>
      <p:sp>
        <p:nvSpPr>
          <p:cNvPr id="88" name="Google Shape;88;p14"/>
          <p:cNvSpPr txBox="1"/>
          <p:nvPr/>
        </p:nvSpPr>
        <p:spPr>
          <a:xfrm>
            <a:off x="4548029" y="2625434"/>
            <a:ext cx="9285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d</a:t>
            </a:r>
            <a:r>
              <a:rPr lang="es-419" sz="1100">
                <a:solidFill>
                  <a:schemeClr val="dk2"/>
                </a:solidFill>
              </a:rPr>
              <a:t>etectados</a:t>
            </a:r>
            <a:endParaRPr sz="11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id="93" name="Google Shape;93;p15"/>
          <p:cNvPicPr preferRelativeResize="0"/>
          <p:nvPr/>
        </p:nvPicPr>
        <p:blipFill>
          <a:blip r:embed="rId3">
            <a:alphaModFix/>
          </a:blip>
          <a:stretch>
            <a:fillRect/>
          </a:stretch>
        </p:blipFill>
        <p:spPr>
          <a:xfrm>
            <a:off x="884425" y="152400"/>
            <a:ext cx="5012300" cy="3762750"/>
          </a:xfrm>
          <a:prstGeom prst="rect">
            <a:avLst/>
          </a:prstGeom>
          <a:noFill/>
          <a:ln>
            <a:noFill/>
          </a:ln>
        </p:spPr>
      </p:pic>
      <p:sp>
        <p:nvSpPr>
          <p:cNvPr id="94" name="Google Shape;94;p15"/>
          <p:cNvSpPr txBox="1"/>
          <p:nvPr/>
        </p:nvSpPr>
        <p:spPr>
          <a:xfrm>
            <a:off x="242725" y="4030035"/>
            <a:ext cx="9044400" cy="10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s-419" sz="1200">
                <a:solidFill>
                  <a:schemeClr val="dk2"/>
                </a:solidFill>
              </a:rPr>
              <a:t>Robustez de los controles celulares internos de spike-in.</a:t>
            </a:r>
            <a:r>
              <a:rPr lang="es-419" sz="1200">
                <a:solidFill>
                  <a:schemeClr val="dk2"/>
                </a:solidFill>
              </a:rPr>
              <a:t> 30, 300 o 3000 células fueron añadidas en forma de </a:t>
            </a:r>
            <a:r>
              <a:rPr lang="es-419" sz="1200">
                <a:solidFill>
                  <a:schemeClr val="dk2"/>
                </a:solidFill>
              </a:rPr>
              <a:t>estándar</a:t>
            </a:r>
            <a:r>
              <a:rPr lang="es-419" sz="1200">
                <a:solidFill>
                  <a:schemeClr val="dk2"/>
                </a:solidFill>
              </a:rPr>
              <a:t> interno a cada muestra. Los counts corregidos de cada una de las tres líneas celulares usadas como </a:t>
            </a:r>
            <a:r>
              <a:rPr lang="es-419" sz="1200">
                <a:solidFill>
                  <a:schemeClr val="dk2"/>
                </a:solidFill>
              </a:rPr>
              <a:t>estándar</a:t>
            </a:r>
            <a:r>
              <a:rPr lang="es-419" sz="1200">
                <a:solidFill>
                  <a:schemeClr val="dk2"/>
                </a:solidFill>
              </a:rPr>
              <a:t> fueron normalizadas al de aquella con representación intermedia (Spike-in 2). Los valores para cada fracción de </a:t>
            </a:r>
            <a:r>
              <a:rPr lang="es-419" sz="1200">
                <a:solidFill>
                  <a:schemeClr val="dk2"/>
                </a:solidFill>
              </a:rPr>
              <a:t>células</a:t>
            </a:r>
            <a:r>
              <a:rPr lang="es-419" sz="1200">
                <a:solidFill>
                  <a:schemeClr val="dk2"/>
                </a:solidFill>
              </a:rPr>
              <a:t> se muestran para ambas </a:t>
            </a:r>
            <a:r>
              <a:rPr lang="es-419" sz="1200">
                <a:solidFill>
                  <a:schemeClr val="dk2"/>
                </a:solidFill>
              </a:rPr>
              <a:t>réplicas</a:t>
            </a:r>
            <a:r>
              <a:rPr lang="es-419" sz="1200">
                <a:solidFill>
                  <a:schemeClr val="dk2"/>
                </a:solidFill>
              </a:rPr>
              <a:t>, y muestran la ausencia de sesgos técnicos relevantes entre las muestras en la </a:t>
            </a:r>
            <a:r>
              <a:rPr lang="es-419" sz="1200">
                <a:solidFill>
                  <a:schemeClr val="dk2"/>
                </a:solidFill>
              </a:rPr>
              <a:t>cuantificación</a:t>
            </a:r>
            <a:r>
              <a:rPr lang="es-419" sz="1200">
                <a:solidFill>
                  <a:schemeClr val="dk2"/>
                </a:solidFill>
              </a:rPr>
              <a:t> en escala masiva.</a:t>
            </a:r>
            <a:endParaRPr sz="18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6"/>
          <p:cNvSpPr txBox="1"/>
          <p:nvPr/>
        </p:nvSpPr>
        <p:spPr>
          <a:xfrm>
            <a:off x="0" y="0"/>
            <a:ext cx="3000000" cy="164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Reconstrucción de la distribución de expresión para un promotor individual</a:t>
            </a:r>
            <a:r>
              <a:rPr lang="es-419" sz="1050">
                <a:solidFill>
                  <a:srgbClr val="0B0B0B"/>
                </a:solidFill>
                <a:highlight>
                  <a:srgbClr val="FCFCFB"/>
                </a:highlight>
                <a:latin typeface="Roboto"/>
                <a:ea typeface="Roboto"/>
                <a:cs typeface="Roboto"/>
                <a:sym typeface="Roboto"/>
              </a:rPr>
              <a:t>, KIAA0753_1, a modo de ejemplo. El histograma muestra la frecuencia relativa de lecturas normalizadas asociadas a esta secuencia en cada una de las 6 fracciones (</a:t>
            </a:r>
            <a:r>
              <a:rPr i="1" lang="es-419" sz="1050">
                <a:solidFill>
                  <a:srgbClr val="0B0B0B"/>
                </a:solidFill>
                <a:highlight>
                  <a:srgbClr val="FCFCFB"/>
                </a:highlight>
                <a:latin typeface="Roboto"/>
                <a:ea typeface="Roboto"/>
                <a:cs typeface="Roboto"/>
                <a:sym typeface="Roboto"/>
              </a:rPr>
              <a:t>gates</a:t>
            </a:r>
            <a:r>
              <a:rPr lang="es-419" sz="1050">
                <a:solidFill>
                  <a:srgbClr val="0B0B0B"/>
                </a:solidFill>
                <a:highlight>
                  <a:srgbClr val="FCFCFB"/>
                </a:highlight>
                <a:latin typeface="Roboto"/>
                <a:ea typeface="Roboto"/>
                <a:cs typeface="Roboto"/>
                <a:sym typeface="Roboto"/>
              </a:rPr>
              <a:t>) de fluorescencia EGFP en que fueron clasificadas las células, para ambas réplicas experimentales (tonalidades clara/oscura).</a:t>
            </a:r>
            <a:r>
              <a:rPr lang="es-419" sz="1100">
                <a:solidFill>
                  <a:schemeClr val="dk1"/>
                </a:solidFill>
              </a:rPr>
              <a:t> </a:t>
            </a:r>
            <a:endParaRPr/>
          </a:p>
        </p:txBody>
      </p:sp>
      <p:pic>
        <p:nvPicPr>
          <p:cNvPr id="100" name="Google Shape;100;p16" title="histograma_gates_KIAA0753.jpg"/>
          <p:cNvPicPr preferRelativeResize="0"/>
          <p:nvPr/>
        </p:nvPicPr>
        <p:blipFill>
          <a:blip r:embed="rId3">
            <a:alphaModFix/>
          </a:blip>
          <a:stretch>
            <a:fillRect/>
          </a:stretch>
        </p:blipFill>
        <p:spPr>
          <a:xfrm>
            <a:off x="3152400" y="152400"/>
            <a:ext cx="5839201" cy="43794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pic>
        <p:nvPicPr>
          <p:cNvPr id="105" name="Google Shape;105;p17" title="extra_densidad_individual.jpg"/>
          <p:cNvPicPr preferRelativeResize="0"/>
          <p:nvPr/>
        </p:nvPicPr>
        <p:blipFill>
          <a:blip r:embed="rId3">
            <a:alphaModFix/>
          </a:blip>
          <a:stretch>
            <a:fillRect/>
          </a:stretch>
        </p:blipFill>
        <p:spPr>
          <a:xfrm>
            <a:off x="1788012" y="548950"/>
            <a:ext cx="4725724" cy="3544301"/>
          </a:xfrm>
          <a:prstGeom prst="rect">
            <a:avLst/>
          </a:prstGeom>
          <a:noFill/>
          <a:ln>
            <a:noFill/>
          </a:ln>
        </p:spPr>
      </p:pic>
      <p:sp>
        <p:nvSpPr>
          <p:cNvPr id="106" name="Google Shape;106;p17"/>
          <p:cNvSpPr txBox="1"/>
          <p:nvPr/>
        </p:nvSpPr>
        <p:spPr>
          <a:xfrm>
            <a:off x="353950" y="4093250"/>
            <a:ext cx="5775300" cy="14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Distribución de fluorescencia EGFP para promotores individuales, validados por citometría de flujo. </a:t>
            </a:r>
            <a:r>
              <a:rPr lang="es-419" sz="1050">
                <a:solidFill>
                  <a:srgbClr val="0B0B0B"/>
                </a:solidFill>
                <a:highlight>
                  <a:srgbClr val="FCFCFB"/>
                </a:highlight>
                <a:latin typeface="Roboto"/>
                <a:ea typeface="Roboto"/>
                <a:cs typeface="Roboto"/>
                <a:sym typeface="Roboto"/>
              </a:rPr>
              <a:t>Se generaron líneas celulares HEK293T-A2 estables integradas con el reportero EGFP bajo el control de un promotor individual, para 8 secuencias de la </a:t>
            </a:r>
            <a:r>
              <a:rPr i="1" lang="es-419" sz="1050">
                <a:solidFill>
                  <a:srgbClr val="0B0B0B"/>
                </a:solidFill>
                <a:highlight>
                  <a:srgbClr val="FCFCFB"/>
                </a:highlight>
                <a:latin typeface="Roboto"/>
                <a:ea typeface="Roboto"/>
                <a:cs typeface="Roboto"/>
                <a:sym typeface="Roboto"/>
              </a:rPr>
              <a:t>library</a:t>
            </a:r>
            <a:r>
              <a:rPr lang="es-419" sz="1050">
                <a:solidFill>
                  <a:srgbClr val="0B0B0B"/>
                </a:solidFill>
                <a:highlight>
                  <a:srgbClr val="FCFCFB"/>
                </a:highlight>
                <a:latin typeface="Roboto"/>
                <a:ea typeface="Roboto"/>
                <a:cs typeface="Roboto"/>
                <a:sym typeface="Roboto"/>
              </a:rPr>
              <a:t> (BTG1_1, ETS1_1, KIAA0753_1, LSM1_1, METAP2_1, PPP1R14B_3, TMEM87A_1, ZKSCAN2_1; n = 3 réplicas técnicas cada una) y un promotor de referencia de alta actividad (Strong). En cada panel se muestra la densidad de la señal de fluorescencia EGFP (escala logarítmica) del promotor correspondiente, superpuesta a la distribución de fondo de una población no transfectada (Control, gris).</a:t>
            </a:r>
            <a:r>
              <a:rPr lang="es-419" sz="1100">
                <a:solidFill>
                  <a:schemeClr val="dk1"/>
                </a:solidFill>
              </a:rPr>
              <a:t> </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18"/>
          <p:cNvPicPr preferRelativeResize="0"/>
          <p:nvPr/>
        </p:nvPicPr>
        <p:blipFill>
          <a:blip r:embed="rId3">
            <a:alphaModFix/>
          </a:blip>
          <a:stretch>
            <a:fillRect/>
          </a:stretch>
        </p:blipFill>
        <p:spPr>
          <a:xfrm>
            <a:off x="-133350" y="97100"/>
            <a:ext cx="3419475" cy="2638425"/>
          </a:xfrm>
          <a:prstGeom prst="rect">
            <a:avLst/>
          </a:prstGeom>
          <a:noFill/>
          <a:ln>
            <a:noFill/>
          </a:ln>
        </p:spPr>
      </p:pic>
      <p:pic>
        <p:nvPicPr>
          <p:cNvPr id="112" name="Google Shape;112;p18"/>
          <p:cNvPicPr preferRelativeResize="0"/>
          <p:nvPr/>
        </p:nvPicPr>
        <p:blipFill>
          <a:blip r:embed="rId4">
            <a:alphaModFix/>
          </a:blip>
          <a:stretch>
            <a:fillRect/>
          </a:stretch>
        </p:blipFill>
        <p:spPr>
          <a:xfrm>
            <a:off x="6505575" y="152400"/>
            <a:ext cx="2486025" cy="2418147"/>
          </a:xfrm>
          <a:prstGeom prst="rect">
            <a:avLst/>
          </a:prstGeom>
          <a:noFill/>
          <a:ln>
            <a:noFill/>
          </a:ln>
        </p:spPr>
      </p:pic>
      <p:sp>
        <p:nvSpPr>
          <p:cNvPr id="113" name="Google Shape;113;p18"/>
          <p:cNvSpPr txBox="1"/>
          <p:nvPr/>
        </p:nvSpPr>
        <p:spPr>
          <a:xfrm>
            <a:off x="735375" y="3120725"/>
            <a:ext cx="586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(A) </a:t>
            </a:r>
            <a:r>
              <a:rPr lang="es-419" sz="1200">
                <a:solidFill>
                  <a:schemeClr val="dk2"/>
                </a:solidFill>
              </a:rPr>
              <a:t>Perfiles de densidad de fluorescencia de EGFP obtenidos por citometría de flujo para una selección de promotores integrados de forma individual (n = 3 réplicas técnicas).</a:t>
            </a:r>
            <a:r>
              <a:rPr lang="es-419" sz="1200">
                <a:solidFill>
                  <a:schemeClr val="dk2"/>
                </a:solidFill>
              </a:rPr>
              <a:t> (B) </a:t>
            </a:r>
            <a:r>
              <a:rPr lang="es-419" sz="1200">
                <a:solidFill>
                  <a:schemeClr val="dk2"/>
                </a:solidFill>
              </a:rPr>
              <a:t>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en una única de las réplicas experimentales</a:t>
            </a:r>
            <a:r>
              <a:rPr lang="es-419" sz="1200">
                <a:solidFill>
                  <a:schemeClr val="dk2"/>
                </a:solidFill>
              </a:rPr>
              <a:t>(C)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pic>
        <p:nvPicPr>
          <p:cNvPr id="114" name="Google Shape;114;p18" title="panel_b_histograma_gates_ejemplo.jpg"/>
          <p:cNvPicPr preferRelativeResize="0"/>
          <p:nvPr/>
        </p:nvPicPr>
        <p:blipFill>
          <a:blip r:embed="rId5">
            <a:alphaModFix/>
          </a:blip>
          <a:stretch>
            <a:fillRect/>
          </a:stretch>
        </p:blipFill>
        <p:spPr>
          <a:xfrm>
            <a:off x="3438525" y="152400"/>
            <a:ext cx="2914652" cy="218598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grpSp>
        <p:nvGrpSpPr>
          <p:cNvPr id="119" name="Google Shape;119;p19"/>
          <p:cNvGrpSpPr/>
          <p:nvPr/>
        </p:nvGrpSpPr>
        <p:grpSpPr>
          <a:xfrm>
            <a:off x="2391552" y="-2"/>
            <a:ext cx="2391285" cy="2381206"/>
            <a:chOff x="86225" y="82225"/>
            <a:chExt cx="3256551" cy="3242825"/>
          </a:xfrm>
        </p:grpSpPr>
        <p:pic>
          <p:nvPicPr>
            <p:cNvPr id="120" name="Google Shape;120;p19"/>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121" name="Google Shape;121;p19"/>
            <p:cNvSpPr txBox="1"/>
            <p:nvPr/>
          </p:nvSpPr>
          <p:spPr>
            <a:xfrm>
              <a:off x="1458265" y="374911"/>
              <a:ext cx="721500" cy="354000"/>
            </a:xfrm>
            <a:prstGeom prst="rect">
              <a:avLst/>
            </a:prstGeom>
            <a:solidFill>
              <a:srgbClr val="EFF6FB"/>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9756</a:t>
              </a:r>
              <a:endParaRPr sz="808">
                <a:solidFill>
                  <a:schemeClr val="dk2"/>
                </a:solidFill>
              </a:endParaRPr>
            </a:p>
          </p:txBody>
        </p:sp>
        <p:sp>
          <p:nvSpPr>
            <p:cNvPr id="122" name="Google Shape;122;p19"/>
            <p:cNvSpPr txBox="1"/>
            <p:nvPr/>
          </p:nvSpPr>
          <p:spPr>
            <a:xfrm>
              <a:off x="1370694" y="185978"/>
              <a:ext cx="8061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Library</a:t>
              </a:r>
              <a:endParaRPr sz="881">
                <a:solidFill>
                  <a:schemeClr val="dk2"/>
                </a:solidFill>
              </a:endParaRPr>
            </a:p>
          </p:txBody>
        </p:sp>
        <p:sp>
          <p:nvSpPr>
            <p:cNvPr id="123" name="Google Shape;123;p19"/>
            <p:cNvSpPr txBox="1"/>
            <p:nvPr/>
          </p:nvSpPr>
          <p:spPr>
            <a:xfrm>
              <a:off x="469151"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1 </a:t>
              </a:r>
              <a:endParaRPr sz="881">
                <a:solidFill>
                  <a:schemeClr val="dk2"/>
                </a:solidFill>
              </a:endParaRPr>
            </a:p>
          </p:txBody>
        </p:sp>
        <p:sp>
          <p:nvSpPr>
            <p:cNvPr id="124" name="Google Shape;124;p19"/>
            <p:cNvSpPr txBox="1"/>
            <p:nvPr/>
          </p:nvSpPr>
          <p:spPr>
            <a:xfrm>
              <a:off x="2182524"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2 </a:t>
              </a:r>
              <a:endParaRPr sz="881">
                <a:solidFill>
                  <a:schemeClr val="dk2"/>
                </a:solidFill>
              </a:endParaRPr>
            </a:p>
          </p:txBody>
        </p:sp>
        <p:sp>
          <p:nvSpPr>
            <p:cNvPr id="125" name="Google Shape;125;p19"/>
            <p:cNvSpPr txBox="1"/>
            <p:nvPr/>
          </p:nvSpPr>
          <p:spPr>
            <a:xfrm>
              <a:off x="649447" y="1510800"/>
              <a:ext cx="540900" cy="354000"/>
            </a:xfrm>
            <a:prstGeom prst="rect">
              <a:avLst/>
            </a:prstGeom>
            <a:solidFill>
              <a:srgbClr val="BCD9E5"/>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835</a:t>
              </a:r>
              <a:endParaRPr sz="808">
                <a:solidFill>
                  <a:schemeClr val="dk2"/>
                </a:solidFill>
              </a:endParaRPr>
            </a:p>
          </p:txBody>
        </p:sp>
        <p:sp>
          <p:nvSpPr>
            <p:cNvPr id="126" name="Google Shape;126;p19"/>
            <p:cNvSpPr txBox="1"/>
            <p:nvPr/>
          </p:nvSpPr>
          <p:spPr>
            <a:xfrm>
              <a:off x="1414623" y="1510788"/>
              <a:ext cx="645000" cy="354000"/>
            </a:xfrm>
            <a:prstGeom prst="rect">
              <a:avLst/>
            </a:prstGeom>
            <a:solidFill>
              <a:srgbClr val="B3D9DD"/>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10401</a:t>
              </a:r>
              <a:endParaRPr sz="808">
                <a:solidFill>
                  <a:schemeClr val="dk2"/>
                </a:solidFill>
              </a:endParaRPr>
            </a:p>
          </p:txBody>
        </p:sp>
        <p:sp>
          <p:nvSpPr>
            <p:cNvPr id="127" name="Google Shape;127;p19"/>
            <p:cNvSpPr txBox="1"/>
            <p:nvPr/>
          </p:nvSpPr>
          <p:spPr>
            <a:xfrm>
              <a:off x="2355862" y="1510788"/>
              <a:ext cx="645000" cy="354000"/>
            </a:xfrm>
            <a:prstGeom prst="rect">
              <a:avLst/>
            </a:prstGeom>
            <a:solidFill>
              <a:srgbClr val="CDE8E8"/>
            </a:solidFill>
            <a:ln>
              <a:noFill/>
            </a:ln>
          </p:spPr>
          <p:txBody>
            <a:bodyPr anchorCtr="0" anchor="t" bIns="67150" lIns="67150" spcFirstLastPara="1" rIns="67150" wrap="square" tIns="67150">
              <a:spAutoFit/>
            </a:bodyPr>
            <a:lstStyle/>
            <a:p>
              <a:pPr indent="0" lvl="0" marL="0" rtl="0" algn="l">
                <a:spcBef>
                  <a:spcPts val="0"/>
                </a:spcBef>
                <a:spcAft>
                  <a:spcPts val="0"/>
                </a:spcAft>
                <a:buClr>
                  <a:schemeClr val="dk1"/>
                </a:buClr>
                <a:buSzPts val="877"/>
                <a:buFont typeface="Arial"/>
                <a:buNone/>
              </a:pPr>
              <a:r>
                <a:rPr lang="es-419" sz="808">
                  <a:solidFill>
                    <a:schemeClr val="dk2"/>
                  </a:solidFill>
                </a:rPr>
                <a:t>2919</a:t>
              </a:r>
              <a:endParaRPr sz="808">
                <a:solidFill>
                  <a:schemeClr val="dk2"/>
                </a:solidFill>
              </a:endParaRPr>
            </a:p>
          </p:txBody>
        </p:sp>
      </p:grpSp>
      <p:sp>
        <p:nvSpPr>
          <p:cNvPr id="128" name="Google Shape;128;p19"/>
          <p:cNvSpPr txBox="1"/>
          <p:nvPr/>
        </p:nvSpPr>
        <p:spPr>
          <a:xfrm>
            <a:off x="5057225" y="91400"/>
            <a:ext cx="3948900" cy="405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t>Análisis de correlación y consistencia entre réplicas de secuenciación. </a:t>
            </a:r>
            <a:endParaRPr b="1" sz="1200"/>
          </a:p>
          <a:p>
            <a:pPr indent="0" lvl="0" marL="0" rtl="0" algn="l">
              <a:lnSpc>
                <a:spcPct val="115000"/>
              </a:lnSpc>
              <a:spcBef>
                <a:spcPts val="1200"/>
              </a:spcBef>
              <a:spcAft>
                <a:spcPts val="0"/>
              </a:spcAft>
              <a:buClr>
                <a:schemeClr val="dk1"/>
              </a:buClr>
              <a:buSzPts val="1100"/>
              <a:buFont typeface="Arial"/>
              <a:buNone/>
            </a:pPr>
            <a:r>
              <a:rPr b="1" lang="es-419" sz="1200">
                <a:solidFill>
                  <a:schemeClr val="dk1"/>
                </a:solidFill>
              </a:rPr>
              <a:t>(A-B)</a:t>
            </a:r>
            <a:r>
              <a:rPr lang="es-419" sz="1200">
                <a:solidFill>
                  <a:schemeClr val="dk1"/>
                </a:solidFill>
              </a:rPr>
              <a:t> Gráfico de dispersión que muestra la correlación de la media de expresión entre las dos réplicas experimentales antes (A) y después (A confianza alta, y B) de aplicar los filtros de consistencia (coeficientes de </a:t>
            </a:r>
            <a:r>
              <a:rPr i="1" lang="es-419" sz="1200">
                <a:solidFill>
                  <a:schemeClr val="dk1"/>
                </a:solidFill>
              </a:rPr>
              <a:t>Pearson</a:t>
            </a:r>
            <a:r>
              <a:rPr lang="es-419" sz="1200">
                <a:solidFill>
                  <a:schemeClr val="dk1"/>
                </a:solidFill>
              </a:rPr>
              <a:t> de 0.72 y 0.85, respectivamente). Los </a:t>
            </a:r>
            <a:r>
              <a:rPr i="1" lang="es-419" sz="1200">
                <a:solidFill>
                  <a:schemeClr val="dk1"/>
                </a:solidFill>
              </a:rPr>
              <a:t>counts</a:t>
            </a:r>
            <a:r>
              <a:rPr lang="es-419" sz="1200">
                <a:solidFill>
                  <a:schemeClr val="dk1"/>
                </a:solidFill>
              </a:rPr>
              <a:t> mínimos y la eliminación de perfiles bimodales incrementan la robustez de la determinación de la actividad. </a:t>
            </a:r>
            <a:r>
              <a:rPr b="1" lang="es-419" sz="1200">
                <a:solidFill>
                  <a:schemeClr val="dk1"/>
                </a:solidFill>
              </a:rPr>
              <a:t>(C)</a:t>
            </a:r>
            <a:r>
              <a:rPr lang="es-419" sz="1200">
                <a:solidFill>
                  <a:schemeClr val="dk1"/>
                </a:solidFill>
              </a:rPr>
              <a:t> Representación del subconjunto final de 12214 promotores de alta confianza seleccionados para los análisis subsiguientes, detallando su presencia por réplicas.</a:t>
            </a:r>
            <a:r>
              <a:rPr b="1" lang="es-419" sz="1200">
                <a:solidFill>
                  <a:schemeClr val="dk1"/>
                </a:solidFill>
              </a:rPr>
              <a:t>(D) </a:t>
            </a:r>
            <a:r>
              <a:rPr lang="es-419" sz="1200">
                <a:solidFill>
                  <a:schemeClr val="dk1"/>
                </a:solidFill>
              </a:rPr>
              <a:t>Gráfico de dispersión que muestra la correlación de la varianza de expresión entre las dos réplicas experimentales después de aplicar los filtros de consistencia (coeficientes de </a:t>
            </a:r>
            <a:r>
              <a:rPr i="1" lang="es-419" sz="1200">
                <a:solidFill>
                  <a:schemeClr val="dk1"/>
                </a:solidFill>
              </a:rPr>
              <a:t>Pearson</a:t>
            </a:r>
            <a:r>
              <a:rPr lang="es-419" sz="1200">
                <a:solidFill>
                  <a:schemeClr val="dk1"/>
                </a:solidFill>
              </a:rPr>
              <a:t> 0.31). </a:t>
            </a:r>
            <a:endParaRPr b="1" sz="1200">
              <a:solidFill>
                <a:schemeClr val="dk1"/>
              </a:solidFill>
            </a:endParaRPr>
          </a:p>
          <a:p>
            <a:pPr indent="0" lvl="0" marL="0" rtl="0" algn="l">
              <a:spcBef>
                <a:spcPts val="1200"/>
              </a:spcBef>
              <a:spcAft>
                <a:spcPts val="0"/>
              </a:spcAft>
              <a:buNone/>
            </a:pPr>
            <a:r>
              <a:t/>
            </a:r>
            <a:endParaRPr b="1"/>
          </a:p>
        </p:txBody>
      </p:sp>
      <p:grpSp>
        <p:nvGrpSpPr>
          <p:cNvPr id="129" name="Google Shape;129;p19"/>
          <p:cNvGrpSpPr/>
          <p:nvPr/>
        </p:nvGrpSpPr>
        <p:grpSpPr>
          <a:xfrm>
            <a:off x="9" y="167053"/>
            <a:ext cx="2391724" cy="2228275"/>
            <a:chOff x="208625" y="-206579"/>
            <a:chExt cx="4062721" cy="3785076"/>
          </a:xfrm>
        </p:grpSpPr>
        <p:pic>
          <p:nvPicPr>
            <p:cNvPr id="130" name="Google Shape;130;p19" title="mean_replicates_prefilter.jpg"/>
            <p:cNvPicPr preferRelativeResize="0"/>
            <p:nvPr/>
          </p:nvPicPr>
          <p:blipFill rotWithShape="1">
            <a:blip r:embed="rId4">
              <a:alphaModFix/>
            </a:blip>
            <a:srcRect b="0" l="87149" r="0" t="0"/>
            <a:stretch/>
          </p:blipFill>
          <p:spPr>
            <a:xfrm>
              <a:off x="3617220" y="-206579"/>
              <a:ext cx="654126" cy="3785076"/>
            </a:xfrm>
            <a:prstGeom prst="rect">
              <a:avLst/>
            </a:prstGeom>
            <a:noFill/>
            <a:ln>
              <a:noFill/>
            </a:ln>
          </p:spPr>
        </p:pic>
        <p:pic>
          <p:nvPicPr>
            <p:cNvPr id="131" name="Google Shape;131;p19" title="mean_replicates_prefilter.jpg"/>
            <p:cNvPicPr preferRelativeResize="0"/>
            <p:nvPr/>
          </p:nvPicPr>
          <p:blipFill rotWithShape="1">
            <a:blip r:embed="rId4">
              <a:alphaModFix/>
            </a:blip>
            <a:srcRect b="0" l="0" r="31371" t="0"/>
            <a:stretch/>
          </p:blipFill>
          <p:spPr>
            <a:xfrm>
              <a:off x="208625" y="-146375"/>
              <a:ext cx="3397100" cy="3712451"/>
            </a:xfrm>
            <a:prstGeom prst="rect">
              <a:avLst/>
            </a:prstGeom>
            <a:noFill/>
            <a:ln>
              <a:noFill/>
            </a:ln>
          </p:spPr>
        </p:pic>
        <p:pic>
          <p:nvPicPr>
            <p:cNvPr id="132" name="Google Shape;132;p19" title="mean_replicates_prefilter.jpg"/>
            <p:cNvPicPr preferRelativeResize="0"/>
            <p:nvPr/>
          </p:nvPicPr>
          <p:blipFill rotWithShape="1">
            <a:blip r:embed="rId4">
              <a:alphaModFix/>
            </a:blip>
            <a:srcRect b="38266" l="69245" r="11846" t="43974"/>
            <a:stretch/>
          </p:blipFill>
          <p:spPr>
            <a:xfrm>
              <a:off x="649472" y="440675"/>
              <a:ext cx="954675" cy="672499"/>
            </a:xfrm>
            <a:prstGeom prst="rect">
              <a:avLst/>
            </a:prstGeom>
            <a:noFill/>
            <a:ln>
              <a:noFill/>
            </a:ln>
          </p:spPr>
        </p:pic>
      </p:grpSp>
      <p:pic>
        <p:nvPicPr>
          <p:cNvPr id="133" name="Google Shape;133;p19" title="mean_replicates_postfilter.jpg"/>
          <p:cNvPicPr preferRelativeResize="0"/>
          <p:nvPr/>
        </p:nvPicPr>
        <p:blipFill>
          <a:blip r:embed="rId5">
            <a:alphaModFix/>
          </a:blip>
          <a:stretch>
            <a:fillRect/>
          </a:stretch>
        </p:blipFill>
        <p:spPr>
          <a:xfrm>
            <a:off x="40551" y="2395181"/>
            <a:ext cx="2310431" cy="2228072"/>
          </a:xfrm>
          <a:prstGeom prst="rect">
            <a:avLst/>
          </a:prstGeom>
          <a:noFill/>
          <a:ln>
            <a:noFill/>
          </a:ln>
        </p:spPr>
      </p:pic>
      <p:pic>
        <p:nvPicPr>
          <p:cNvPr id="134" name="Google Shape;134;p19" title="panel_d_var_replicates.jpg"/>
          <p:cNvPicPr preferRelativeResize="0"/>
          <p:nvPr/>
        </p:nvPicPr>
        <p:blipFill>
          <a:blip r:embed="rId6">
            <a:alphaModFix/>
          </a:blip>
          <a:stretch>
            <a:fillRect/>
          </a:stretch>
        </p:blipFill>
        <p:spPr>
          <a:xfrm>
            <a:off x="2513125" y="2371369"/>
            <a:ext cx="2391726" cy="230647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