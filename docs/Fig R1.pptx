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oboto"/>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bold.fntdata"/><Relationship Id="rId14" Type="http://schemas.openxmlformats.org/officeDocument/2006/relationships/font" Target="fonts/Roboto-regular.fntdata"/><Relationship Id="rId17" Type="http://schemas.openxmlformats.org/officeDocument/2006/relationships/font" Target="fonts/Roboto-boldItalic.fntdata"/><Relationship Id="rId16"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h8824fc79a96d01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h8824fc79a96d01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678bf734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678bf73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d678bf734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d678bf734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96169342f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96169342f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f5e045cd8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f5e045cd8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f5e045cd8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f5e045cd8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d678bf734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d678bf734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678bf734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d678bf734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2.jp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8.jpg"/><Relationship Id="rId5" Type="http://schemas.openxmlformats.org/officeDocument/2006/relationships/image" Target="../media/image6.jpg"/><Relationship Id="rId6"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4.jpg"/><Relationship Id="rId5" Type="http://schemas.openxmlformats.org/officeDocument/2006/relationships/image" Target="../media/image17.jpg"/><Relationship Id="rId6" Type="http://schemas.openxmlformats.org/officeDocument/2006/relationships/image" Target="../media/image1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242725" y="4444225"/>
            <a:ext cx="8832600" cy="104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rgbClr val="000000"/>
              </a:buClr>
              <a:buSzPts val="1100"/>
              <a:buFont typeface="Arial"/>
              <a:buNone/>
            </a:pPr>
            <a:r>
              <a:rPr b="1" lang="es-419" sz="1200">
                <a:solidFill>
                  <a:srgbClr val="595959"/>
                </a:solidFill>
              </a:rPr>
              <a:t>Los niveles de ARN del reportero son consistentes con la fluorescencia de EGFP</a:t>
            </a:r>
            <a:r>
              <a:rPr lang="es-419" sz="1200">
                <a:solidFill>
                  <a:srgbClr val="595959"/>
                </a:solidFill>
              </a:rPr>
              <a:t>. Cuantificación por RT-qPCR del ARNm de EGFP en cada réplica. Cada punto representa una réplica técnica de la qPCR. </a:t>
            </a:r>
            <a:endParaRPr sz="1800">
              <a:solidFill>
                <a:srgbClr val="595959"/>
              </a:solidFill>
            </a:endParaRPr>
          </a:p>
          <a:p>
            <a:pPr indent="0" lvl="0" marL="0" rtl="0" algn="l">
              <a:spcBef>
                <a:spcPts val="1200"/>
              </a:spcBef>
              <a:spcAft>
                <a:spcPts val="0"/>
              </a:spcAft>
              <a:buNone/>
            </a:pPr>
            <a:r>
              <a:t/>
            </a:r>
            <a:endParaRPr sz="1800">
              <a:solidFill>
                <a:srgbClr val="595959"/>
              </a:solidFill>
            </a:endParaRPr>
          </a:p>
        </p:txBody>
      </p:sp>
      <p:pic>
        <p:nvPicPr>
          <p:cNvPr id="55" name="Google Shape;55;p13"/>
          <p:cNvPicPr preferRelativeResize="0"/>
          <p:nvPr/>
        </p:nvPicPr>
        <p:blipFill>
          <a:blip r:embed="rId3">
            <a:alphaModFix/>
          </a:blip>
          <a:stretch>
            <a:fillRect/>
          </a:stretch>
        </p:blipFill>
        <p:spPr>
          <a:xfrm>
            <a:off x="152400" y="152400"/>
            <a:ext cx="7473959" cy="41394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id="60" name="Google Shape;60;p14" title="n_per_rep.jpg"/>
          <p:cNvPicPr preferRelativeResize="0"/>
          <p:nvPr/>
        </p:nvPicPr>
        <p:blipFill>
          <a:blip r:embed="rId3">
            <a:alphaModFix/>
          </a:blip>
          <a:stretch>
            <a:fillRect/>
          </a:stretch>
        </p:blipFill>
        <p:spPr>
          <a:xfrm>
            <a:off x="5728773" y="2660399"/>
            <a:ext cx="2973952" cy="2230476"/>
          </a:xfrm>
          <a:prstGeom prst="rect">
            <a:avLst/>
          </a:prstGeom>
          <a:noFill/>
          <a:ln>
            <a:noFill/>
          </a:ln>
        </p:spPr>
      </p:pic>
      <p:sp>
        <p:nvSpPr>
          <p:cNvPr id="61" name="Google Shape;61;p14"/>
          <p:cNvSpPr txBox="1"/>
          <p:nvPr/>
        </p:nvSpPr>
        <p:spPr>
          <a:xfrm>
            <a:off x="3087175" y="4033700"/>
            <a:ext cx="353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800">
                <a:solidFill>
                  <a:schemeClr val="dk2"/>
                </a:solidFill>
              </a:rPr>
              <a:t>opcion B de grafico</a:t>
            </a:r>
            <a:endParaRPr sz="1800">
              <a:solidFill>
                <a:schemeClr val="dk2"/>
              </a:solidFill>
            </a:endParaRPr>
          </a:p>
        </p:txBody>
      </p:sp>
      <p:sp>
        <p:nvSpPr>
          <p:cNvPr id="62" name="Google Shape;62;p14"/>
          <p:cNvSpPr txBox="1"/>
          <p:nvPr/>
        </p:nvSpPr>
        <p:spPr>
          <a:xfrm>
            <a:off x="3404725" y="936000"/>
            <a:ext cx="58665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100">
                <a:solidFill>
                  <a:schemeClr val="dk1"/>
                </a:solidFill>
              </a:rPr>
              <a:t>Representación de la </a:t>
            </a:r>
            <a:r>
              <a:rPr b="1" i="1" lang="es-419" sz="1100">
                <a:solidFill>
                  <a:schemeClr val="dk1"/>
                </a:solidFill>
              </a:rPr>
              <a:t>library</a:t>
            </a:r>
            <a:r>
              <a:rPr b="1" lang="es-419" sz="1100">
                <a:solidFill>
                  <a:schemeClr val="dk1"/>
                </a:solidFill>
              </a:rPr>
              <a:t> en las réplicas de secuenciación.</a:t>
            </a:r>
            <a:r>
              <a:rPr lang="es-419" sz="1100">
                <a:solidFill>
                  <a:schemeClr val="dk1"/>
                </a:solidFill>
              </a:rPr>
              <a:t> Diagrama de </a:t>
            </a:r>
            <a:r>
              <a:rPr i="1" lang="es-419" sz="1100">
                <a:solidFill>
                  <a:schemeClr val="dk1"/>
                </a:solidFill>
              </a:rPr>
              <a:t>Venn</a:t>
            </a:r>
            <a:r>
              <a:rPr lang="es-419" sz="1100">
                <a:solidFill>
                  <a:schemeClr val="dk1"/>
                </a:solidFill>
              </a:rPr>
              <a:t> que muestra el número de secuencias detectadas en cada réplica y su intersección (secuencias presentes en ambas). Se indica también la cantidad de secuencias de la </a:t>
            </a:r>
            <a:r>
              <a:rPr i="1" lang="es-419" sz="1100">
                <a:solidFill>
                  <a:schemeClr val="dk1"/>
                </a:solidFill>
              </a:rPr>
              <a:t>library</a:t>
            </a:r>
            <a:r>
              <a:rPr lang="es-419" sz="1100">
                <a:solidFill>
                  <a:schemeClr val="dk1"/>
                </a:solidFill>
              </a:rPr>
              <a:t> original que no fueron recuperadas en el proceso. </a:t>
            </a:r>
            <a:endParaRPr sz="1200">
              <a:solidFill>
                <a:schemeClr val="dk2"/>
              </a:solidFill>
            </a:endParaRPr>
          </a:p>
        </p:txBody>
      </p:sp>
      <p:grpSp>
        <p:nvGrpSpPr>
          <p:cNvPr id="63" name="Google Shape;63;p14"/>
          <p:cNvGrpSpPr/>
          <p:nvPr/>
        </p:nvGrpSpPr>
        <p:grpSpPr>
          <a:xfrm>
            <a:off x="86225" y="82225"/>
            <a:ext cx="3256551" cy="3242825"/>
            <a:chOff x="86225" y="82225"/>
            <a:chExt cx="3256551" cy="3242825"/>
          </a:xfrm>
        </p:grpSpPr>
        <p:pic>
          <p:nvPicPr>
            <p:cNvPr id="64" name="Google Shape;64;p14"/>
            <p:cNvPicPr preferRelativeResize="0"/>
            <p:nvPr/>
          </p:nvPicPr>
          <p:blipFill rotWithShape="1">
            <a:blip r:embed="rId4">
              <a:alphaModFix/>
            </a:blip>
            <a:srcRect b="0" l="744" r="0" t="970"/>
            <a:stretch/>
          </p:blipFill>
          <p:spPr>
            <a:xfrm>
              <a:off x="86225" y="82225"/>
              <a:ext cx="3256551" cy="3242825"/>
            </a:xfrm>
            <a:prstGeom prst="rect">
              <a:avLst/>
            </a:prstGeom>
            <a:noFill/>
            <a:ln>
              <a:noFill/>
            </a:ln>
          </p:spPr>
        </p:pic>
        <p:sp>
          <p:nvSpPr>
            <p:cNvPr id="65" name="Google Shape;65;p14"/>
            <p:cNvSpPr txBox="1"/>
            <p:nvPr/>
          </p:nvSpPr>
          <p:spPr>
            <a:xfrm>
              <a:off x="1446789" y="374911"/>
              <a:ext cx="721500" cy="354000"/>
            </a:xfrm>
            <a:prstGeom prst="rect">
              <a:avLst/>
            </a:prstGeom>
            <a:solidFill>
              <a:srgbClr val="EFF6F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100">
                  <a:solidFill>
                    <a:schemeClr val="dk2"/>
                  </a:solidFill>
                </a:rPr>
                <a:t>4572</a:t>
              </a:r>
              <a:endParaRPr sz="1100">
                <a:solidFill>
                  <a:schemeClr val="dk2"/>
                </a:solidFill>
              </a:endParaRPr>
            </a:p>
          </p:txBody>
        </p:sp>
        <p:sp>
          <p:nvSpPr>
            <p:cNvPr id="66" name="Google Shape;66;p14"/>
            <p:cNvSpPr txBox="1"/>
            <p:nvPr/>
          </p:nvSpPr>
          <p:spPr>
            <a:xfrm>
              <a:off x="1370694" y="185978"/>
              <a:ext cx="806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200">
                  <a:solidFill>
                    <a:schemeClr val="dk2"/>
                  </a:solidFill>
                </a:rPr>
                <a:t>Library</a:t>
              </a:r>
              <a:endParaRPr sz="1200">
                <a:solidFill>
                  <a:schemeClr val="dk2"/>
                </a:solidFill>
              </a:endParaRPr>
            </a:p>
          </p:txBody>
        </p:sp>
        <p:sp>
          <p:nvSpPr>
            <p:cNvPr id="67" name="Google Shape;67;p14"/>
            <p:cNvSpPr txBox="1"/>
            <p:nvPr/>
          </p:nvSpPr>
          <p:spPr>
            <a:xfrm>
              <a:off x="469151" y="1223250"/>
              <a:ext cx="901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200">
                  <a:solidFill>
                    <a:schemeClr val="dk2"/>
                  </a:solidFill>
                </a:rPr>
                <a:t>Réplica 1 </a:t>
              </a:r>
              <a:endParaRPr sz="1200">
                <a:solidFill>
                  <a:schemeClr val="dk2"/>
                </a:solidFill>
              </a:endParaRPr>
            </a:p>
          </p:txBody>
        </p:sp>
        <p:sp>
          <p:nvSpPr>
            <p:cNvPr id="68" name="Google Shape;68;p14"/>
            <p:cNvSpPr txBox="1"/>
            <p:nvPr/>
          </p:nvSpPr>
          <p:spPr>
            <a:xfrm>
              <a:off x="2182524" y="1223250"/>
              <a:ext cx="901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200">
                  <a:solidFill>
                    <a:schemeClr val="dk2"/>
                  </a:solidFill>
                </a:rPr>
                <a:t>Réplica 2 </a:t>
              </a:r>
              <a:endParaRPr sz="1200">
                <a:solidFill>
                  <a:schemeClr val="dk2"/>
                </a:solidFill>
              </a:endParaRPr>
            </a:p>
          </p:txBody>
        </p:sp>
        <p:sp>
          <p:nvSpPr>
            <p:cNvPr id="69" name="Google Shape;69;p14"/>
            <p:cNvSpPr txBox="1"/>
            <p:nvPr/>
          </p:nvSpPr>
          <p:spPr>
            <a:xfrm>
              <a:off x="649447" y="1510800"/>
              <a:ext cx="540900" cy="354000"/>
            </a:xfrm>
            <a:prstGeom prst="rect">
              <a:avLst/>
            </a:prstGeom>
            <a:solidFill>
              <a:srgbClr val="BCD9E5"/>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100">
                  <a:solidFill>
                    <a:schemeClr val="dk2"/>
                  </a:solidFill>
                </a:rPr>
                <a:t>1957</a:t>
              </a:r>
              <a:endParaRPr sz="1100">
                <a:solidFill>
                  <a:schemeClr val="dk2"/>
                </a:solidFill>
              </a:endParaRPr>
            </a:p>
          </p:txBody>
        </p:sp>
        <p:sp>
          <p:nvSpPr>
            <p:cNvPr id="70" name="Google Shape;70;p14"/>
            <p:cNvSpPr txBox="1"/>
            <p:nvPr/>
          </p:nvSpPr>
          <p:spPr>
            <a:xfrm>
              <a:off x="1414623" y="1510788"/>
              <a:ext cx="645000" cy="354000"/>
            </a:xfrm>
            <a:prstGeom prst="rect">
              <a:avLst/>
            </a:prstGeom>
            <a:solidFill>
              <a:srgbClr val="B3D9D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100">
                  <a:solidFill>
                    <a:schemeClr val="dk2"/>
                  </a:solidFill>
                </a:rPr>
                <a:t>16040</a:t>
              </a:r>
              <a:endParaRPr sz="1100">
                <a:solidFill>
                  <a:schemeClr val="dk2"/>
                </a:solidFill>
              </a:endParaRPr>
            </a:p>
          </p:txBody>
        </p:sp>
        <p:sp>
          <p:nvSpPr>
            <p:cNvPr id="71" name="Google Shape;71;p14"/>
            <p:cNvSpPr txBox="1"/>
            <p:nvPr/>
          </p:nvSpPr>
          <p:spPr>
            <a:xfrm>
              <a:off x="2355862" y="1510788"/>
              <a:ext cx="645000" cy="354000"/>
            </a:xfrm>
            <a:prstGeom prst="rect">
              <a:avLst/>
            </a:prstGeom>
            <a:solidFill>
              <a:srgbClr val="CDE8E8"/>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100">
                  <a:solidFill>
                    <a:schemeClr val="dk2"/>
                  </a:solidFill>
                </a:rPr>
                <a:t>1342</a:t>
              </a:r>
              <a:endParaRPr sz="1100">
                <a:solidFill>
                  <a:schemeClr val="dk2"/>
                </a:solidFil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nvSpPr>
        <p:spPr>
          <a:xfrm>
            <a:off x="0" y="2505952"/>
            <a:ext cx="4275600" cy="1133100"/>
          </a:xfrm>
          <a:prstGeom prst="rect">
            <a:avLst/>
          </a:prstGeom>
          <a:noFill/>
          <a:ln>
            <a:noFill/>
          </a:ln>
        </p:spPr>
        <p:txBody>
          <a:bodyPr anchorCtr="0" anchor="t" bIns="66625" lIns="66625" spcFirstLastPara="1" rIns="66625" wrap="square" tIns="66625">
            <a:spAutoFit/>
          </a:bodyPr>
          <a:lstStyle/>
          <a:p>
            <a:pPr indent="0" lvl="0" marL="0" rtl="0" algn="l">
              <a:spcBef>
                <a:spcPts val="0"/>
              </a:spcBef>
              <a:spcAft>
                <a:spcPts val="0"/>
              </a:spcAft>
              <a:buNone/>
            </a:pPr>
            <a:r>
              <a:rPr b="1" lang="es-419" sz="875">
                <a:solidFill>
                  <a:schemeClr val="dk2"/>
                </a:solidFill>
              </a:rPr>
              <a:t>Análisis de sesgos sistemáticos en la representatividad de la library.</a:t>
            </a:r>
            <a:r>
              <a:rPr lang="es-419" sz="875">
                <a:solidFill>
                  <a:schemeClr val="dk2"/>
                </a:solidFill>
              </a:rPr>
              <a:t> A) </a:t>
            </a:r>
            <a:r>
              <a:rPr lang="es-419" sz="802">
                <a:solidFill>
                  <a:schemeClr val="dk1"/>
                </a:solidFill>
              </a:rPr>
              <a:t>Diagrama de </a:t>
            </a:r>
            <a:r>
              <a:rPr i="1" lang="es-419" sz="802">
                <a:solidFill>
                  <a:schemeClr val="dk1"/>
                </a:solidFill>
              </a:rPr>
              <a:t>Venn</a:t>
            </a:r>
            <a:r>
              <a:rPr lang="es-419" sz="802">
                <a:solidFill>
                  <a:schemeClr val="dk1"/>
                </a:solidFill>
              </a:rPr>
              <a:t> indicando el número de secuencias detectadas en la secuenciación de células integradas con el reportero para el proyecto de splicing (previo a cualquier selección por expresión), en comparación con la secuenciación del proyecto actual, en al menos una réplica. B) Gráfico de violin representando el contenido de GC de los promotores detectados y en los no detectados durante el presente ensayo reportero. C) Distribución del contenido del contenido de GC de las lecturas obtenidas, en ambas réplicas.</a:t>
            </a:r>
            <a:endParaRPr sz="875">
              <a:solidFill>
                <a:schemeClr val="dk2"/>
              </a:solidFill>
            </a:endParaRPr>
          </a:p>
        </p:txBody>
      </p:sp>
      <p:grpSp>
        <p:nvGrpSpPr>
          <p:cNvPr id="77" name="Google Shape;77;p15"/>
          <p:cNvGrpSpPr/>
          <p:nvPr/>
        </p:nvGrpSpPr>
        <p:grpSpPr>
          <a:xfrm>
            <a:off x="62841" y="82223"/>
            <a:ext cx="2373374" cy="2363371"/>
            <a:chOff x="86225" y="82225"/>
            <a:chExt cx="3256551" cy="3242825"/>
          </a:xfrm>
        </p:grpSpPr>
        <p:pic>
          <p:nvPicPr>
            <p:cNvPr id="78" name="Google Shape;78;p15"/>
            <p:cNvPicPr preferRelativeResize="0"/>
            <p:nvPr/>
          </p:nvPicPr>
          <p:blipFill rotWithShape="1">
            <a:blip r:embed="rId3">
              <a:alphaModFix/>
            </a:blip>
            <a:srcRect b="0" l="744" r="0" t="970"/>
            <a:stretch/>
          </p:blipFill>
          <p:spPr>
            <a:xfrm>
              <a:off x="86225" y="82225"/>
              <a:ext cx="3256551" cy="3242825"/>
            </a:xfrm>
            <a:prstGeom prst="rect">
              <a:avLst/>
            </a:prstGeom>
            <a:noFill/>
            <a:ln>
              <a:noFill/>
            </a:ln>
          </p:spPr>
        </p:pic>
        <p:sp>
          <p:nvSpPr>
            <p:cNvPr id="79" name="Google Shape;79;p15"/>
            <p:cNvSpPr txBox="1"/>
            <p:nvPr/>
          </p:nvSpPr>
          <p:spPr>
            <a:xfrm>
              <a:off x="1446789" y="374911"/>
              <a:ext cx="721500" cy="354000"/>
            </a:xfrm>
            <a:prstGeom prst="rect">
              <a:avLst/>
            </a:prstGeom>
            <a:solidFill>
              <a:srgbClr val="EFF6FB"/>
            </a:solidFill>
            <a:ln>
              <a:noFill/>
            </a:ln>
          </p:spPr>
          <p:txBody>
            <a:bodyPr anchorCtr="0" anchor="t" bIns="66625" lIns="66625" spcFirstLastPara="1" rIns="66625" wrap="square" tIns="66625">
              <a:spAutoFit/>
            </a:bodyPr>
            <a:lstStyle/>
            <a:p>
              <a:pPr indent="0" lvl="0" marL="0" rtl="0" algn="l">
                <a:spcBef>
                  <a:spcPts val="0"/>
                </a:spcBef>
                <a:spcAft>
                  <a:spcPts val="0"/>
                </a:spcAft>
                <a:buNone/>
              </a:pPr>
              <a:r>
                <a:rPr lang="es-419" sz="802">
                  <a:solidFill>
                    <a:schemeClr val="dk2"/>
                  </a:solidFill>
                </a:rPr>
                <a:t>2012</a:t>
              </a:r>
              <a:endParaRPr sz="802">
                <a:solidFill>
                  <a:schemeClr val="dk2"/>
                </a:solidFill>
              </a:endParaRPr>
            </a:p>
          </p:txBody>
        </p:sp>
        <p:sp>
          <p:nvSpPr>
            <p:cNvPr id="80" name="Google Shape;80;p15"/>
            <p:cNvSpPr txBox="1"/>
            <p:nvPr/>
          </p:nvSpPr>
          <p:spPr>
            <a:xfrm>
              <a:off x="1370694" y="185978"/>
              <a:ext cx="806100" cy="369300"/>
            </a:xfrm>
            <a:prstGeom prst="rect">
              <a:avLst/>
            </a:prstGeom>
            <a:noFill/>
            <a:ln>
              <a:noFill/>
            </a:ln>
          </p:spPr>
          <p:txBody>
            <a:bodyPr anchorCtr="0" anchor="t" bIns="66625" lIns="66625" spcFirstLastPara="1" rIns="66625" wrap="square" tIns="66625">
              <a:spAutoFit/>
            </a:bodyPr>
            <a:lstStyle/>
            <a:p>
              <a:pPr indent="0" lvl="0" marL="0" rtl="0" algn="l">
                <a:spcBef>
                  <a:spcPts val="0"/>
                </a:spcBef>
                <a:spcAft>
                  <a:spcPts val="0"/>
                </a:spcAft>
                <a:buNone/>
              </a:pPr>
              <a:r>
                <a:rPr lang="es-419" sz="875">
                  <a:solidFill>
                    <a:schemeClr val="dk2"/>
                  </a:solidFill>
                </a:rPr>
                <a:t>Library</a:t>
              </a:r>
              <a:endParaRPr sz="875">
                <a:solidFill>
                  <a:schemeClr val="dk2"/>
                </a:solidFill>
              </a:endParaRPr>
            </a:p>
          </p:txBody>
        </p:sp>
        <p:sp>
          <p:nvSpPr>
            <p:cNvPr id="81" name="Google Shape;81;p15"/>
            <p:cNvSpPr txBox="1"/>
            <p:nvPr/>
          </p:nvSpPr>
          <p:spPr>
            <a:xfrm>
              <a:off x="561071" y="1510800"/>
              <a:ext cx="540900" cy="354000"/>
            </a:xfrm>
            <a:prstGeom prst="rect">
              <a:avLst/>
            </a:prstGeom>
            <a:solidFill>
              <a:srgbClr val="BCD9E5"/>
            </a:solidFill>
            <a:ln>
              <a:noFill/>
            </a:ln>
          </p:spPr>
          <p:txBody>
            <a:bodyPr anchorCtr="0" anchor="t" bIns="66625" lIns="66625" spcFirstLastPara="1" rIns="66625" wrap="square" tIns="66625">
              <a:spAutoFit/>
            </a:bodyPr>
            <a:lstStyle/>
            <a:p>
              <a:pPr indent="0" lvl="0" marL="0" rtl="0" algn="l">
                <a:spcBef>
                  <a:spcPts val="0"/>
                </a:spcBef>
                <a:spcAft>
                  <a:spcPts val="0"/>
                </a:spcAft>
                <a:buNone/>
              </a:pPr>
              <a:r>
                <a:rPr lang="es-419" sz="802">
                  <a:solidFill>
                    <a:schemeClr val="dk2"/>
                  </a:solidFill>
                </a:rPr>
                <a:t>1047</a:t>
              </a:r>
              <a:endParaRPr sz="802">
                <a:solidFill>
                  <a:schemeClr val="dk2"/>
                </a:solidFill>
              </a:endParaRPr>
            </a:p>
          </p:txBody>
        </p:sp>
        <p:sp>
          <p:nvSpPr>
            <p:cNvPr id="82" name="Google Shape;82;p15"/>
            <p:cNvSpPr txBox="1"/>
            <p:nvPr/>
          </p:nvSpPr>
          <p:spPr>
            <a:xfrm>
              <a:off x="1414623" y="1510788"/>
              <a:ext cx="645000" cy="354000"/>
            </a:xfrm>
            <a:prstGeom prst="rect">
              <a:avLst/>
            </a:prstGeom>
            <a:solidFill>
              <a:srgbClr val="B3D9DD"/>
            </a:solidFill>
            <a:ln>
              <a:noFill/>
            </a:ln>
          </p:spPr>
          <p:txBody>
            <a:bodyPr anchorCtr="0" anchor="t" bIns="66625" lIns="66625" spcFirstLastPara="1" rIns="66625" wrap="square" tIns="66625">
              <a:spAutoFit/>
            </a:bodyPr>
            <a:lstStyle/>
            <a:p>
              <a:pPr indent="0" lvl="0" marL="0" rtl="0" algn="l">
                <a:spcBef>
                  <a:spcPts val="0"/>
                </a:spcBef>
                <a:spcAft>
                  <a:spcPts val="0"/>
                </a:spcAft>
                <a:buNone/>
              </a:pPr>
              <a:r>
                <a:rPr lang="es-419" sz="802">
                  <a:solidFill>
                    <a:schemeClr val="dk2"/>
                  </a:solidFill>
                </a:rPr>
                <a:t>18292</a:t>
              </a:r>
              <a:endParaRPr sz="802">
                <a:solidFill>
                  <a:schemeClr val="dk2"/>
                </a:solidFill>
              </a:endParaRPr>
            </a:p>
          </p:txBody>
        </p:sp>
        <p:sp>
          <p:nvSpPr>
            <p:cNvPr id="83" name="Google Shape;83;p15"/>
            <p:cNvSpPr txBox="1"/>
            <p:nvPr/>
          </p:nvSpPr>
          <p:spPr>
            <a:xfrm>
              <a:off x="2326403" y="1510788"/>
              <a:ext cx="645000" cy="354000"/>
            </a:xfrm>
            <a:prstGeom prst="rect">
              <a:avLst/>
            </a:prstGeom>
            <a:solidFill>
              <a:srgbClr val="CDE8E8"/>
            </a:solidFill>
            <a:ln>
              <a:noFill/>
            </a:ln>
          </p:spPr>
          <p:txBody>
            <a:bodyPr anchorCtr="0" anchor="t" bIns="66625" lIns="66625" spcFirstLastPara="1" rIns="66625" wrap="square" tIns="66625">
              <a:spAutoFit/>
            </a:bodyPr>
            <a:lstStyle/>
            <a:p>
              <a:pPr indent="0" lvl="0" marL="0" rtl="0" algn="l">
                <a:spcBef>
                  <a:spcPts val="0"/>
                </a:spcBef>
                <a:spcAft>
                  <a:spcPts val="0"/>
                </a:spcAft>
                <a:buNone/>
              </a:pPr>
              <a:r>
                <a:rPr lang="es-419" sz="802">
                  <a:solidFill>
                    <a:schemeClr val="dk2"/>
                  </a:solidFill>
                </a:rPr>
                <a:t>2560</a:t>
              </a:r>
              <a:endParaRPr sz="802">
                <a:solidFill>
                  <a:schemeClr val="dk2"/>
                </a:solidFill>
              </a:endParaRPr>
            </a:p>
          </p:txBody>
        </p:sp>
        <p:sp>
          <p:nvSpPr>
            <p:cNvPr id="84" name="Google Shape;84;p15"/>
            <p:cNvSpPr txBox="1"/>
            <p:nvPr/>
          </p:nvSpPr>
          <p:spPr>
            <a:xfrm>
              <a:off x="247452" y="1107025"/>
              <a:ext cx="1150200" cy="554100"/>
            </a:xfrm>
            <a:prstGeom prst="rect">
              <a:avLst/>
            </a:prstGeom>
            <a:noFill/>
            <a:ln>
              <a:noFill/>
            </a:ln>
          </p:spPr>
          <p:txBody>
            <a:bodyPr anchorCtr="0" anchor="t" bIns="66625" lIns="66625" spcFirstLastPara="1" rIns="66625" wrap="square" tIns="66625">
              <a:spAutoFit/>
            </a:bodyPr>
            <a:lstStyle/>
            <a:p>
              <a:pPr indent="0" lvl="0" marL="0" rtl="0" algn="ctr">
                <a:spcBef>
                  <a:spcPts val="0"/>
                </a:spcBef>
                <a:spcAft>
                  <a:spcPts val="0"/>
                </a:spcAft>
                <a:buNone/>
              </a:pPr>
              <a:r>
                <a:rPr lang="es-419" sz="875">
                  <a:solidFill>
                    <a:schemeClr val="dk2"/>
                  </a:solidFill>
                </a:rPr>
                <a:t>MPRA </a:t>
              </a:r>
              <a:r>
                <a:rPr lang="es-419" sz="875">
                  <a:solidFill>
                    <a:schemeClr val="dk2"/>
                  </a:solidFill>
                </a:rPr>
                <a:t>transcripción</a:t>
              </a:r>
              <a:endParaRPr sz="875">
                <a:solidFill>
                  <a:schemeClr val="dk2"/>
                </a:solidFill>
              </a:endParaRPr>
            </a:p>
          </p:txBody>
        </p:sp>
        <p:sp>
          <p:nvSpPr>
            <p:cNvPr id="85" name="Google Shape;85;p15"/>
            <p:cNvSpPr txBox="1"/>
            <p:nvPr/>
          </p:nvSpPr>
          <p:spPr>
            <a:xfrm>
              <a:off x="2063844" y="1107021"/>
              <a:ext cx="1071900" cy="554100"/>
            </a:xfrm>
            <a:prstGeom prst="rect">
              <a:avLst/>
            </a:prstGeom>
            <a:noFill/>
            <a:ln>
              <a:noFill/>
            </a:ln>
          </p:spPr>
          <p:txBody>
            <a:bodyPr anchorCtr="0" anchor="t" bIns="66625" lIns="66625" spcFirstLastPara="1" rIns="66625" wrap="square" tIns="66625">
              <a:spAutoFit/>
            </a:bodyPr>
            <a:lstStyle/>
            <a:p>
              <a:pPr indent="0" lvl="0" marL="0" rtl="0" algn="ctr">
                <a:spcBef>
                  <a:spcPts val="0"/>
                </a:spcBef>
                <a:spcAft>
                  <a:spcPts val="0"/>
                </a:spcAft>
                <a:buNone/>
              </a:pPr>
              <a:r>
                <a:rPr lang="es-419" sz="875">
                  <a:solidFill>
                    <a:schemeClr val="dk2"/>
                  </a:solidFill>
                </a:rPr>
                <a:t>MPRA splicing</a:t>
              </a:r>
              <a:endParaRPr sz="875">
                <a:solidFill>
                  <a:schemeClr val="dk2"/>
                </a:solidFill>
              </a:endParaRPr>
            </a:p>
          </p:txBody>
        </p:sp>
      </p:grpSp>
      <p:grpSp>
        <p:nvGrpSpPr>
          <p:cNvPr id="86" name="Google Shape;86;p15"/>
          <p:cNvGrpSpPr/>
          <p:nvPr/>
        </p:nvGrpSpPr>
        <p:grpSpPr>
          <a:xfrm>
            <a:off x="4013097" y="216164"/>
            <a:ext cx="2600964" cy="1913895"/>
            <a:chOff x="5506445" y="266008"/>
            <a:chExt cx="3568830" cy="2626092"/>
          </a:xfrm>
        </p:grpSpPr>
        <p:grpSp>
          <p:nvGrpSpPr>
            <p:cNvPr id="87" name="Google Shape;87;p15"/>
            <p:cNvGrpSpPr/>
            <p:nvPr/>
          </p:nvGrpSpPr>
          <p:grpSpPr>
            <a:xfrm>
              <a:off x="5506445" y="266008"/>
              <a:ext cx="3568830" cy="2626092"/>
              <a:chOff x="5506445" y="266008"/>
              <a:chExt cx="3568830" cy="2626092"/>
            </a:xfrm>
          </p:grpSpPr>
          <p:pic>
            <p:nvPicPr>
              <p:cNvPr id="88" name="Google Shape;88;p15" title="gc_bias_bars.jpg"/>
              <p:cNvPicPr preferRelativeResize="0"/>
              <p:nvPr/>
            </p:nvPicPr>
            <p:blipFill>
              <a:blip r:embed="rId4">
                <a:alphaModFix/>
              </a:blip>
              <a:stretch>
                <a:fillRect/>
              </a:stretch>
            </p:blipFill>
            <p:spPr>
              <a:xfrm>
                <a:off x="5506445" y="266008"/>
                <a:ext cx="3501476" cy="2626092"/>
              </a:xfrm>
              <a:prstGeom prst="rect">
                <a:avLst/>
              </a:prstGeom>
              <a:noFill/>
              <a:ln>
                <a:noFill/>
              </a:ln>
            </p:spPr>
          </p:pic>
          <p:sp>
            <p:nvSpPr>
              <p:cNvPr id="89" name="Google Shape;89;p15"/>
              <p:cNvSpPr txBox="1"/>
              <p:nvPr/>
            </p:nvSpPr>
            <p:spPr>
              <a:xfrm>
                <a:off x="7554572" y="577079"/>
                <a:ext cx="1264500" cy="323100"/>
              </a:xfrm>
              <a:prstGeom prst="rect">
                <a:avLst/>
              </a:prstGeom>
              <a:noFill/>
              <a:ln>
                <a:noFill/>
              </a:ln>
            </p:spPr>
            <p:txBody>
              <a:bodyPr anchorCtr="0" anchor="t" bIns="66625" lIns="66625" spcFirstLastPara="1" rIns="66625" wrap="square" tIns="66625">
                <a:spAutoFit/>
              </a:bodyPr>
              <a:lstStyle/>
              <a:p>
                <a:pPr indent="0" lvl="0" marL="0" rtl="0" algn="l">
                  <a:spcBef>
                    <a:spcPts val="0"/>
                  </a:spcBef>
                  <a:spcAft>
                    <a:spcPts val="0"/>
                  </a:spcAft>
                  <a:buNone/>
                </a:pPr>
                <a:r>
                  <a:rPr lang="es-419" sz="656">
                    <a:solidFill>
                      <a:schemeClr val="dk2"/>
                    </a:solidFill>
                  </a:rPr>
                  <a:t>Distribución uniforme</a:t>
                </a:r>
                <a:endParaRPr sz="656">
                  <a:solidFill>
                    <a:schemeClr val="dk2"/>
                  </a:solidFill>
                </a:endParaRPr>
              </a:p>
            </p:txBody>
          </p:sp>
          <p:sp>
            <p:nvSpPr>
              <p:cNvPr id="90" name="Google Shape;90;p15"/>
              <p:cNvSpPr txBox="1"/>
              <p:nvPr/>
            </p:nvSpPr>
            <p:spPr>
              <a:xfrm>
                <a:off x="7554576" y="727896"/>
                <a:ext cx="1520700" cy="323100"/>
              </a:xfrm>
              <a:prstGeom prst="rect">
                <a:avLst/>
              </a:prstGeom>
              <a:noFill/>
              <a:ln>
                <a:noFill/>
              </a:ln>
            </p:spPr>
            <p:txBody>
              <a:bodyPr anchorCtr="0" anchor="t" bIns="66625" lIns="66625" spcFirstLastPara="1" rIns="66625" wrap="square" tIns="66625">
                <a:spAutoFit/>
              </a:bodyPr>
              <a:lstStyle/>
              <a:p>
                <a:pPr indent="0" lvl="0" marL="0" rtl="0" algn="l">
                  <a:spcBef>
                    <a:spcPts val="0"/>
                  </a:spcBef>
                  <a:spcAft>
                    <a:spcPts val="0"/>
                  </a:spcAft>
                  <a:buNone/>
                </a:pPr>
                <a:r>
                  <a:rPr lang="es-419" sz="656">
                    <a:solidFill>
                      <a:schemeClr val="dk2"/>
                    </a:solidFill>
                  </a:rPr>
                  <a:t>Distribución observada</a:t>
                </a:r>
                <a:endParaRPr sz="656">
                  <a:solidFill>
                    <a:schemeClr val="dk2"/>
                  </a:solidFill>
                </a:endParaRPr>
              </a:p>
            </p:txBody>
          </p:sp>
        </p:grpSp>
        <p:sp>
          <p:nvSpPr>
            <p:cNvPr id="91" name="Google Shape;91;p15"/>
            <p:cNvSpPr/>
            <p:nvPr/>
          </p:nvSpPr>
          <p:spPr>
            <a:xfrm>
              <a:off x="7504925" y="679871"/>
              <a:ext cx="101700" cy="101700"/>
            </a:xfrm>
            <a:prstGeom prst="rect">
              <a:avLst/>
            </a:prstGeom>
            <a:solidFill>
              <a:srgbClr val="ACDAD6"/>
            </a:solidFill>
            <a:ln cap="flat" cmpd="sng" w="6950">
              <a:solidFill>
                <a:schemeClr val="dk2"/>
              </a:solidFill>
              <a:prstDash val="solid"/>
              <a:round/>
              <a:headEnd len="sm" w="sm" type="none"/>
              <a:tailEnd len="sm" w="sm" type="none"/>
            </a:ln>
          </p:spPr>
          <p:txBody>
            <a:bodyPr anchorCtr="0" anchor="ctr" bIns="66625" lIns="66625" spcFirstLastPara="1" rIns="66625" wrap="square" tIns="66625">
              <a:noAutofit/>
            </a:bodyPr>
            <a:lstStyle/>
            <a:p>
              <a:pPr indent="0" lvl="0" marL="0" rtl="0" algn="ctr">
                <a:spcBef>
                  <a:spcPts val="0"/>
                </a:spcBef>
                <a:spcAft>
                  <a:spcPts val="0"/>
                </a:spcAft>
                <a:buNone/>
              </a:pPr>
              <a:r>
                <a:t/>
              </a:r>
              <a:endParaRPr sz="1020"/>
            </a:p>
          </p:txBody>
        </p:sp>
        <p:sp>
          <p:nvSpPr>
            <p:cNvPr id="92" name="Google Shape;92;p15"/>
            <p:cNvSpPr/>
            <p:nvPr/>
          </p:nvSpPr>
          <p:spPr>
            <a:xfrm>
              <a:off x="7504925" y="832271"/>
              <a:ext cx="101700" cy="101700"/>
            </a:xfrm>
            <a:prstGeom prst="rect">
              <a:avLst/>
            </a:prstGeom>
            <a:solidFill>
              <a:srgbClr val="98C5D5"/>
            </a:solidFill>
            <a:ln cap="flat" cmpd="sng" w="6950">
              <a:solidFill>
                <a:schemeClr val="dk2"/>
              </a:solidFill>
              <a:prstDash val="solid"/>
              <a:round/>
              <a:headEnd len="sm" w="sm" type="none"/>
              <a:tailEnd len="sm" w="sm" type="none"/>
            </a:ln>
          </p:spPr>
          <p:txBody>
            <a:bodyPr anchorCtr="0" anchor="ctr" bIns="66625" lIns="66625" spcFirstLastPara="1" rIns="66625" wrap="square" tIns="66625">
              <a:noAutofit/>
            </a:bodyPr>
            <a:lstStyle/>
            <a:p>
              <a:pPr indent="0" lvl="0" marL="0" rtl="0" algn="ctr">
                <a:spcBef>
                  <a:spcPts val="0"/>
                </a:spcBef>
                <a:spcAft>
                  <a:spcPts val="0"/>
                </a:spcAft>
                <a:buNone/>
              </a:pPr>
              <a:r>
                <a:t/>
              </a:r>
              <a:endParaRPr sz="1020"/>
            </a:p>
          </p:txBody>
        </p:sp>
      </p:grpSp>
      <p:grpSp>
        <p:nvGrpSpPr>
          <p:cNvPr id="93" name="Google Shape;93;p15"/>
          <p:cNvGrpSpPr/>
          <p:nvPr/>
        </p:nvGrpSpPr>
        <p:grpSpPr>
          <a:xfrm>
            <a:off x="2303549" y="141569"/>
            <a:ext cx="1687746" cy="2175453"/>
            <a:chOff x="3160742" y="163655"/>
            <a:chExt cx="2315787" cy="2984979"/>
          </a:xfrm>
        </p:grpSpPr>
        <p:pic>
          <p:nvPicPr>
            <p:cNvPr id="94" name="Google Shape;94;p15" title="gc_bias_violin.jpg"/>
            <p:cNvPicPr preferRelativeResize="0"/>
            <p:nvPr/>
          </p:nvPicPr>
          <p:blipFill rotWithShape="1">
            <a:blip r:embed="rId5">
              <a:alphaModFix/>
            </a:blip>
            <a:srcRect b="11708" l="0" r="0" t="0"/>
            <a:stretch/>
          </p:blipFill>
          <p:spPr>
            <a:xfrm>
              <a:off x="3438900" y="163655"/>
              <a:ext cx="1858876" cy="2461777"/>
            </a:xfrm>
            <a:prstGeom prst="rect">
              <a:avLst/>
            </a:prstGeom>
            <a:noFill/>
            <a:ln>
              <a:noFill/>
            </a:ln>
          </p:spPr>
        </p:pic>
        <p:sp>
          <p:nvSpPr>
            <p:cNvPr id="95" name="Google Shape;95;p15"/>
            <p:cNvSpPr txBox="1"/>
            <p:nvPr/>
          </p:nvSpPr>
          <p:spPr>
            <a:xfrm>
              <a:off x="3160742" y="2609422"/>
              <a:ext cx="2073000" cy="523200"/>
            </a:xfrm>
            <a:prstGeom prst="rect">
              <a:avLst/>
            </a:prstGeom>
            <a:noFill/>
            <a:ln>
              <a:noFill/>
            </a:ln>
          </p:spPr>
          <p:txBody>
            <a:bodyPr anchorCtr="0" anchor="t" bIns="66625" lIns="66625" spcFirstLastPara="1" rIns="66625" wrap="square" tIns="66625">
              <a:spAutoFit/>
            </a:bodyPr>
            <a:lstStyle/>
            <a:p>
              <a:pPr indent="0" lvl="0" marL="0" rtl="0" algn="ctr">
                <a:spcBef>
                  <a:spcPts val="0"/>
                </a:spcBef>
                <a:spcAft>
                  <a:spcPts val="0"/>
                </a:spcAft>
                <a:buNone/>
              </a:pPr>
              <a:r>
                <a:rPr lang="es-419" sz="802">
                  <a:solidFill>
                    <a:schemeClr val="dk2"/>
                  </a:solidFill>
                </a:rPr>
                <a:t>Promotores </a:t>
              </a:r>
              <a:endParaRPr sz="802">
                <a:solidFill>
                  <a:schemeClr val="dk2"/>
                </a:solidFill>
              </a:endParaRPr>
            </a:p>
            <a:p>
              <a:pPr indent="0" lvl="0" marL="0" rtl="0" algn="ctr">
                <a:spcBef>
                  <a:spcPts val="0"/>
                </a:spcBef>
                <a:spcAft>
                  <a:spcPts val="0"/>
                </a:spcAft>
                <a:buNone/>
              </a:pPr>
              <a:r>
                <a:rPr lang="es-419" sz="802">
                  <a:solidFill>
                    <a:schemeClr val="dk2"/>
                  </a:solidFill>
                </a:rPr>
                <a:t>no detectado</a:t>
              </a:r>
              <a:endParaRPr sz="802">
                <a:solidFill>
                  <a:schemeClr val="dk2"/>
                </a:solidFill>
              </a:endParaRPr>
            </a:p>
          </p:txBody>
        </p:sp>
        <p:sp>
          <p:nvSpPr>
            <p:cNvPr id="96" name="Google Shape;96;p15"/>
            <p:cNvSpPr txBox="1"/>
            <p:nvPr/>
          </p:nvSpPr>
          <p:spPr>
            <a:xfrm>
              <a:off x="4548029" y="2625434"/>
              <a:ext cx="928500" cy="523200"/>
            </a:xfrm>
            <a:prstGeom prst="rect">
              <a:avLst/>
            </a:prstGeom>
            <a:noFill/>
            <a:ln>
              <a:noFill/>
            </a:ln>
          </p:spPr>
          <p:txBody>
            <a:bodyPr anchorCtr="0" anchor="t" bIns="66625" lIns="66625" spcFirstLastPara="1" rIns="66625" wrap="square" tIns="66625">
              <a:spAutoFit/>
            </a:bodyPr>
            <a:lstStyle/>
            <a:p>
              <a:pPr indent="0" lvl="0" marL="0" rtl="0" algn="ctr">
                <a:spcBef>
                  <a:spcPts val="0"/>
                </a:spcBef>
                <a:spcAft>
                  <a:spcPts val="0"/>
                </a:spcAft>
                <a:buNone/>
              </a:pPr>
              <a:r>
                <a:rPr lang="es-419" sz="802">
                  <a:solidFill>
                    <a:schemeClr val="dk2"/>
                  </a:solidFill>
                </a:rPr>
                <a:t>Promotores d</a:t>
              </a:r>
              <a:r>
                <a:rPr lang="es-419" sz="802">
                  <a:solidFill>
                    <a:schemeClr val="dk2"/>
                  </a:solidFill>
                </a:rPr>
                <a:t>etectados</a:t>
              </a:r>
              <a:endParaRPr sz="802">
                <a:solidFill>
                  <a:schemeClr val="dk2"/>
                </a:solidFill>
              </a:endParaRPr>
            </a:p>
          </p:txBody>
        </p:sp>
      </p:grpSp>
      <p:pic>
        <p:nvPicPr>
          <p:cNvPr id="97" name="Google Shape;97;p15" title="g4_retencion_por_gc.jpg"/>
          <p:cNvPicPr preferRelativeResize="0"/>
          <p:nvPr/>
        </p:nvPicPr>
        <p:blipFill>
          <a:blip r:embed="rId6">
            <a:alphaModFix/>
          </a:blip>
          <a:stretch>
            <a:fillRect/>
          </a:stretch>
        </p:blipFill>
        <p:spPr>
          <a:xfrm>
            <a:off x="4655476" y="2445601"/>
            <a:ext cx="4137446" cy="2545499"/>
          </a:xfrm>
          <a:prstGeom prst="rect">
            <a:avLst/>
          </a:prstGeom>
          <a:noFill/>
          <a:ln>
            <a:noFill/>
          </a:ln>
        </p:spPr>
      </p:pic>
      <p:sp>
        <p:nvSpPr>
          <p:cNvPr id="98" name="Google Shape;98;p15"/>
          <p:cNvSpPr txBox="1"/>
          <p:nvPr/>
        </p:nvSpPr>
        <p:spPr>
          <a:xfrm>
            <a:off x="1366125" y="4014950"/>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700">
                <a:solidFill>
                  <a:schemeClr val="dk1"/>
                </a:solidFill>
              </a:rPr>
              <a:t>(D) Porcentaje de los promotores de la </a:t>
            </a:r>
            <a:r>
              <a:rPr i="1" lang="es-419" sz="700">
                <a:solidFill>
                  <a:schemeClr val="dk1"/>
                </a:solidFill>
              </a:rPr>
              <a:t>library</a:t>
            </a:r>
            <a:r>
              <a:rPr lang="es-419" sz="700">
                <a:solidFill>
                  <a:schemeClr val="dk1"/>
                </a:solidFill>
              </a:rPr>
              <a:t> que se recupera en cada etapa del ensayo (</a:t>
            </a:r>
            <a:r>
              <a:rPr i="1" lang="es-419" sz="700">
                <a:solidFill>
                  <a:schemeClr val="dk1"/>
                </a:solidFill>
              </a:rPr>
              <a:t>pool</a:t>
            </a:r>
            <a:r>
              <a:rPr lang="es-419" sz="700">
                <a:solidFill>
                  <a:schemeClr val="dk1"/>
                </a:solidFill>
              </a:rPr>
              <a:t> previo al </a:t>
            </a:r>
            <a:r>
              <a:rPr i="1" lang="es-419" sz="700">
                <a:solidFill>
                  <a:schemeClr val="dk1"/>
                </a:solidFill>
              </a:rPr>
              <a:t>sorting </a:t>
            </a:r>
            <a:r>
              <a:rPr lang="es-419" sz="700">
                <a:solidFill>
                  <a:schemeClr val="dk1"/>
                </a:solidFill>
              </a:rPr>
              <a:t>en el MPRA de splicing, detección en el </a:t>
            </a:r>
            <a:r>
              <a:rPr i="1" lang="es-419" sz="700">
                <a:solidFill>
                  <a:schemeClr val="dk1"/>
                </a:solidFill>
              </a:rPr>
              <a:t>sorting</a:t>
            </a:r>
            <a:r>
              <a:rPr lang="es-419" sz="700">
                <a:solidFill>
                  <a:schemeClr val="dk1"/>
                </a:solidFill>
              </a:rPr>
              <a:t> y alta confianza) según el contenido de G+C del fragmento (intervalos de 0,05), para promotores sin G4 (gris), con G4 solo en la hebra codificante (rojo) o solo en la hebra molde (azul). Línea continua: réplica 1; línea discontinua: réplica 2. El tamaño del punto indica el número de promotores en el intervalo; se muestran los intervalos con al menos 20 promotores de cada grupo. </a:t>
            </a:r>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id="103" name="Google Shape;103;p16"/>
          <p:cNvPicPr preferRelativeResize="0"/>
          <p:nvPr/>
        </p:nvPicPr>
        <p:blipFill>
          <a:blip r:embed="rId3">
            <a:alphaModFix/>
          </a:blip>
          <a:stretch>
            <a:fillRect/>
          </a:stretch>
        </p:blipFill>
        <p:spPr>
          <a:xfrm>
            <a:off x="884425" y="152400"/>
            <a:ext cx="5012300" cy="3762750"/>
          </a:xfrm>
          <a:prstGeom prst="rect">
            <a:avLst/>
          </a:prstGeom>
          <a:noFill/>
          <a:ln>
            <a:noFill/>
          </a:ln>
        </p:spPr>
      </p:pic>
      <p:sp>
        <p:nvSpPr>
          <p:cNvPr id="104" name="Google Shape;104;p16"/>
          <p:cNvSpPr txBox="1"/>
          <p:nvPr/>
        </p:nvSpPr>
        <p:spPr>
          <a:xfrm>
            <a:off x="242725" y="4030035"/>
            <a:ext cx="90444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419" sz="1200">
                <a:solidFill>
                  <a:schemeClr val="dk2"/>
                </a:solidFill>
              </a:rPr>
              <a:t>Robustez de los controles celulares internos de spike-in.</a:t>
            </a:r>
            <a:r>
              <a:rPr lang="es-419" sz="1200">
                <a:solidFill>
                  <a:schemeClr val="dk2"/>
                </a:solidFill>
              </a:rPr>
              <a:t> 30, 300 o 3000 células fueron añadidas en forma de </a:t>
            </a:r>
            <a:r>
              <a:rPr lang="es-419" sz="1200">
                <a:solidFill>
                  <a:schemeClr val="dk2"/>
                </a:solidFill>
              </a:rPr>
              <a:t>estándar</a:t>
            </a:r>
            <a:r>
              <a:rPr lang="es-419" sz="1200">
                <a:solidFill>
                  <a:schemeClr val="dk2"/>
                </a:solidFill>
              </a:rPr>
              <a:t> interno a cada muestra. Los counts corregidos de cada una de las tres líneas celulares usadas como </a:t>
            </a:r>
            <a:r>
              <a:rPr lang="es-419" sz="1200">
                <a:solidFill>
                  <a:schemeClr val="dk2"/>
                </a:solidFill>
              </a:rPr>
              <a:t>estándar</a:t>
            </a:r>
            <a:r>
              <a:rPr lang="es-419" sz="1200">
                <a:solidFill>
                  <a:schemeClr val="dk2"/>
                </a:solidFill>
              </a:rPr>
              <a:t> fueron normalizadas al de aquella con representación intermedia (Spike-in 2). Los valores para cada fracción de </a:t>
            </a:r>
            <a:r>
              <a:rPr lang="es-419" sz="1200">
                <a:solidFill>
                  <a:schemeClr val="dk2"/>
                </a:solidFill>
              </a:rPr>
              <a:t>células</a:t>
            </a:r>
            <a:r>
              <a:rPr lang="es-419" sz="1200">
                <a:solidFill>
                  <a:schemeClr val="dk2"/>
                </a:solidFill>
              </a:rPr>
              <a:t> se muestran para ambas </a:t>
            </a:r>
            <a:r>
              <a:rPr lang="es-419" sz="1200">
                <a:solidFill>
                  <a:schemeClr val="dk2"/>
                </a:solidFill>
              </a:rPr>
              <a:t>réplicas</a:t>
            </a:r>
            <a:r>
              <a:rPr lang="es-419" sz="1200">
                <a:solidFill>
                  <a:schemeClr val="dk2"/>
                </a:solidFill>
              </a:rPr>
              <a:t>, y muestran la ausencia de sesgos técnicos relevantes entre las muestras en la </a:t>
            </a:r>
            <a:r>
              <a:rPr lang="es-419" sz="1200">
                <a:solidFill>
                  <a:schemeClr val="dk2"/>
                </a:solidFill>
              </a:rPr>
              <a:t>cuantificación</a:t>
            </a:r>
            <a:r>
              <a:rPr lang="es-419" sz="1200">
                <a:solidFill>
                  <a:schemeClr val="dk2"/>
                </a:solidFill>
              </a:rPr>
              <a:t> en escala masiva.</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nvSpPr>
        <p:spPr>
          <a:xfrm>
            <a:off x="0" y="0"/>
            <a:ext cx="30000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050">
                <a:solidFill>
                  <a:srgbClr val="0B0B0B"/>
                </a:solidFill>
                <a:highlight>
                  <a:srgbClr val="FCFCFB"/>
                </a:highlight>
                <a:latin typeface="Roboto"/>
                <a:ea typeface="Roboto"/>
                <a:cs typeface="Roboto"/>
                <a:sym typeface="Roboto"/>
              </a:rPr>
              <a:t>Reconstrucción de la distribución de expresión para un promotor individual</a:t>
            </a:r>
            <a:r>
              <a:rPr lang="es-419" sz="1050">
                <a:solidFill>
                  <a:srgbClr val="0B0B0B"/>
                </a:solidFill>
                <a:highlight>
                  <a:srgbClr val="FCFCFB"/>
                </a:highlight>
                <a:latin typeface="Roboto"/>
                <a:ea typeface="Roboto"/>
                <a:cs typeface="Roboto"/>
                <a:sym typeface="Roboto"/>
              </a:rPr>
              <a:t>, KIAA0753_1, a modo de ejemplo. El histograma muestra la frecuencia relativa de lecturas normalizadas asociadas a esta secuencia en cada una de las 6 fracciones (</a:t>
            </a:r>
            <a:r>
              <a:rPr i="1" lang="es-419" sz="1050">
                <a:solidFill>
                  <a:srgbClr val="0B0B0B"/>
                </a:solidFill>
                <a:highlight>
                  <a:srgbClr val="FCFCFB"/>
                </a:highlight>
                <a:latin typeface="Roboto"/>
                <a:ea typeface="Roboto"/>
                <a:cs typeface="Roboto"/>
                <a:sym typeface="Roboto"/>
              </a:rPr>
              <a:t>gates</a:t>
            </a:r>
            <a:r>
              <a:rPr lang="es-419" sz="1050">
                <a:solidFill>
                  <a:srgbClr val="0B0B0B"/>
                </a:solidFill>
                <a:highlight>
                  <a:srgbClr val="FCFCFB"/>
                </a:highlight>
                <a:latin typeface="Roboto"/>
                <a:ea typeface="Roboto"/>
                <a:cs typeface="Roboto"/>
                <a:sym typeface="Roboto"/>
              </a:rPr>
              <a:t>) de fluorescencia EGFP en que fueron clasificadas las células, para ambas réplicas experimentales (tonalidades clara/oscura).</a:t>
            </a:r>
            <a:r>
              <a:rPr lang="es-419" sz="1100">
                <a:solidFill>
                  <a:schemeClr val="dk1"/>
                </a:solidFill>
              </a:rPr>
              <a:t> </a:t>
            </a:r>
            <a:endParaRPr/>
          </a:p>
        </p:txBody>
      </p:sp>
      <p:pic>
        <p:nvPicPr>
          <p:cNvPr id="110" name="Google Shape;110;p17" title="histograma_gates_KIAA0753.jpg"/>
          <p:cNvPicPr preferRelativeResize="0"/>
          <p:nvPr/>
        </p:nvPicPr>
        <p:blipFill>
          <a:blip r:embed="rId3">
            <a:alphaModFix/>
          </a:blip>
          <a:stretch>
            <a:fillRect/>
          </a:stretch>
        </p:blipFill>
        <p:spPr>
          <a:xfrm>
            <a:off x="3152400" y="152400"/>
            <a:ext cx="5839201" cy="43794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18" title="extra_densidad_individual.jpg"/>
          <p:cNvPicPr preferRelativeResize="0"/>
          <p:nvPr/>
        </p:nvPicPr>
        <p:blipFill>
          <a:blip r:embed="rId3">
            <a:alphaModFix/>
          </a:blip>
          <a:stretch>
            <a:fillRect/>
          </a:stretch>
        </p:blipFill>
        <p:spPr>
          <a:xfrm>
            <a:off x="1788012" y="548950"/>
            <a:ext cx="4725724" cy="3544301"/>
          </a:xfrm>
          <a:prstGeom prst="rect">
            <a:avLst/>
          </a:prstGeom>
          <a:noFill/>
          <a:ln>
            <a:noFill/>
          </a:ln>
        </p:spPr>
      </p:pic>
      <p:sp>
        <p:nvSpPr>
          <p:cNvPr id="116" name="Google Shape;116;p18"/>
          <p:cNvSpPr txBox="1"/>
          <p:nvPr/>
        </p:nvSpPr>
        <p:spPr>
          <a:xfrm>
            <a:off x="353950" y="4093250"/>
            <a:ext cx="5775300" cy="148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050">
                <a:solidFill>
                  <a:srgbClr val="0B0B0B"/>
                </a:solidFill>
                <a:highlight>
                  <a:srgbClr val="FCFCFB"/>
                </a:highlight>
                <a:latin typeface="Roboto"/>
                <a:ea typeface="Roboto"/>
                <a:cs typeface="Roboto"/>
                <a:sym typeface="Roboto"/>
              </a:rPr>
              <a:t>Distribución de fluorescencia EGFP para promotores individuales, validados por citometría de flujo. </a:t>
            </a:r>
            <a:r>
              <a:rPr lang="es-419" sz="1050">
                <a:solidFill>
                  <a:srgbClr val="0B0B0B"/>
                </a:solidFill>
                <a:highlight>
                  <a:srgbClr val="FCFCFB"/>
                </a:highlight>
                <a:latin typeface="Roboto"/>
                <a:ea typeface="Roboto"/>
                <a:cs typeface="Roboto"/>
                <a:sym typeface="Roboto"/>
              </a:rPr>
              <a:t>Se generaron líneas celulares HEK293T-A2 estables integradas con el reportero EGFP bajo el control de un promotor individual, para 8 secuencias de la </a:t>
            </a:r>
            <a:r>
              <a:rPr i="1" lang="es-419" sz="1050">
                <a:solidFill>
                  <a:srgbClr val="0B0B0B"/>
                </a:solidFill>
                <a:highlight>
                  <a:srgbClr val="FCFCFB"/>
                </a:highlight>
                <a:latin typeface="Roboto"/>
                <a:ea typeface="Roboto"/>
                <a:cs typeface="Roboto"/>
                <a:sym typeface="Roboto"/>
              </a:rPr>
              <a:t>library</a:t>
            </a:r>
            <a:r>
              <a:rPr lang="es-419" sz="1050">
                <a:solidFill>
                  <a:srgbClr val="0B0B0B"/>
                </a:solidFill>
                <a:highlight>
                  <a:srgbClr val="FCFCFB"/>
                </a:highlight>
                <a:latin typeface="Roboto"/>
                <a:ea typeface="Roboto"/>
                <a:cs typeface="Roboto"/>
                <a:sym typeface="Roboto"/>
              </a:rPr>
              <a:t> (BTG1_1, ETS1_1, KIAA0753_1, LSM1_1, METAP2_1, PPP1R14B_3, TMEM87A_1, ZKSCAN2_1; n = 3 réplicas técnicas cada una) y un promotor de referencia de alta actividad (Strong). En cada panel se muestra la densidad de la señal de fluorescencia EGFP (escala logarítmica) del promotor correspondiente, superpuesta a la distribución de fondo de una población no transfectada (Control, gris).</a:t>
            </a:r>
            <a:r>
              <a:rPr lang="es-419" sz="1100">
                <a:solidFill>
                  <a:schemeClr val="dk1"/>
                </a:solidFill>
              </a:rPr>
              <a:t> </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19"/>
          <p:cNvPicPr preferRelativeResize="0"/>
          <p:nvPr/>
        </p:nvPicPr>
        <p:blipFill>
          <a:blip r:embed="rId3">
            <a:alphaModFix/>
          </a:blip>
          <a:stretch>
            <a:fillRect/>
          </a:stretch>
        </p:blipFill>
        <p:spPr>
          <a:xfrm>
            <a:off x="-133350" y="97100"/>
            <a:ext cx="3419475" cy="2638425"/>
          </a:xfrm>
          <a:prstGeom prst="rect">
            <a:avLst/>
          </a:prstGeom>
          <a:noFill/>
          <a:ln>
            <a:noFill/>
          </a:ln>
        </p:spPr>
      </p:pic>
      <p:pic>
        <p:nvPicPr>
          <p:cNvPr id="122" name="Google Shape;122;p19"/>
          <p:cNvPicPr preferRelativeResize="0"/>
          <p:nvPr/>
        </p:nvPicPr>
        <p:blipFill>
          <a:blip r:embed="rId4">
            <a:alphaModFix/>
          </a:blip>
          <a:stretch>
            <a:fillRect/>
          </a:stretch>
        </p:blipFill>
        <p:spPr>
          <a:xfrm>
            <a:off x="6505575" y="152400"/>
            <a:ext cx="2486025" cy="2418147"/>
          </a:xfrm>
          <a:prstGeom prst="rect">
            <a:avLst/>
          </a:prstGeom>
          <a:noFill/>
          <a:ln>
            <a:noFill/>
          </a:ln>
        </p:spPr>
      </p:pic>
      <p:sp>
        <p:nvSpPr>
          <p:cNvPr id="123" name="Google Shape;123;p19"/>
          <p:cNvSpPr txBox="1"/>
          <p:nvPr/>
        </p:nvSpPr>
        <p:spPr>
          <a:xfrm>
            <a:off x="735375" y="3120725"/>
            <a:ext cx="58665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200">
                <a:solidFill>
                  <a:schemeClr val="dk2"/>
                </a:solidFill>
              </a:rPr>
              <a:t>Consistencia experimental de las métricas de actividad promotora.</a:t>
            </a:r>
            <a:r>
              <a:rPr lang="es-419" sz="1200">
                <a:solidFill>
                  <a:schemeClr val="dk2"/>
                </a:solidFill>
              </a:rPr>
              <a:t>  (A) </a:t>
            </a:r>
            <a:r>
              <a:rPr lang="es-419" sz="1200">
                <a:solidFill>
                  <a:schemeClr val="dk2"/>
                </a:solidFill>
              </a:rPr>
              <a:t>Perfiles de densidad de fluorescencia de EGFP obtenidos por citometría de flujo para una selección de promotores integrados de forma individual (n = 3 réplicas técnicas).</a:t>
            </a:r>
            <a:r>
              <a:rPr lang="es-419" sz="1200">
                <a:solidFill>
                  <a:schemeClr val="dk2"/>
                </a:solidFill>
              </a:rPr>
              <a:t> (B) </a:t>
            </a:r>
            <a:r>
              <a:rPr lang="es-419" sz="1200">
                <a:solidFill>
                  <a:schemeClr val="dk2"/>
                </a:solidFill>
              </a:rPr>
              <a:t>Histogramas representativos de la reconstrucción de las distribuciones de expresión para secuencias individuales de la library. Las barras indican la frecuencia de lecturas normalizadas en cada fracción de células recolectada. Cada color representa la distribución de un promotor distinto, en una única de las réplicas experimentales</a:t>
            </a:r>
            <a:r>
              <a:rPr lang="es-419" sz="1200">
                <a:solidFill>
                  <a:schemeClr val="dk2"/>
                </a:solidFill>
              </a:rPr>
              <a:t>(C) Correlación entre la media de expresión calculada a partir de los datos discretizados de la </a:t>
            </a:r>
            <a:r>
              <a:rPr i="1" lang="es-419" sz="1200">
                <a:solidFill>
                  <a:schemeClr val="dk2"/>
                </a:solidFill>
              </a:rPr>
              <a:t>library </a:t>
            </a:r>
            <a:r>
              <a:rPr lang="es-419" sz="1200">
                <a:solidFill>
                  <a:schemeClr val="dk2"/>
                </a:solidFill>
              </a:rPr>
              <a:t>(eje x) y la media obtenida mediante citometría de flujo en líneas celulares estables (eje y), evidenciando la consistencia del ensayo masivo para la determinación de la actividad promotora.</a:t>
            </a:r>
            <a:endParaRPr sz="1200">
              <a:solidFill>
                <a:schemeClr val="dk2"/>
              </a:solidFill>
            </a:endParaRPr>
          </a:p>
        </p:txBody>
      </p:sp>
      <p:pic>
        <p:nvPicPr>
          <p:cNvPr id="124" name="Google Shape;124;p19" title="panel_b_histograma_gates_ejemplo.jpg"/>
          <p:cNvPicPr preferRelativeResize="0"/>
          <p:nvPr/>
        </p:nvPicPr>
        <p:blipFill>
          <a:blip r:embed="rId5">
            <a:alphaModFix/>
          </a:blip>
          <a:stretch>
            <a:fillRect/>
          </a:stretch>
        </p:blipFill>
        <p:spPr>
          <a:xfrm>
            <a:off x="3438525" y="152400"/>
            <a:ext cx="2914652" cy="218598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grpSp>
        <p:nvGrpSpPr>
          <p:cNvPr id="129" name="Google Shape;129;p20"/>
          <p:cNvGrpSpPr/>
          <p:nvPr/>
        </p:nvGrpSpPr>
        <p:grpSpPr>
          <a:xfrm>
            <a:off x="2391552" y="-2"/>
            <a:ext cx="2391285" cy="2381206"/>
            <a:chOff x="86225" y="82225"/>
            <a:chExt cx="3256551" cy="3242825"/>
          </a:xfrm>
        </p:grpSpPr>
        <p:pic>
          <p:nvPicPr>
            <p:cNvPr id="130" name="Google Shape;130;p20"/>
            <p:cNvPicPr preferRelativeResize="0"/>
            <p:nvPr/>
          </p:nvPicPr>
          <p:blipFill rotWithShape="1">
            <a:blip r:embed="rId3">
              <a:alphaModFix/>
            </a:blip>
            <a:srcRect b="0" l="744" r="0" t="970"/>
            <a:stretch/>
          </p:blipFill>
          <p:spPr>
            <a:xfrm>
              <a:off x="86225" y="82225"/>
              <a:ext cx="3256551" cy="3242825"/>
            </a:xfrm>
            <a:prstGeom prst="rect">
              <a:avLst/>
            </a:prstGeom>
            <a:noFill/>
            <a:ln>
              <a:noFill/>
            </a:ln>
          </p:spPr>
        </p:pic>
        <p:sp>
          <p:nvSpPr>
            <p:cNvPr id="131" name="Google Shape;131;p20"/>
            <p:cNvSpPr txBox="1"/>
            <p:nvPr/>
          </p:nvSpPr>
          <p:spPr>
            <a:xfrm>
              <a:off x="1458265" y="374911"/>
              <a:ext cx="721500" cy="354000"/>
            </a:xfrm>
            <a:prstGeom prst="rect">
              <a:avLst/>
            </a:prstGeom>
            <a:solidFill>
              <a:srgbClr val="EFF6FB"/>
            </a:solidFill>
            <a:ln>
              <a:noFill/>
            </a:ln>
          </p:spPr>
          <p:txBody>
            <a:bodyPr anchorCtr="0" anchor="t" bIns="67150" lIns="67150" spcFirstLastPara="1" rIns="67150" wrap="square" tIns="67150">
              <a:spAutoFit/>
            </a:bodyPr>
            <a:lstStyle/>
            <a:p>
              <a:pPr indent="0" lvl="0" marL="0" rtl="0" algn="l">
                <a:spcBef>
                  <a:spcPts val="0"/>
                </a:spcBef>
                <a:spcAft>
                  <a:spcPts val="0"/>
                </a:spcAft>
                <a:buNone/>
              </a:pPr>
              <a:r>
                <a:rPr lang="es-419" sz="808">
                  <a:solidFill>
                    <a:schemeClr val="dk2"/>
                  </a:solidFill>
                </a:rPr>
                <a:t>9756</a:t>
              </a:r>
              <a:endParaRPr sz="808">
                <a:solidFill>
                  <a:schemeClr val="dk2"/>
                </a:solidFill>
              </a:endParaRPr>
            </a:p>
          </p:txBody>
        </p:sp>
        <p:sp>
          <p:nvSpPr>
            <p:cNvPr id="132" name="Google Shape;132;p20"/>
            <p:cNvSpPr txBox="1"/>
            <p:nvPr/>
          </p:nvSpPr>
          <p:spPr>
            <a:xfrm>
              <a:off x="1370694" y="185978"/>
              <a:ext cx="806100" cy="369300"/>
            </a:xfrm>
            <a:prstGeom prst="rect">
              <a:avLst/>
            </a:prstGeom>
            <a:noFill/>
            <a:ln>
              <a:noFill/>
            </a:ln>
          </p:spPr>
          <p:txBody>
            <a:bodyPr anchorCtr="0" anchor="t" bIns="67150" lIns="67150" spcFirstLastPara="1" rIns="67150" wrap="square" tIns="67150">
              <a:spAutoFit/>
            </a:bodyPr>
            <a:lstStyle/>
            <a:p>
              <a:pPr indent="0" lvl="0" marL="0" rtl="0" algn="l">
                <a:spcBef>
                  <a:spcPts val="0"/>
                </a:spcBef>
                <a:spcAft>
                  <a:spcPts val="0"/>
                </a:spcAft>
                <a:buNone/>
              </a:pPr>
              <a:r>
                <a:rPr lang="es-419" sz="881">
                  <a:solidFill>
                    <a:schemeClr val="dk2"/>
                  </a:solidFill>
                </a:rPr>
                <a:t>Library</a:t>
              </a:r>
              <a:endParaRPr sz="881">
                <a:solidFill>
                  <a:schemeClr val="dk2"/>
                </a:solidFill>
              </a:endParaRPr>
            </a:p>
          </p:txBody>
        </p:sp>
        <p:sp>
          <p:nvSpPr>
            <p:cNvPr id="133" name="Google Shape;133;p20"/>
            <p:cNvSpPr txBox="1"/>
            <p:nvPr/>
          </p:nvSpPr>
          <p:spPr>
            <a:xfrm>
              <a:off x="469151" y="1223250"/>
              <a:ext cx="901500" cy="369300"/>
            </a:xfrm>
            <a:prstGeom prst="rect">
              <a:avLst/>
            </a:prstGeom>
            <a:noFill/>
            <a:ln>
              <a:noFill/>
            </a:ln>
          </p:spPr>
          <p:txBody>
            <a:bodyPr anchorCtr="0" anchor="t" bIns="67150" lIns="67150" spcFirstLastPara="1" rIns="67150" wrap="square" tIns="67150">
              <a:spAutoFit/>
            </a:bodyPr>
            <a:lstStyle/>
            <a:p>
              <a:pPr indent="0" lvl="0" marL="0" rtl="0" algn="l">
                <a:spcBef>
                  <a:spcPts val="0"/>
                </a:spcBef>
                <a:spcAft>
                  <a:spcPts val="0"/>
                </a:spcAft>
                <a:buNone/>
              </a:pPr>
              <a:r>
                <a:rPr lang="es-419" sz="881">
                  <a:solidFill>
                    <a:schemeClr val="dk2"/>
                  </a:solidFill>
                </a:rPr>
                <a:t>Réplica 1 </a:t>
              </a:r>
              <a:endParaRPr sz="881">
                <a:solidFill>
                  <a:schemeClr val="dk2"/>
                </a:solidFill>
              </a:endParaRPr>
            </a:p>
          </p:txBody>
        </p:sp>
        <p:sp>
          <p:nvSpPr>
            <p:cNvPr id="134" name="Google Shape;134;p20"/>
            <p:cNvSpPr txBox="1"/>
            <p:nvPr/>
          </p:nvSpPr>
          <p:spPr>
            <a:xfrm>
              <a:off x="2182524" y="1223250"/>
              <a:ext cx="901500" cy="369300"/>
            </a:xfrm>
            <a:prstGeom prst="rect">
              <a:avLst/>
            </a:prstGeom>
            <a:noFill/>
            <a:ln>
              <a:noFill/>
            </a:ln>
          </p:spPr>
          <p:txBody>
            <a:bodyPr anchorCtr="0" anchor="t" bIns="67150" lIns="67150" spcFirstLastPara="1" rIns="67150" wrap="square" tIns="67150">
              <a:spAutoFit/>
            </a:bodyPr>
            <a:lstStyle/>
            <a:p>
              <a:pPr indent="0" lvl="0" marL="0" rtl="0" algn="l">
                <a:spcBef>
                  <a:spcPts val="0"/>
                </a:spcBef>
                <a:spcAft>
                  <a:spcPts val="0"/>
                </a:spcAft>
                <a:buNone/>
              </a:pPr>
              <a:r>
                <a:rPr lang="es-419" sz="881">
                  <a:solidFill>
                    <a:schemeClr val="dk2"/>
                  </a:solidFill>
                </a:rPr>
                <a:t>Réplica 2 </a:t>
              </a:r>
              <a:endParaRPr sz="881">
                <a:solidFill>
                  <a:schemeClr val="dk2"/>
                </a:solidFill>
              </a:endParaRPr>
            </a:p>
          </p:txBody>
        </p:sp>
        <p:sp>
          <p:nvSpPr>
            <p:cNvPr id="135" name="Google Shape;135;p20"/>
            <p:cNvSpPr txBox="1"/>
            <p:nvPr/>
          </p:nvSpPr>
          <p:spPr>
            <a:xfrm>
              <a:off x="649447" y="1510800"/>
              <a:ext cx="540900" cy="354000"/>
            </a:xfrm>
            <a:prstGeom prst="rect">
              <a:avLst/>
            </a:prstGeom>
            <a:solidFill>
              <a:srgbClr val="BCD9E5"/>
            </a:solidFill>
            <a:ln>
              <a:noFill/>
            </a:ln>
          </p:spPr>
          <p:txBody>
            <a:bodyPr anchorCtr="0" anchor="t" bIns="67150" lIns="67150" spcFirstLastPara="1" rIns="67150" wrap="square" tIns="67150">
              <a:spAutoFit/>
            </a:bodyPr>
            <a:lstStyle/>
            <a:p>
              <a:pPr indent="0" lvl="0" marL="0" rtl="0" algn="l">
                <a:spcBef>
                  <a:spcPts val="0"/>
                </a:spcBef>
                <a:spcAft>
                  <a:spcPts val="0"/>
                </a:spcAft>
                <a:buNone/>
              </a:pPr>
              <a:r>
                <a:rPr lang="es-419" sz="808">
                  <a:solidFill>
                    <a:schemeClr val="dk2"/>
                  </a:solidFill>
                </a:rPr>
                <a:t>835</a:t>
              </a:r>
              <a:endParaRPr sz="808">
                <a:solidFill>
                  <a:schemeClr val="dk2"/>
                </a:solidFill>
              </a:endParaRPr>
            </a:p>
          </p:txBody>
        </p:sp>
        <p:sp>
          <p:nvSpPr>
            <p:cNvPr id="136" name="Google Shape;136;p20"/>
            <p:cNvSpPr txBox="1"/>
            <p:nvPr/>
          </p:nvSpPr>
          <p:spPr>
            <a:xfrm>
              <a:off x="1414623" y="1510788"/>
              <a:ext cx="645000" cy="354000"/>
            </a:xfrm>
            <a:prstGeom prst="rect">
              <a:avLst/>
            </a:prstGeom>
            <a:solidFill>
              <a:srgbClr val="B3D9DD"/>
            </a:solidFill>
            <a:ln>
              <a:noFill/>
            </a:ln>
          </p:spPr>
          <p:txBody>
            <a:bodyPr anchorCtr="0" anchor="t" bIns="67150" lIns="67150" spcFirstLastPara="1" rIns="67150" wrap="square" tIns="67150">
              <a:spAutoFit/>
            </a:bodyPr>
            <a:lstStyle/>
            <a:p>
              <a:pPr indent="0" lvl="0" marL="0" rtl="0" algn="l">
                <a:spcBef>
                  <a:spcPts val="0"/>
                </a:spcBef>
                <a:spcAft>
                  <a:spcPts val="0"/>
                </a:spcAft>
                <a:buNone/>
              </a:pPr>
              <a:r>
                <a:rPr lang="es-419" sz="808">
                  <a:solidFill>
                    <a:schemeClr val="dk2"/>
                  </a:solidFill>
                </a:rPr>
                <a:t>10401</a:t>
              </a:r>
              <a:endParaRPr sz="808">
                <a:solidFill>
                  <a:schemeClr val="dk2"/>
                </a:solidFill>
              </a:endParaRPr>
            </a:p>
          </p:txBody>
        </p:sp>
        <p:sp>
          <p:nvSpPr>
            <p:cNvPr id="137" name="Google Shape;137;p20"/>
            <p:cNvSpPr txBox="1"/>
            <p:nvPr/>
          </p:nvSpPr>
          <p:spPr>
            <a:xfrm>
              <a:off x="2355862" y="1510788"/>
              <a:ext cx="645000" cy="354000"/>
            </a:xfrm>
            <a:prstGeom prst="rect">
              <a:avLst/>
            </a:prstGeom>
            <a:solidFill>
              <a:srgbClr val="CDE8E8"/>
            </a:solidFill>
            <a:ln>
              <a:noFill/>
            </a:ln>
          </p:spPr>
          <p:txBody>
            <a:bodyPr anchorCtr="0" anchor="t" bIns="67150" lIns="67150" spcFirstLastPara="1" rIns="67150" wrap="square" tIns="67150">
              <a:spAutoFit/>
            </a:bodyPr>
            <a:lstStyle/>
            <a:p>
              <a:pPr indent="0" lvl="0" marL="0" rtl="0" algn="l">
                <a:spcBef>
                  <a:spcPts val="0"/>
                </a:spcBef>
                <a:spcAft>
                  <a:spcPts val="0"/>
                </a:spcAft>
                <a:buClr>
                  <a:schemeClr val="dk1"/>
                </a:buClr>
                <a:buSzPts val="877"/>
                <a:buFont typeface="Arial"/>
                <a:buNone/>
              </a:pPr>
              <a:r>
                <a:rPr lang="es-419" sz="808">
                  <a:solidFill>
                    <a:schemeClr val="dk2"/>
                  </a:solidFill>
                </a:rPr>
                <a:t>2919</a:t>
              </a:r>
              <a:endParaRPr sz="808">
                <a:solidFill>
                  <a:schemeClr val="dk2"/>
                </a:solidFill>
              </a:endParaRPr>
            </a:p>
          </p:txBody>
        </p:sp>
      </p:grpSp>
      <p:sp>
        <p:nvSpPr>
          <p:cNvPr id="138" name="Google Shape;138;p20"/>
          <p:cNvSpPr txBox="1"/>
          <p:nvPr/>
        </p:nvSpPr>
        <p:spPr>
          <a:xfrm>
            <a:off x="5057225" y="91400"/>
            <a:ext cx="3948900" cy="405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200"/>
              <a:t>Análisis de correlación y consistencia entre réplicas de secuenciación. </a:t>
            </a:r>
            <a:endParaRPr b="1" sz="1200"/>
          </a:p>
          <a:p>
            <a:pPr indent="0" lvl="0" marL="0" rtl="0" algn="l">
              <a:lnSpc>
                <a:spcPct val="115000"/>
              </a:lnSpc>
              <a:spcBef>
                <a:spcPts val="1200"/>
              </a:spcBef>
              <a:spcAft>
                <a:spcPts val="0"/>
              </a:spcAft>
              <a:buClr>
                <a:schemeClr val="dk1"/>
              </a:buClr>
              <a:buSzPts val="1100"/>
              <a:buFont typeface="Arial"/>
              <a:buNone/>
            </a:pPr>
            <a:r>
              <a:rPr b="1" lang="es-419" sz="1200">
                <a:solidFill>
                  <a:schemeClr val="dk1"/>
                </a:solidFill>
              </a:rPr>
              <a:t>(A-B)</a:t>
            </a:r>
            <a:r>
              <a:rPr lang="es-419" sz="1200">
                <a:solidFill>
                  <a:schemeClr val="dk1"/>
                </a:solidFill>
              </a:rPr>
              <a:t> Gráfico de dispersión que muestra la correlación de la media de expresión entre las dos réplicas experimentales antes (A) y después (A confianza alta, y B) de aplicar los filtros de consistencia (coeficientes de </a:t>
            </a:r>
            <a:r>
              <a:rPr i="1" lang="es-419" sz="1200">
                <a:solidFill>
                  <a:schemeClr val="dk1"/>
                </a:solidFill>
              </a:rPr>
              <a:t>Pearson</a:t>
            </a:r>
            <a:r>
              <a:rPr lang="es-419" sz="1200">
                <a:solidFill>
                  <a:schemeClr val="dk1"/>
                </a:solidFill>
              </a:rPr>
              <a:t> de 0.72 y 0.85, respectivamente). Los </a:t>
            </a:r>
            <a:r>
              <a:rPr i="1" lang="es-419" sz="1200">
                <a:solidFill>
                  <a:schemeClr val="dk1"/>
                </a:solidFill>
              </a:rPr>
              <a:t>counts</a:t>
            </a:r>
            <a:r>
              <a:rPr lang="es-419" sz="1200">
                <a:solidFill>
                  <a:schemeClr val="dk1"/>
                </a:solidFill>
              </a:rPr>
              <a:t> mínimos y la eliminación de perfiles bimodales incrementan la robustez de la determinación de la actividad. </a:t>
            </a:r>
            <a:r>
              <a:rPr b="1" lang="es-419" sz="1200">
                <a:solidFill>
                  <a:schemeClr val="dk1"/>
                </a:solidFill>
              </a:rPr>
              <a:t>(C)</a:t>
            </a:r>
            <a:r>
              <a:rPr lang="es-419" sz="1200">
                <a:solidFill>
                  <a:schemeClr val="dk1"/>
                </a:solidFill>
              </a:rPr>
              <a:t> Representación del subconjunto final de 12214 promotores de alta confianza seleccionados para los análisis subsiguientes, detallando su presencia por réplicas.</a:t>
            </a:r>
            <a:r>
              <a:rPr b="1" lang="es-419" sz="1200">
                <a:solidFill>
                  <a:schemeClr val="dk1"/>
                </a:solidFill>
              </a:rPr>
              <a:t>(D) </a:t>
            </a:r>
            <a:r>
              <a:rPr lang="es-419" sz="1200">
                <a:solidFill>
                  <a:schemeClr val="dk1"/>
                </a:solidFill>
              </a:rPr>
              <a:t>Gráfico de dispersión que muestra la correlación de la varianza de expresión entre las dos réplicas experimentales después de aplicar los filtros de consistencia (coeficientes de </a:t>
            </a:r>
            <a:r>
              <a:rPr i="1" lang="es-419" sz="1200">
                <a:solidFill>
                  <a:schemeClr val="dk1"/>
                </a:solidFill>
              </a:rPr>
              <a:t>Pearson</a:t>
            </a:r>
            <a:r>
              <a:rPr lang="es-419" sz="1200">
                <a:solidFill>
                  <a:schemeClr val="dk1"/>
                </a:solidFill>
              </a:rPr>
              <a:t> 0.31). </a:t>
            </a:r>
            <a:endParaRPr b="1" sz="1200">
              <a:solidFill>
                <a:schemeClr val="dk1"/>
              </a:solidFill>
            </a:endParaRPr>
          </a:p>
          <a:p>
            <a:pPr indent="0" lvl="0" marL="0" rtl="0" algn="l">
              <a:spcBef>
                <a:spcPts val="1200"/>
              </a:spcBef>
              <a:spcAft>
                <a:spcPts val="0"/>
              </a:spcAft>
              <a:buNone/>
            </a:pPr>
            <a:r>
              <a:t/>
            </a:r>
            <a:endParaRPr b="1"/>
          </a:p>
        </p:txBody>
      </p:sp>
      <p:grpSp>
        <p:nvGrpSpPr>
          <p:cNvPr id="139" name="Google Shape;139;p20"/>
          <p:cNvGrpSpPr/>
          <p:nvPr/>
        </p:nvGrpSpPr>
        <p:grpSpPr>
          <a:xfrm>
            <a:off x="9" y="167053"/>
            <a:ext cx="2391724" cy="2228275"/>
            <a:chOff x="208625" y="-206579"/>
            <a:chExt cx="4062721" cy="3785076"/>
          </a:xfrm>
        </p:grpSpPr>
        <p:pic>
          <p:nvPicPr>
            <p:cNvPr id="140" name="Google Shape;140;p20" title="mean_replicates_prefilter.jpg"/>
            <p:cNvPicPr preferRelativeResize="0"/>
            <p:nvPr/>
          </p:nvPicPr>
          <p:blipFill rotWithShape="1">
            <a:blip r:embed="rId4">
              <a:alphaModFix/>
            </a:blip>
            <a:srcRect b="0" l="87149" r="0" t="0"/>
            <a:stretch/>
          </p:blipFill>
          <p:spPr>
            <a:xfrm>
              <a:off x="3617220" y="-206579"/>
              <a:ext cx="654126" cy="3785076"/>
            </a:xfrm>
            <a:prstGeom prst="rect">
              <a:avLst/>
            </a:prstGeom>
            <a:noFill/>
            <a:ln>
              <a:noFill/>
            </a:ln>
          </p:spPr>
        </p:pic>
        <p:pic>
          <p:nvPicPr>
            <p:cNvPr id="141" name="Google Shape;141;p20" title="mean_replicates_prefilter.jpg"/>
            <p:cNvPicPr preferRelativeResize="0"/>
            <p:nvPr/>
          </p:nvPicPr>
          <p:blipFill rotWithShape="1">
            <a:blip r:embed="rId4">
              <a:alphaModFix/>
            </a:blip>
            <a:srcRect b="0" l="0" r="31371" t="0"/>
            <a:stretch/>
          </p:blipFill>
          <p:spPr>
            <a:xfrm>
              <a:off x="208625" y="-146375"/>
              <a:ext cx="3397100" cy="3712451"/>
            </a:xfrm>
            <a:prstGeom prst="rect">
              <a:avLst/>
            </a:prstGeom>
            <a:noFill/>
            <a:ln>
              <a:noFill/>
            </a:ln>
          </p:spPr>
        </p:pic>
        <p:pic>
          <p:nvPicPr>
            <p:cNvPr id="142" name="Google Shape;142;p20" title="mean_replicates_prefilter.jpg"/>
            <p:cNvPicPr preferRelativeResize="0"/>
            <p:nvPr/>
          </p:nvPicPr>
          <p:blipFill rotWithShape="1">
            <a:blip r:embed="rId4">
              <a:alphaModFix/>
            </a:blip>
            <a:srcRect b="38266" l="69245" r="11846" t="43974"/>
            <a:stretch/>
          </p:blipFill>
          <p:spPr>
            <a:xfrm>
              <a:off x="649472" y="440675"/>
              <a:ext cx="954675" cy="672499"/>
            </a:xfrm>
            <a:prstGeom prst="rect">
              <a:avLst/>
            </a:prstGeom>
            <a:noFill/>
            <a:ln>
              <a:noFill/>
            </a:ln>
          </p:spPr>
        </p:pic>
      </p:grpSp>
      <p:pic>
        <p:nvPicPr>
          <p:cNvPr id="143" name="Google Shape;143;p20" title="mean_replicates_postfilter.jpg"/>
          <p:cNvPicPr preferRelativeResize="0"/>
          <p:nvPr/>
        </p:nvPicPr>
        <p:blipFill>
          <a:blip r:embed="rId5">
            <a:alphaModFix/>
          </a:blip>
          <a:stretch>
            <a:fillRect/>
          </a:stretch>
        </p:blipFill>
        <p:spPr>
          <a:xfrm>
            <a:off x="40551" y="2395181"/>
            <a:ext cx="2310431" cy="2228072"/>
          </a:xfrm>
          <a:prstGeom prst="rect">
            <a:avLst/>
          </a:prstGeom>
          <a:noFill/>
          <a:ln>
            <a:noFill/>
          </a:ln>
        </p:spPr>
      </p:pic>
      <p:pic>
        <p:nvPicPr>
          <p:cNvPr id="144" name="Google Shape;144;p20" title="panel_d_var_replicates.jpg"/>
          <p:cNvPicPr preferRelativeResize="0"/>
          <p:nvPr/>
        </p:nvPicPr>
        <p:blipFill>
          <a:blip r:embed="rId6">
            <a:alphaModFix/>
          </a:blip>
          <a:stretch>
            <a:fillRect/>
          </a:stretch>
        </p:blipFill>
        <p:spPr>
          <a:xfrm>
            <a:off x="2513125" y="2371369"/>
            <a:ext cx="2391726" cy="230647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