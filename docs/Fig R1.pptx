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11" Type="http://schemas.openxmlformats.org/officeDocument/2006/relationships/slide" Target="slides/slide5.xml"/><Relationship Id="rId10" Type="http://schemas.openxmlformats.org/officeDocument/2006/relationships/slide" Target="slides/slide4.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15T21:24:19.254">
    <p:pos x="6000" y="0"/>
    <p:text>modificar aca para que la leyenda quede fuera del density (y agrandar tamano puntos leyenda)</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8.jpg"/><Relationship Id="rId5" Type="http://schemas.openxmlformats.org/officeDocument/2006/relationships/image" Target="../media/image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omments" Target="../comments/comment1.xml"/><Relationship Id="rId4" Type="http://schemas.openxmlformats.org/officeDocument/2006/relationships/image" Target="../media/image3.png"/><Relationship Id="rId5" Type="http://schemas.openxmlformats.org/officeDocument/2006/relationships/image" Target="../media/image9.jpg"/><Relationship Id="rId6"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pic>
        <p:nvPicPr>
          <p:cNvPr id="99" name="Google Shape;99;p16"/>
          <p:cNvPicPr preferRelativeResize="0"/>
          <p:nvPr/>
        </p:nvPicPr>
        <p:blipFill>
          <a:blip r:embed="rId3">
            <a:alphaModFix/>
          </a:blip>
          <a:stretch>
            <a:fillRect/>
          </a:stretch>
        </p:blipFill>
        <p:spPr>
          <a:xfrm>
            <a:off x="152400" y="152400"/>
            <a:ext cx="2628900" cy="2590800"/>
          </a:xfrm>
          <a:prstGeom prst="rect">
            <a:avLst/>
          </a:prstGeom>
          <a:noFill/>
          <a:ln>
            <a:noFill/>
          </a:ln>
        </p:spPr>
      </p:pic>
      <p:pic>
        <p:nvPicPr>
          <p:cNvPr id="100" name="Google Shape;100;p16"/>
          <p:cNvPicPr preferRelativeResize="0"/>
          <p:nvPr/>
        </p:nvPicPr>
        <p:blipFill>
          <a:blip r:embed="rId4">
            <a:alphaModFix/>
          </a:blip>
          <a:stretch>
            <a:fillRect/>
          </a:stretch>
        </p:blipFill>
        <p:spPr>
          <a:xfrm>
            <a:off x="2933700" y="152400"/>
            <a:ext cx="3419475" cy="2638425"/>
          </a:xfrm>
          <a:prstGeom prst="rect">
            <a:avLst/>
          </a:prstGeom>
          <a:noFill/>
          <a:ln>
            <a:noFill/>
          </a:ln>
        </p:spPr>
      </p:pic>
      <p:pic>
        <p:nvPicPr>
          <p:cNvPr id="101" name="Google Shape;101;p16"/>
          <p:cNvPicPr preferRelativeResize="0"/>
          <p:nvPr/>
        </p:nvPicPr>
        <p:blipFill>
          <a:blip r:embed="rId5">
            <a:alphaModFix/>
          </a:blip>
          <a:stretch>
            <a:fillRect/>
          </a:stretch>
        </p:blipFill>
        <p:spPr>
          <a:xfrm>
            <a:off x="6505575" y="152400"/>
            <a:ext cx="2486025" cy="2418147"/>
          </a:xfrm>
          <a:prstGeom prst="rect">
            <a:avLst/>
          </a:prstGeom>
          <a:noFill/>
          <a:ln>
            <a:noFill/>
          </a:ln>
        </p:spPr>
      </p:pic>
      <p:sp>
        <p:nvSpPr>
          <p:cNvPr id="102" name="Google Shape;102;p16"/>
          <p:cNvSpPr txBox="1"/>
          <p:nvPr/>
        </p:nvSpPr>
        <p:spPr>
          <a:xfrm>
            <a:off x="735375" y="3120725"/>
            <a:ext cx="5866500" cy="240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mientras que las dos tonalidades reflejan los resultados de cada réplica experimental. (B) Perfiles de densidad de fluorescencia de EGFP obtenidos por citometría de flujo para una selección de promotores integrados de forma individual (n = 3 réplicas técnicas). (C)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grpSp>
        <p:nvGrpSpPr>
          <p:cNvPr id="107" name="Google Shape;107;p17"/>
          <p:cNvGrpSpPr/>
          <p:nvPr/>
        </p:nvGrpSpPr>
        <p:grpSpPr>
          <a:xfrm>
            <a:off x="6079523" y="5"/>
            <a:ext cx="3000912" cy="2988263"/>
            <a:chOff x="86225" y="82225"/>
            <a:chExt cx="3256551" cy="3242825"/>
          </a:xfrm>
        </p:grpSpPr>
        <p:pic>
          <p:nvPicPr>
            <p:cNvPr id="108" name="Google Shape;108;p17"/>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109" name="Google Shape;109;p17"/>
            <p:cNvSpPr txBox="1"/>
            <p:nvPr/>
          </p:nvSpPr>
          <p:spPr>
            <a:xfrm>
              <a:off x="1458265" y="374911"/>
              <a:ext cx="721500" cy="354000"/>
            </a:xfrm>
            <a:prstGeom prst="rect">
              <a:avLst/>
            </a:prstGeom>
            <a:solidFill>
              <a:srgbClr val="EFF6FB"/>
            </a:solid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014">
                  <a:solidFill>
                    <a:schemeClr val="dk2"/>
                  </a:solidFill>
                </a:rPr>
                <a:t>9756</a:t>
              </a:r>
              <a:endParaRPr sz="1014">
                <a:solidFill>
                  <a:schemeClr val="dk2"/>
                </a:solidFill>
              </a:endParaRPr>
            </a:p>
          </p:txBody>
        </p:sp>
        <p:sp>
          <p:nvSpPr>
            <p:cNvPr id="110" name="Google Shape;110;p17"/>
            <p:cNvSpPr txBox="1"/>
            <p:nvPr/>
          </p:nvSpPr>
          <p:spPr>
            <a:xfrm>
              <a:off x="1370694" y="185978"/>
              <a:ext cx="806100" cy="369300"/>
            </a:xfrm>
            <a:prstGeom prst="rect">
              <a:avLst/>
            </a:prstGeom>
            <a:no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106">
                  <a:solidFill>
                    <a:schemeClr val="dk2"/>
                  </a:solidFill>
                </a:rPr>
                <a:t>Library</a:t>
              </a:r>
              <a:endParaRPr sz="1106">
                <a:solidFill>
                  <a:schemeClr val="dk2"/>
                </a:solidFill>
              </a:endParaRPr>
            </a:p>
          </p:txBody>
        </p:sp>
        <p:sp>
          <p:nvSpPr>
            <p:cNvPr id="111" name="Google Shape;111;p17"/>
            <p:cNvSpPr txBox="1"/>
            <p:nvPr/>
          </p:nvSpPr>
          <p:spPr>
            <a:xfrm>
              <a:off x="469151" y="1223250"/>
              <a:ext cx="901500" cy="369300"/>
            </a:xfrm>
            <a:prstGeom prst="rect">
              <a:avLst/>
            </a:prstGeom>
            <a:no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106">
                  <a:solidFill>
                    <a:schemeClr val="dk2"/>
                  </a:solidFill>
                </a:rPr>
                <a:t>Réplica 1 </a:t>
              </a:r>
              <a:endParaRPr sz="1106">
                <a:solidFill>
                  <a:schemeClr val="dk2"/>
                </a:solidFill>
              </a:endParaRPr>
            </a:p>
          </p:txBody>
        </p:sp>
        <p:sp>
          <p:nvSpPr>
            <p:cNvPr id="112" name="Google Shape;112;p17"/>
            <p:cNvSpPr txBox="1"/>
            <p:nvPr/>
          </p:nvSpPr>
          <p:spPr>
            <a:xfrm>
              <a:off x="2182524" y="1223250"/>
              <a:ext cx="901500" cy="369300"/>
            </a:xfrm>
            <a:prstGeom prst="rect">
              <a:avLst/>
            </a:prstGeom>
            <a:no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106">
                  <a:solidFill>
                    <a:schemeClr val="dk2"/>
                  </a:solidFill>
                </a:rPr>
                <a:t>Réplica 2 </a:t>
              </a:r>
              <a:endParaRPr sz="1106">
                <a:solidFill>
                  <a:schemeClr val="dk2"/>
                </a:solidFill>
              </a:endParaRPr>
            </a:p>
          </p:txBody>
        </p:sp>
        <p:sp>
          <p:nvSpPr>
            <p:cNvPr id="113" name="Google Shape;113;p17"/>
            <p:cNvSpPr txBox="1"/>
            <p:nvPr/>
          </p:nvSpPr>
          <p:spPr>
            <a:xfrm>
              <a:off x="649447" y="1510800"/>
              <a:ext cx="540900" cy="354000"/>
            </a:xfrm>
            <a:prstGeom prst="rect">
              <a:avLst/>
            </a:prstGeom>
            <a:solidFill>
              <a:srgbClr val="BCD9E5"/>
            </a:solid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014">
                  <a:solidFill>
                    <a:schemeClr val="dk2"/>
                  </a:solidFill>
                </a:rPr>
                <a:t>835</a:t>
              </a:r>
              <a:endParaRPr sz="1014">
                <a:solidFill>
                  <a:schemeClr val="dk2"/>
                </a:solidFill>
              </a:endParaRPr>
            </a:p>
          </p:txBody>
        </p:sp>
        <p:sp>
          <p:nvSpPr>
            <p:cNvPr id="114" name="Google Shape;114;p17"/>
            <p:cNvSpPr txBox="1"/>
            <p:nvPr/>
          </p:nvSpPr>
          <p:spPr>
            <a:xfrm>
              <a:off x="1414623" y="1510788"/>
              <a:ext cx="645000" cy="354000"/>
            </a:xfrm>
            <a:prstGeom prst="rect">
              <a:avLst/>
            </a:prstGeom>
            <a:solidFill>
              <a:srgbClr val="B3D9DD"/>
            </a:solidFill>
            <a:ln>
              <a:noFill/>
            </a:ln>
          </p:spPr>
          <p:txBody>
            <a:bodyPr anchorCtr="0" anchor="t" bIns="84250" lIns="84250" spcFirstLastPara="1" rIns="84250" wrap="square" tIns="84250">
              <a:spAutoFit/>
            </a:bodyPr>
            <a:lstStyle/>
            <a:p>
              <a:pPr indent="0" lvl="0" marL="0" rtl="0" algn="l">
                <a:spcBef>
                  <a:spcPts val="0"/>
                </a:spcBef>
                <a:spcAft>
                  <a:spcPts val="0"/>
                </a:spcAft>
                <a:buNone/>
              </a:pPr>
              <a:r>
                <a:rPr lang="es-419" sz="1014">
                  <a:solidFill>
                    <a:schemeClr val="dk2"/>
                  </a:solidFill>
                </a:rPr>
                <a:t>10401</a:t>
              </a:r>
              <a:endParaRPr sz="1014">
                <a:solidFill>
                  <a:schemeClr val="dk2"/>
                </a:solidFill>
              </a:endParaRPr>
            </a:p>
          </p:txBody>
        </p:sp>
        <p:sp>
          <p:nvSpPr>
            <p:cNvPr id="115" name="Google Shape;115;p17"/>
            <p:cNvSpPr txBox="1"/>
            <p:nvPr/>
          </p:nvSpPr>
          <p:spPr>
            <a:xfrm>
              <a:off x="2355862" y="1510788"/>
              <a:ext cx="645000" cy="354000"/>
            </a:xfrm>
            <a:prstGeom prst="rect">
              <a:avLst/>
            </a:prstGeom>
            <a:solidFill>
              <a:srgbClr val="CDE8E8"/>
            </a:solidFill>
            <a:ln>
              <a:noFill/>
            </a:ln>
          </p:spPr>
          <p:txBody>
            <a:bodyPr anchorCtr="0" anchor="t" bIns="84250" lIns="84250" spcFirstLastPara="1" rIns="84250" wrap="square" tIns="84250">
              <a:spAutoFit/>
            </a:bodyPr>
            <a:lstStyle/>
            <a:p>
              <a:pPr indent="0" lvl="0" marL="0" rtl="0" algn="l">
                <a:spcBef>
                  <a:spcPts val="0"/>
                </a:spcBef>
                <a:spcAft>
                  <a:spcPts val="0"/>
                </a:spcAft>
                <a:buClr>
                  <a:schemeClr val="dk1"/>
                </a:buClr>
                <a:buSzPts val="1100"/>
                <a:buFont typeface="Arial"/>
                <a:buNone/>
              </a:pPr>
              <a:r>
                <a:rPr lang="es-419" sz="1014">
                  <a:solidFill>
                    <a:schemeClr val="dk2"/>
                  </a:solidFill>
                </a:rPr>
                <a:t>2919</a:t>
              </a:r>
              <a:endParaRPr sz="1014">
                <a:solidFill>
                  <a:schemeClr val="dk2"/>
                </a:solidFill>
              </a:endParaRPr>
            </a:p>
          </p:txBody>
        </p:sp>
      </p:grpSp>
      <p:sp>
        <p:nvSpPr>
          <p:cNvPr id="116" name="Google Shape;116;p17"/>
          <p:cNvSpPr txBox="1"/>
          <p:nvPr/>
        </p:nvSpPr>
        <p:spPr>
          <a:xfrm>
            <a:off x="114750" y="3566075"/>
            <a:ext cx="8609100" cy="1954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endParaRPr sz="1200">
              <a:solidFill>
                <a:schemeClr val="dk1"/>
              </a:solidFill>
            </a:endParaRPr>
          </a:p>
          <a:p>
            <a:pPr indent="0" lvl="0" marL="0" rtl="0" algn="l">
              <a:spcBef>
                <a:spcPts val="1200"/>
              </a:spcBef>
              <a:spcAft>
                <a:spcPts val="0"/>
              </a:spcAft>
              <a:buNone/>
            </a:pPr>
            <a:r>
              <a:t/>
            </a:r>
            <a:endParaRPr b="1"/>
          </a:p>
        </p:txBody>
      </p:sp>
      <p:grpSp>
        <p:nvGrpSpPr>
          <p:cNvPr id="117" name="Google Shape;117;p17"/>
          <p:cNvGrpSpPr/>
          <p:nvPr/>
        </p:nvGrpSpPr>
        <p:grpSpPr>
          <a:xfrm>
            <a:off x="2" y="-3"/>
            <a:ext cx="3001132" cy="2796036"/>
            <a:chOff x="208625" y="-206579"/>
            <a:chExt cx="4062721" cy="3785076"/>
          </a:xfrm>
        </p:grpSpPr>
        <p:pic>
          <p:nvPicPr>
            <p:cNvPr id="118" name="Google Shape;118;p17" title="mean_replicates_prefilter.jpg"/>
            <p:cNvPicPr preferRelativeResize="0"/>
            <p:nvPr/>
          </p:nvPicPr>
          <p:blipFill rotWithShape="1">
            <a:blip r:embed="rId5">
              <a:alphaModFix/>
            </a:blip>
            <a:srcRect b="0" l="87149" r="0" t="0"/>
            <a:stretch/>
          </p:blipFill>
          <p:spPr>
            <a:xfrm>
              <a:off x="3617220" y="-206579"/>
              <a:ext cx="654126" cy="3785076"/>
            </a:xfrm>
            <a:prstGeom prst="rect">
              <a:avLst/>
            </a:prstGeom>
            <a:noFill/>
            <a:ln>
              <a:noFill/>
            </a:ln>
          </p:spPr>
        </p:pic>
        <p:pic>
          <p:nvPicPr>
            <p:cNvPr id="119" name="Google Shape;119;p17" title="mean_replicates_prefilter.jpg"/>
            <p:cNvPicPr preferRelativeResize="0"/>
            <p:nvPr/>
          </p:nvPicPr>
          <p:blipFill rotWithShape="1">
            <a:blip r:embed="rId5">
              <a:alphaModFix/>
            </a:blip>
            <a:srcRect b="0" l="0" r="31371" t="0"/>
            <a:stretch/>
          </p:blipFill>
          <p:spPr>
            <a:xfrm>
              <a:off x="208625" y="-146375"/>
              <a:ext cx="3397100" cy="3712451"/>
            </a:xfrm>
            <a:prstGeom prst="rect">
              <a:avLst/>
            </a:prstGeom>
            <a:noFill/>
            <a:ln>
              <a:noFill/>
            </a:ln>
          </p:spPr>
        </p:pic>
        <p:pic>
          <p:nvPicPr>
            <p:cNvPr id="120" name="Google Shape;120;p17" title="mean_replicates_prefilter.jpg"/>
            <p:cNvPicPr preferRelativeResize="0"/>
            <p:nvPr/>
          </p:nvPicPr>
          <p:blipFill rotWithShape="1">
            <a:blip r:embed="rId5">
              <a:alphaModFix/>
            </a:blip>
            <a:srcRect b="38266" l="69245" r="11846" t="43974"/>
            <a:stretch/>
          </p:blipFill>
          <p:spPr>
            <a:xfrm>
              <a:off x="649472" y="440675"/>
              <a:ext cx="954675" cy="672499"/>
            </a:xfrm>
            <a:prstGeom prst="rect">
              <a:avLst/>
            </a:prstGeom>
            <a:noFill/>
            <a:ln>
              <a:noFill/>
            </a:ln>
          </p:spPr>
        </p:pic>
      </p:grpSp>
      <p:pic>
        <p:nvPicPr>
          <p:cNvPr id="121" name="Google Shape;121;p17" title="mean_replicates_postfilter.jpg"/>
          <p:cNvPicPr preferRelativeResize="0"/>
          <p:nvPr/>
        </p:nvPicPr>
        <p:blipFill>
          <a:blip r:embed="rId6">
            <a:alphaModFix/>
          </a:blip>
          <a:stretch>
            <a:fillRect/>
          </a:stretch>
        </p:blipFill>
        <p:spPr>
          <a:xfrm>
            <a:off x="3045238" y="6"/>
            <a:ext cx="2899328" cy="2795973"/>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